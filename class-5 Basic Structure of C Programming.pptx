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4" r:id="rId3"/>
    <p:sldId id="265" r:id="rId4"/>
    <p:sldId id="28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00CB9-9D6B-4F25-8761-612F13F81BAD}" type="datetimeFigureOut">
              <a:rPr lang="en-IN" smtClean="0"/>
              <a:pPr/>
              <a:t>03-07-2021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9B3D6-7150-44FD-ABE5-B541981D00A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4708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CAF37C4-B2A5-4F6E-BBBD-331B24DBB42A}" type="slidenum">
              <a:rPr lang="en-US" altLang="en-US" sz="1200" b="0" smtClean="0"/>
              <a:pPr/>
              <a:t>4</a:t>
            </a:fld>
            <a:endParaRPr lang="en-US" altLang="en-US" sz="1200" b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B3FD3-B7D1-487A-8130-DAFD0EC6996E}" type="datetime1">
              <a:rPr lang="en-US"/>
              <a:pPr>
                <a:defRPr/>
              </a:pPr>
              <a:t>7/3/2021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©1992-2010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9AE5F1-0E8A-402A-8821-EF85124A8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731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Basic Structure of C Programming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Prepared By: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Asst. Prof. </a:t>
            </a:r>
            <a:r>
              <a:rPr lang="en-US" dirty="0" err="1" smtClean="0">
                <a:solidFill>
                  <a:schemeClr val="tx1"/>
                </a:solidFill>
              </a:rPr>
              <a:t>Jyotsnarani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Tripathy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856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6345" y="803654"/>
            <a:ext cx="56654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Structure of a C</a:t>
            </a:r>
            <a:r>
              <a:rPr spc="-4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/>
          <p:nvPr/>
        </p:nvSpPr>
        <p:spPr>
          <a:xfrm>
            <a:off x="2590800" y="1752598"/>
            <a:ext cx="3849624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256425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265" y="803654"/>
            <a:ext cx="31381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First</a:t>
            </a:r>
            <a:r>
              <a:rPr spc="-11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904999"/>
            <a:ext cx="7162800" cy="4248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1645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F3BEB6-A7FD-4C3F-8220-880EC8EBD3D5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7172" name="Line 2"/>
          <p:cNvSpPr>
            <a:spLocks noChangeShapeType="1"/>
          </p:cNvSpPr>
          <p:nvPr/>
        </p:nvSpPr>
        <p:spPr bwMode="auto">
          <a:xfrm>
            <a:off x="381000" y="457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7174" name="Group 4"/>
          <p:cNvGrpSpPr>
            <a:grpSpLocks/>
          </p:cNvGrpSpPr>
          <p:nvPr/>
        </p:nvGrpSpPr>
        <p:grpSpPr bwMode="auto">
          <a:xfrm>
            <a:off x="228600" y="252413"/>
            <a:ext cx="8610600" cy="5995987"/>
            <a:chOff x="336" y="159"/>
            <a:chExt cx="5232" cy="3777"/>
          </a:xfrm>
        </p:grpSpPr>
        <p:sp>
          <p:nvSpPr>
            <p:cNvPr id="7176" name="Line 5"/>
            <p:cNvSpPr>
              <a:spLocks noChangeShapeType="1"/>
            </p:cNvSpPr>
            <p:nvPr/>
          </p:nvSpPr>
          <p:spPr bwMode="auto">
            <a:xfrm>
              <a:off x="336" y="3936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77" name="Line 6"/>
            <p:cNvSpPr>
              <a:spLocks noChangeShapeType="1"/>
            </p:cNvSpPr>
            <p:nvPr/>
          </p:nvSpPr>
          <p:spPr bwMode="auto">
            <a:xfrm>
              <a:off x="336" y="159"/>
              <a:ext cx="523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78" name="Line 7"/>
            <p:cNvSpPr>
              <a:spLocks noChangeShapeType="1"/>
            </p:cNvSpPr>
            <p:nvPr/>
          </p:nvSpPr>
          <p:spPr bwMode="auto">
            <a:xfrm>
              <a:off x="336" y="3663"/>
              <a:ext cx="523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717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6613" y="1447800"/>
            <a:ext cx="7496175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424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813597"/>
            <a:ext cx="5257800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Comments</a:t>
            </a:r>
          </a:p>
        </p:txBody>
      </p:sp>
      <p:sp>
        <p:nvSpPr>
          <p:cNvPr id="3" name="object 3"/>
          <p:cNvSpPr/>
          <p:nvPr/>
        </p:nvSpPr>
        <p:spPr>
          <a:xfrm>
            <a:off x="1676401" y="1981198"/>
            <a:ext cx="5617462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236011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813597"/>
            <a:ext cx="6400800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Comments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1" y="1752598"/>
            <a:ext cx="8211310" cy="3730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72813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254" y="803654"/>
            <a:ext cx="555498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Pre-processor</a:t>
            </a:r>
            <a:r>
              <a:rPr spc="-50" dirty="0"/>
              <a:t> </a:t>
            </a:r>
            <a:r>
              <a:rPr spc="-10" dirty="0"/>
              <a:t>Directives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1893620"/>
            <a:ext cx="6893558" cy="3672672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marR="17780">
              <a:lnSpc>
                <a:spcPct val="119400"/>
              </a:lnSpc>
              <a:spcBef>
                <a:spcPts val="200"/>
              </a:spcBef>
            </a:pPr>
            <a:r>
              <a:rPr sz="3200" spc="-10" dirty="0">
                <a:latin typeface="Times New Roman"/>
                <a:cs typeface="Times New Roman"/>
              </a:rPr>
              <a:t>Preprocessor directives start with #  #include copies a file into the source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code</a:t>
            </a:r>
            <a:endParaRPr sz="3200">
              <a:latin typeface="Times New Roman"/>
              <a:cs typeface="Times New Roman"/>
            </a:endParaRPr>
          </a:p>
          <a:p>
            <a:pPr marL="25400" marR="10160">
              <a:lnSpc>
                <a:spcPts val="9220"/>
              </a:lnSpc>
              <a:spcBef>
                <a:spcPts val="910"/>
              </a:spcBef>
            </a:pPr>
            <a:r>
              <a:rPr sz="3200" b="1" dirty="0">
                <a:latin typeface="Courier New"/>
                <a:cs typeface="Courier New"/>
              </a:rPr>
              <a:t>#include &lt;systemFilename&gt;  #include</a:t>
            </a:r>
            <a:r>
              <a:rPr sz="3200" b="1" spc="-70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“undefinedFilename”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960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3478" y="803654"/>
            <a:ext cx="425450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#include</a:t>
            </a:r>
            <a:r>
              <a:rPr spc="-80" dirty="0"/>
              <a:t> </a:t>
            </a:r>
            <a:r>
              <a:rPr spc="-10" dirty="0"/>
              <a:t>&lt;stdio.h&gt;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2571494"/>
            <a:ext cx="7211058" cy="294311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65760" indent="-341630">
              <a:spcBef>
                <a:spcPts val="190"/>
              </a:spcBef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stdio.h is the standard input/output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header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8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365760" indent="-341630">
              <a:spcBef>
                <a:spcPts val="10"/>
              </a:spcBef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.h files are header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files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365760" indent="-341630"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Header files contain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definitions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748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7177" y="803654"/>
            <a:ext cx="45478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The main()</a:t>
            </a:r>
            <a:r>
              <a:rPr spc="-8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989327"/>
            <a:ext cx="6405880" cy="407624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z="3200" spc="-10" dirty="0">
                <a:latin typeface="Times New Roman"/>
                <a:cs typeface="Times New Roman"/>
              </a:rPr>
              <a:t>Programs must have a main()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function: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</a:pPr>
            <a:endParaRPr sz="4600">
              <a:latin typeface="Times New Roman"/>
              <a:cs typeface="Times New Roman"/>
            </a:endParaRPr>
          </a:p>
          <a:p>
            <a:pPr marL="25400"/>
            <a:r>
              <a:rPr sz="3200" spc="-10" dirty="0">
                <a:latin typeface="Times New Roman"/>
                <a:cs typeface="Times New Roman"/>
              </a:rPr>
              <a:t>Two allowed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formats: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</a:pPr>
            <a:endParaRPr sz="3700">
              <a:latin typeface="Times New Roman"/>
              <a:cs typeface="Times New Roman"/>
            </a:endParaRPr>
          </a:p>
          <a:p>
            <a:pPr marL="25400" marR="1965960">
              <a:lnSpc>
                <a:spcPct val="120000"/>
              </a:lnSpc>
              <a:spcBef>
                <a:spcPts val="10"/>
              </a:spcBef>
            </a:pPr>
            <a:r>
              <a:rPr sz="3200" b="1" dirty="0">
                <a:latin typeface="Courier New"/>
                <a:cs typeface="Courier New"/>
              </a:rPr>
              <a:t>int main( void </a:t>
            </a:r>
            <a:r>
              <a:rPr sz="3200" b="1" spc="-10" dirty="0">
                <a:latin typeface="Courier New"/>
                <a:cs typeface="Courier New"/>
              </a:rPr>
              <a:t>)  int main(int</a:t>
            </a:r>
            <a:r>
              <a:rPr sz="3200" b="1" spc="-90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argc,</a:t>
            </a:r>
            <a:endParaRPr sz="3200">
              <a:latin typeface="Courier New"/>
              <a:cs typeface="Courier New"/>
            </a:endParaRPr>
          </a:p>
          <a:p>
            <a:pPr marL="2225040">
              <a:spcBef>
                <a:spcPts val="740"/>
              </a:spcBef>
            </a:pPr>
            <a:r>
              <a:rPr sz="3200" b="1" spc="-10" dirty="0">
                <a:latin typeface="Courier New"/>
                <a:cs typeface="Courier New"/>
              </a:rPr>
              <a:t>char</a:t>
            </a:r>
            <a:r>
              <a:rPr sz="3200" b="1" spc="-20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*argv[])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344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265" y="803654"/>
            <a:ext cx="31381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First</a:t>
            </a:r>
            <a:r>
              <a:rPr spc="-11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904999"/>
            <a:ext cx="7162800" cy="4248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6589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95401"/>
            <a:ext cx="8229600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7940">
              <a:spcBef>
                <a:spcPts val="190"/>
              </a:spcBef>
            </a:pP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1955798"/>
            <a:ext cx="7504430" cy="26466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65760" marR="10160" indent="-341630">
              <a:lnSpc>
                <a:spcPts val="3020"/>
              </a:lnSpc>
              <a:spcBef>
                <a:spcPts val="590"/>
              </a:spcBef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variable is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block of memory that stores data of </a:t>
            </a:r>
            <a:r>
              <a:rPr sz="2800" dirty="0">
                <a:latin typeface="Times New Roman"/>
                <a:cs typeface="Times New Roman"/>
              </a:rPr>
              <a:t>a  </a:t>
            </a:r>
            <a:r>
              <a:rPr sz="2800" spc="-10" dirty="0">
                <a:latin typeface="Times New Roman"/>
                <a:cs typeface="Times New Roman"/>
              </a:rPr>
              <a:t>particular type and is named with an appropriate  identifier.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100"/>
              </a:spcBef>
            </a:pPr>
            <a:endParaRPr sz="3300">
              <a:latin typeface="Times New Roman"/>
              <a:cs typeface="Times New Roman"/>
            </a:endParaRPr>
          </a:p>
          <a:p>
            <a:pPr marL="365760" indent="-341630">
              <a:buChar char="•"/>
              <a:tabLst>
                <a:tab pos="367030" algn="l"/>
              </a:tabLst>
            </a:pP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int</a:t>
            </a:r>
            <a:r>
              <a:rPr sz="2400" b="1" spc="-7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number_of_days</a:t>
            </a:r>
            <a:r>
              <a:rPr sz="2400" b="1" spc="-75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might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begin 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A000</a:t>
            </a:r>
            <a:endParaRPr sz="2800">
              <a:latin typeface="Times New Roman"/>
              <a:cs typeface="Times New Roman"/>
            </a:endParaRPr>
          </a:p>
          <a:p>
            <a:pPr marL="365760" indent="-341630">
              <a:spcBef>
                <a:spcPts val="360"/>
              </a:spcBef>
              <a:buChar char="•"/>
              <a:tabLst>
                <a:tab pos="367030" algn="l"/>
              </a:tabLst>
            </a:pPr>
            <a:r>
              <a:rPr sz="2800" spc="-10" dirty="0">
                <a:latin typeface="Times New Roman"/>
                <a:cs typeface="Times New Roman"/>
              </a:rPr>
              <a:t>The </a:t>
            </a:r>
            <a:r>
              <a:rPr sz="2400" b="1" spc="-10" dirty="0">
                <a:latin typeface="Courier New"/>
                <a:cs typeface="Courier New"/>
              </a:rPr>
              <a:t>int</a:t>
            </a:r>
            <a:r>
              <a:rPr sz="2400" b="1" spc="-78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is </a:t>
            </a:r>
            <a:r>
              <a:rPr sz="2800" dirty="0">
                <a:latin typeface="Times New Roman"/>
                <a:cs typeface="Times New Roman"/>
              </a:rPr>
              <a:t>4 </a:t>
            </a:r>
            <a:r>
              <a:rPr sz="2800" spc="-10" dirty="0">
                <a:latin typeface="Times New Roman"/>
                <a:cs typeface="Times New Roman"/>
              </a:rPr>
              <a:t>bytes: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28138" y="4641801"/>
          <a:ext cx="3175000" cy="1289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2700"/>
                <a:gridCol w="1892300"/>
              </a:tblGrid>
              <a:tr h="309406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A000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10101001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33756">
                <a:tc>
                  <a:txBody>
                    <a:bodyPr/>
                    <a:lstStyle/>
                    <a:p>
                      <a:pPr marL="31750">
                        <a:lnSpc>
                          <a:spcPts val="112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A001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2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00000000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35278">
                <a:tc>
                  <a:txBody>
                    <a:bodyPr/>
                    <a:lstStyle/>
                    <a:p>
                      <a:pPr marL="31750">
                        <a:lnSpc>
                          <a:spcPts val="112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A002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2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10101010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10930">
                <a:tc>
                  <a:txBody>
                    <a:bodyPr/>
                    <a:lstStyle/>
                    <a:p>
                      <a:pPr marL="31750">
                        <a:lnSpc>
                          <a:spcPts val="112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A003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2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11110010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5528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95401"/>
            <a:ext cx="8229600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7940">
              <a:spcBef>
                <a:spcPts val="190"/>
              </a:spcBef>
            </a:pP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1989326"/>
            <a:ext cx="7537450" cy="391773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65760" marR="10160" indent="-341630">
              <a:spcBef>
                <a:spcPts val="190"/>
              </a:spcBef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name of the variable corresponds to the  address of the first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byte!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90"/>
              </a:spcBef>
              <a:buFont typeface="Times New Roman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365760" marR="527050" indent="-341630">
              <a:lnSpc>
                <a:spcPts val="3820"/>
              </a:lnSpc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 machine remembers the address and  knows that an </a:t>
            </a:r>
            <a:r>
              <a:rPr sz="2400" b="1" spc="-10" dirty="0">
                <a:latin typeface="Courier New"/>
                <a:cs typeface="Courier New"/>
              </a:rPr>
              <a:t>int</a:t>
            </a:r>
            <a:r>
              <a:rPr sz="2400" b="1" spc="-610" dirty="0">
                <a:latin typeface="Courier New"/>
                <a:cs typeface="Courier New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is four bytes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70"/>
              </a:spcBef>
              <a:buFont typeface="Times New Roman"/>
              <a:buChar char="•"/>
            </a:pPr>
            <a:endParaRPr sz="4500">
              <a:latin typeface="Times New Roman"/>
              <a:cs typeface="Times New Roman"/>
            </a:endParaRPr>
          </a:p>
          <a:p>
            <a:pPr marL="365760" indent="-341630"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Knowing the address is very important in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174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4110" y="803654"/>
            <a:ext cx="633222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Rules for Naming</a:t>
            </a:r>
            <a:r>
              <a:rPr spc="-4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989327"/>
            <a:ext cx="7942580" cy="415626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635000" indent="-609600">
              <a:spcBef>
                <a:spcPts val="190"/>
              </a:spcBef>
              <a:buChar char="•"/>
              <a:tabLst>
                <a:tab pos="633730" algn="l"/>
                <a:tab pos="635000" algn="l"/>
              </a:tabLst>
            </a:pPr>
            <a:r>
              <a:rPr sz="3200" spc="-10" dirty="0">
                <a:latin typeface="Times New Roman"/>
                <a:cs typeface="Times New Roman"/>
              </a:rPr>
              <a:t>First character: alphabetic or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underscore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635000" indent="-609600">
              <a:buChar char="•"/>
              <a:tabLst>
                <a:tab pos="633730" algn="l"/>
                <a:tab pos="635000" algn="l"/>
              </a:tabLst>
            </a:pPr>
            <a:r>
              <a:rPr sz="3200" spc="-10" dirty="0">
                <a:latin typeface="Times New Roman"/>
                <a:cs typeface="Times New Roman"/>
              </a:rPr>
              <a:t>Consist only of alphanumeric or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underscores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635000" indent="-609600">
              <a:buChar char="•"/>
              <a:tabLst>
                <a:tab pos="633730" algn="l"/>
                <a:tab pos="635000" algn="l"/>
              </a:tabLst>
            </a:pPr>
            <a:r>
              <a:rPr sz="3200" spc="-10" dirty="0">
                <a:latin typeface="Times New Roman"/>
                <a:cs typeface="Times New Roman"/>
              </a:rPr>
              <a:t>Only first 31 characters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count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9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635000" indent="-609600">
              <a:buChar char="•"/>
              <a:tabLst>
                <a:tab pos="633730" algn="l"/>
                <a:tab pos="635000" algn="l"/>
              </a:tabLst>
            </a:pPr>
            <a:r>
              <a:rPr sz="3200" spc="-10" dirty="0">
                <a:latin typeface="Times New Roman"/>
                <a:cs typeface="Times New Roman"/>
              </a:rPr>
              <a:t>Cannot duplicate a reserved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word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979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2793" y="803654"/>
            <a:ext cx="45986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Legal/Illegal</a:t>
            </a:r>
            <a:r>
              <a:rPr spc="-70" dirty="0"/>
              <a:t> </a:t>
            </a:r>
            <a:r>
              <a:rPr spc="-10" dirty="0"/>
              <a:t>Names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1809" y="2959606"/>
          <a:ext cx="6096000" cy="2715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6730"/>
                <a:gridCol w="3049270"/>
              </a:tblGrid>
              <a:tr h="65989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Legal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Illegal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585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$sum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512062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student_name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2names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TRUE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stdnt number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0589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FALSE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int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9729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2689" y="803654"/>
            <a:ext cx="47383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Standard Data</a:t>
            </a:r>
            <a:r>
              <a:rPr spc="-100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2743198"/>
            <a:ext cx="7476744" cy="2307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0296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0121" y="498854"/>
            <a:ext cx="482981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Primitive Data</a:t>
            </a:r>
            <a:r>
              <a:rPr spc="-70" dirty="0"/>
              <a:t> </a:t>
            </a:r>
            <a:r>
              <a:rPr spc="-10" dirty="0"/>
              <a:t>Types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35609" y="1435607"/>
          <a:ext cx="6324600" cy="474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770"/>
                <a:gridCol w="4481830"/>
              </a:tblGrid>
              <a:tr h="452626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C-Implementation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void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void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3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(1 byte)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775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integer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unsigned short int</a:t>
                      </a:r>
                      <a:r>
                        <a:rPr sz="2000" b="1" spc="-3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(1 byte)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unsigned int</a:t>
                      </a:r>
                      <a:r>
                        <a:rPr sz="2000" b="1" spc="-3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(2 or 4 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unsigned long int</a:t>
                      </a:r>
                      <a:r>
                        <a:rPr sz="2000" b="1" spc="-3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(4 or 8 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47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short int</a:t>
                      </a:r>
                      <a:r>
                        <a:rPr sz="2000" b="1" spc="-3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(1 byte)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(2 or 4</a:t>
                      </a:r>
                      <a:r>
                        <a:rPr sz="2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long int</a:t>
                      </a:r>
                      <a:r>
                        <a:rPr sz="2000" b="1" spc="-3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(4 or 8 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6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floating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point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2000" b="1" spc="-3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(4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double</a:t>
                      </a:r>
                      <a:r>
                        <a:rPr sz="2000" b="1" spc="-3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(8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long double</a:t>
                      </a:r>
                      <a:r>
                        <a:rPr sz="2000" b="1" spc="-3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(10 bytes)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218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5751" y="803654"/>
            <a:ext cx="295021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Logical</a:t>
            </a:r>
            <a:r>
              <a:rPr spc="-110" dirty="0"/>
              <a:t> </a:t>
            </a:r>
            <a:r>
              <a:rPr spc="-1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1989326"/>
            <a:ext cx="4931410" cy="290720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z="3200" spc="-10" dirty="0">
                <a:latin typeface="Times New Roman"/>
                <a:cs typeface="Times New Roman"/>
              </a:rPr>
              <a:t>No Boolean data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type!!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</a:pPr>
            <a:endParaRPr sz="4600">
              <a:latin typeface="Times New Roman"/>
              <a:cs typeface="Times New Roman"/>
            </a:endParaRPr>
          </a:p>
          <a:p>
            <a:pPr marL="25400"/>
            <a:r>
              <a:rPr sz="3200" spc="-1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C:</a:t>
            </a:r>
            <a:endParaRPr sz="3200">
              <a:latin typeface="Times New Roman"/>
              <a:cs typeface="Times New Roman"/>
            </a:endParaRPr>
          </a:p>
          <a:p>
            <a:pPr marL="365760">
              <a:spcBef>
                <a:spcPts val="770"/>
              </a:spcBef>
            </a:pPr>
            <a:r>
              <a:rPr sz="3200" spc="-10" dirty="0">
                <a:latin typeface="Times New Roman"/>
                <a:cs typeface="Times New Roman"/>
              </a:rPr>
              <a:t>any nonzero number is </a:t>
            </a:r>
            <a:r>
              <a:rPr sz="3200" b="1" spc="-10" dirty="0">
                <a:latin typeface="Times New Roman"/>
                <a:cs typeface="Times New Roman"/>
              </a:rPr>
              <a:t>true</a:t>
            </a:r>
            <a:endParaRPr sz="3200">
              <a:latin typeface="Times New Roman"/>
              <a:cs typeface="Times New Roman"/>
            </a:endParaRPr>
          </a:p>
          <a:p>
            <a:pPr marL="365760">
              <a:spcBef>
                <a:spcPts val="740"/>
              </a:spcBef>
            </a:pPr>
            <a:r>
              <a:rPr sz="3200" dirty="0">
                <a:latin typeface="Times New Roman"/>
                <a:cs typeface="Times New Roman"/>
              </a:rPr>
              <a:t>zero 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false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039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1832" y="803654"/>
            <a:ext cx="471424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Variable</a:t>
            </a:r>
            <a:r>
              <a:rPr spc="-70" dirty="0"/>
              <a:t> </a:t>
            </a:r>
            <a:r>
              <a:rPr spc="-10" dirty="0"/>
              <a:t>Declaration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981199"/>
            <a:ext cx="8491728" cy="36484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4708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6865" y="803654"/>
            <a:ext cx="496951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Variable</a:t>
            </a:r>
            <a:r>
              <a:rPr spc="-40" dirty="0"/>
              <a:t> </a:t>
            </a:r>
            <a:r>
              <a:rPr spc="-10" dirty="0"/>
              <a:t>Initialization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89978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445770" indent="-341630">
              <a:spcBef>
                <a:spcPts val="190"/>
              </a:spcBef>
              <a:tabLst>
                <a:tab pos="447040" algn="l"/>
              </a:tabLst>
            </a:pPr>
            <a:r>
              <a:rPr spc="-10" dirty="0"/>
              <a:t>No variable is initialized until you do</a:t>
            </a:r>
            <a:r>
              <a:rPr spc="80" dirty="0"/>
              <a:t> </a:t>
            </a:r>
            <a:r>
              <a:rPr spc="-10" dirty="0"/>
              <a:t>so!</a:t>
            </a:r>
          </a:p>
          <a:p>
            <a:pPr marL="80010">
              <a:spcBef>
                <a:spcPts val="100"/>
              </a:spcBef>
            </a:pPr>
            <a:endParaRPr sz="3400"/>
          </a:p>
          <a:p>
            <a:pPr marL="105410" marR="4758690">
              <a:lnSpc>
                <a:spcPct val="110000"/>
              </a:lnSpc>
              <a:spcBef>
                <a:spcPts val="10"/>
              </a:spcBef>
            </a:pPr>
            <a:r>
              <a:rPr sz="2400" b="1" spc="-10" dirty="0">
                <a:latin typeface="Courier New"/>
                <a:cs typeface="Courier New"/>
              </a:rPr>
              <a:t>char code =</a:t>
            </a:r>
            <a:r>
              <a:rPr sz="2400" b="1" spc="-14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‘B’;  </a:t>
            </a:r>
            <a:r>
              <a:rPr sz="2400" b="1" spc="-10" dirty="0">
                <a:latin typeface="Courier New"/>
                <a:cs typeface="Courier New"/>
              </a:rPr>
              <a:t>int i =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05410" marR="1652270">
              <a:lnSpc>
                <a:spcPct val="109600"/>
              </a:lnSpc>
              <a:spcBef>
                <a:spcPts val="10"/>
              </a:spcBef>
            </a:pPr>
            <a:r>
              <a:rPr sz="2400" b="1" spc="-10" dirty="0">
                <a:latin typeface="Courier New"/>
                <a:cs typeface="Courier New"/>
              </a:rPr>
              <a:t>long national_debt = </a:t>
            </a:r>
            <a:r>
              <a:rPr sz="2400" b="1" spc="-20" dirty="0">
                <a:latin typeface="Courier New"/>
                <a:cs typeface="Courier New"/>
              </a:rPr>
              <a:t>2931000001L;  </a:t>
            </a:r>
            <a:r>
              <a:rPr sz="2400" b="1" spc="-10" dirty="0">
                <a:latin typeface="Courier New"/>
                <a:cs typeface="Courier New"/>
              </a:rPr>
              <a:t>unsigned long gnp = </a:t>
            </a:r>
            <a:r>
              <a:rPr sz="2400" b="1" spc="-20" dirty="0">
                <a:latin typeface="Courier New"/>
                <a:cs typeface="Courier New"/>
              </a:rPr>
              <a:t>332000101LU;  </a:t>
            </a:r>
            <a:r>
              <a:rPr sz="2400" b="1" spc="-10" dirty="0">
                <a:latin typeface="Courier New"/>
                <a:cs typeface="Courier New"/>
              </a:rPr>
              <a:t>float aVariable 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3.1415f;</a:t>
            </a:r>
            <a:endParaRPr sz="2400">
              <a:latin typeface="Courier New"/>
              <a:cs typeface="Courier New"/>
            </a:endParaRPr>
          </a:p>
          <a:p>
            <a:pPr marL="105410">
              <a:spcBef>
                <a:spcPts val="280"/>
              </a:spcBef>
            </a:pPr>
            <a:r>
              <a:rPr sz="2400" b="1" spc="-10" dirty="0">
                <a:latin typeface="Courier New"/>
                <a:cs typeface="Courier New"/>
              </a:rPr>
              <a:t>double variable2 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3.1415926535;</a:t>
            </a:r>
            <a:endParaRPr sz="2400">
              <a:latin typeface="Courier New"/>
              <a:cs typeface="Courier New"/>
            </a:endParaRPr>
          </a:p>
          <a:p>
            <a:pPr marL="105410">
              <a:spcBef>
                <a:spcPts val="290"/>
              </a:spcBef>
            </a:pPr>
            <a:r>
              <a:rPr sz="2400" b="1" spc="-10" dirty="0">
                <a:latin typeface="Courier New"/>
                <a:cs typeface="Courier New"/>
              </a:rPr>
              <a:t>long double variable3 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3.14159265358979L;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646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8721" y="803654"/>
            <a:ext cx="422021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Special</a:t>
            </a:r>
            <a:r>
              <a:rPr spc="-100" dirty="0"/>
              <a:t> </a:t>
            </a:r>
            <a:r>
              <a:rPr spc="-10" dirty="0"/>
              <a:t>Characters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7903" y="2127502"/>
          <a:ext cx="6096000" cy="4064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</a:tblGrid>
              <a:tr h="58217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ASCII</a:t>
                      </a:r>
                      <a:r>
                        <a:rPr sz="2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47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Symbolic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47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2336">
                <a:tc gridSpan="2">
                  <a:txBody>
                    <a:bodyPr/>
                    <a:lstStyle/>
                    <a:p>
                      <a:pPr marR="543560" algn="r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181610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Nul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characte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’\0’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R="543560" algn="r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70815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Aler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(bell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)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’\a’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L="251460" marR="543560" indent="130810" algn="r">
                        <a:lnSpc>
                          <a:spcPts val="2290"/>
                        </a:lnSpc>
                        <a:spcBef>
                          <a:spcPts val="165"/>
                        </a:spcBef>
                        <a:tabLst>
                          <a:tab pos="1861820" algn="l"/>
                          <a:tab pos="207200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Backspac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	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’\b’ 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Horizonta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	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’\t’ 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Newlin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’\n’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R="543560" algn="r">
                        <a:lnSpc>
                          <a:spcPct val="100000"/>
                        </a:lnSpc>
                        <a:spcBef>
                          <a:spcPts val="430"/>
                        </a:spcBef>
                        <a:tabLst>
                          <a:tab pos="175704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Vertica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Ta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’\v’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</a:txBody>
                  <a:tcPr marL="0" marR="0" marT="647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7088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8721" y="803654"/>
            <a:ext cx="422021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Special</a:t>
            </a:r>
            <a:r>
              <a:rPr spc="-100" dirty="0"/>
              <a:t> </a:t>
            </a:r>
            <a:r>
              <a:rPr spc="-10" dirty="0"/>
              <a:t>Characters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7903" y="2127502"/>
          <a:ext cx="6096000" cy="34853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/>
                <a:gridCol w="3048000"/>
              </a:tblGrid>
              <a:tr h="582166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ASCII</a:t>
                      </a:r>
                      <a:r>
                        <a:rPr sz="2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47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Symbolic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47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03220">
                <a:tc gridSpan="2">
                  <a:txBody>
                    <a:bodyPr/>
                    <a:lstStyle/>
                    <a:p>
                      <a:pPr marR="543560" algn="r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169862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Fee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’\f’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R="543560" algn="r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85102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Carriag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retur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’\r’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R="543560" algn="r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75704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Singl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quot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’\’’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R="543560" algn="r">
                        <a:lnSpc>
                          <a:spcPct val="100000"/>
                        </a:lnSpc>
                        <a:spcBef>
                          <a:spcPts val="610"/>
                        </a:spcBef>
                        <a:tabLst>
                          <a:tab pos="1811655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Doubl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Quot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’\”’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  <a:p>
                      <a:pPr marR="543560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1670050" algn="l"/>
                        </a:tabLst>
                      </a:pPr>
                      <a:r>
                        <a:rPr sz="2800" spc="-5" dirty="0">
                          <a:latin typeface="Times New Roman"/>
                          <a:cs typeface="Times New Roman"/>
                        </a:rPr>
                        <a:t>Backslas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	</a:t>
                      </a:r>
                      <a:r>
                        <a:rPr sz="4200" spc="-15" baseline="3968" dirty="0">
                          <a:latin typeface="Courier New"/>
                          <a:cs typeface="Courier New"/>
                        </a:rPr>
                        <a:t>’\\’</a:t>
                      </a:r>
                      <a:endParaRPr sz="4200" baseline="3968">
                        <a:latin typeface="Courier New"/>
                        <a:cs typeface="Courier New"/>
                      </a:endParaRPr>
                    </a:p>
                  </a:txBody>
                  <a:tcPr marL="0" marR="0" marT="6476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4348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0367" y="803654"/>
            <a:ext cx="3760470" cy="721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String</a:t>
            </a:r>
            <a:r>
              <a:rPr spc="-90" dirty="0"/>
              <a:t> </a:t>
            </a:r>
            <a:r>
              <a:rPr spc="-10" dirty="0"/>
              <a:t>Constants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2323949"/>
            <a:ext cx="7879080" cy="3348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2180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813597"/>
            <a:ext cx="5257800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#define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1964942"/>
            <a:ext cx="5937250" cy="3703578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>
              <a:spcBef>
                <a:spcPts val="200"/>
              </a:spcBef>
            </a:pPr>
            <a:r>
              <a:rPr sz="2400" b="1" spc="-10" dirty="0">
                <a:latin typeface="Courier New"/>
                <a:cs typeface="Courier New"/>
              </a:rPr>
              <a:t>#define name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token(s)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100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25400"/>
            <a:r>
              <a:rPr sz="3200" spc="-10" dirty="0">
                <a:latin typeface="Times New Roman"/>
                <a:cs typeface="Times New Roman"/>
              </a:rPr>
              <a:t>Replaces the </a:t>
            </a:r>
            <a:r>
              <a:rPr sz="2400" b="1" spc="-10" dirty="0">
                <a:latin typeface="Courier New"/>
                <a:cs typeface="Courier New"/>
              </a:rPr>
              <a:t>name</a:t>
            </a:r>
            <a:r>
              <a:rPr sz="2400" b="1" spc="-590" dirty="0">
                <a:latin typeface="Courier New"/>
                <a:cs typeface="Courier New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with the </a:t>
            </a:r>
            <a:r>
              <a:rPr sz="2400" b="1" spc="-10" dirty="0">
                <a:latin typeface="Courier New"/>
                <a:cs typeface="Courier New"/>
              </a:rPr>
              <a:t>token(s)</a:t>
            </a:r>
            <a:endParaRPr sz="2400" dirty="0">
              <a:latin typeface="Courier New"/>
              <a:cs typeface="Courier New"/>
            </a:endParaRPr>
          </a:p>
          <a:p>
            <a:pPr>
              <a:spcBef>
                <a:spcPts val="90"/>
              </a:spcBef>
            </a:pPr>
            <a:endParaRPr sz="4600" dirty="0">
              <a:latin typeface="Times New Roman"/>
              <a:cs typeface="Times New Roman"/>
            </a:endParaRPr>
          </a:p>
          <a:p>
            <a:pPr marL="25400"/>
            <a:r>
              <a:rPr sz="3200" spc="-10" dirty="0">
                <a:latin typeface="Times New Roman"/>
                <a:cs typeface="Times New Roman"/>
              </a:rPr>
              <a:t>Example: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spcBef>
                <a:spcPts val="390"/>
              </a:spcBef>
            </a:pPr>
            <a:r>
              <a:rPr sz="2400" b="1" spc="-10" dirty="0">
                <a:latin typeface="Courier New"/>
                <a:cs typeface="Courier New"/>
              </a:rPr>
              <a:t>#define PI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3.1415926535</a:t>
            </a:r>
            <a:endParaRPr sz="2400" dirty="0">
              <a:latin typeface="Courier New"/>
              <a:cs typeface="Courier New"/>
            </a:endParaRPr>
          </a:p>
          <a:p>
            <a:pPr marL="25400">
              <a:spcBef>
                <a:spcPts val="580"/>
              </a:spcBef>
            </a:pPr>
            <a:r>
              <a:rPr sz="2400" b="1" spc="-10" dirty="0">
                <a:latin typeface="Courier New"/>
                <a:cs typeface="Courier New"/>
              </a:rPr>
              <a:t>#define SIZE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1000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973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813597"/>
            <a:ext cx="4800600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#define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2571494"/>
            <a:ext cx="6366510" cy="294311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65760" indent="-341630">
              <a:spcBef>
                <a:spcPts val="190"/>
              </a:spcBef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No equals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sign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8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365760" indent="-341630">
              <a:spcBef>
                <a:spcPts val="10"/>
              </a:spcBef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No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semicolon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60"/>
              </a:spcBef>
              <a:buFont typeface="Times New Roman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365760" indent="-341630">
              <a:buChar char="•"/>
              <a:tabLst>
                <a:tab pos="367030" algn="l"/>
              </a:tabLst>
            </a:pPr>
            <a:r>
              <a:rPr sz="3200" spc="-10" dirty="0">
                <a:latin typeface="Times New Roman"/>
                <a:cs typeface="Times New Roman"/>
              </a:rPr>
              <a:t>Multiple lines require \ at end of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line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435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20" y="762000"/>
            <a:ext cx="6249671" cy="70147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Constants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1" y="1935683"/>
            <a:ext cx="7098030" cy="4074192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5400">
              <a:spcBef>
                <a:spcPts val="630"/>
              </a:spcBef>
            </a:pPr>
            <a:r>
              <a:rPr sz="2800" spc="-10" dirty="0">
                <a:latin typeface="Times New Roman"/>
                <a:cs typeface="Times New Roman"/>
              </a:rPr>
              <a:t>To define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constant define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10" dirty="0">
                <a:latin typeface="Times New Roman"/>
                <a:cs typeface="Times New Roman"/>
              </a:rPr>
              <a:t>variable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with:</a:t>
            </a:r>
            <a:endParaRPr sz="2800">
              <a:latin typeface="Times New Roman"/>
              <a:cs typeface="Times New Roman"/>
            </a:endParaRPr>
          </a:p>
          <a:p>
            <a:pPr marL="365760">
              <a:spcBef>
                <a:spcPts val="430"/>
              </a:spcBef>
            </a:pPr>
            <a:r>
              <a:rPr sz="2800" b="1" spc="-10" dirty="0">
                <a:latin typeface="Courier New"/>
                <a:cs typeface="Courier New"/>
              </a:rPr>
              <a:t>const</a:t>
            </a:r>
            <a:endParaRPr sz="2800"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endParaRPr sz="4300">
              <a:latin typeface="Times New Roman"/>
              <a:cs typeface="Times New Roman"/>
            </a:endParaRPr>
          </a:p>
          <a:p>
            <a:pPr marL="25400"/>
            <a:r>
              <a:rPr sz="2800" spc="-10" dirty="0">
                <a:latin typeface="Times New Roman"/>
                <a:cs typeface="Times New Roman"/>
              </a:rPr>
              <a:t>Works:</a:t>
            </a:r>
            <a:endParaRPr sz="2800">
              <a:latin typeface="Times New Roman"/>
              <a:cs typeface="Times New Roman"/>
            </a:endParaRPr>
          </a:p>
          <a:p>
            <a:pPr marL="365760">
              <a:spcBef>
                <a:spcPts val="320"/>
              </a:spcBef>
            </a:pPr>
            <a:r>
              <a:rPr sz="2000" b="1" spc="-10" dirty="0">
                <a:latin typeface="Courier New"/>
                <a:cs typeface="Courier New"/>
              </a:rPr>
              <a:t>const float pi =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3.1415926;</a:t>
            </a:r>
            <a:endParaRPr sz="2000">
              <a:latin typeface="Courier New"/>
              <a:cs typeface="Courier New"/>
            </a:endParaRPr>
          </a:p>
          <a:p>
            <a:pPr>
              <a:spcBef>
                <a:spcPts val="30"/>
              </a:spcBef>
            </a:pPr>
            <a:endParaRPr sz="3200">
              <a:latin typeface="Times New Roman"/>
              <a:cs typeface="Times New Roman"/>
            </a:endParaRPr>
          </a:p>
          <a:p>
            <a:pPr marL="25400">
              <a:spcBef>
                <a:spcPts val="10"/>
              </a:spcBef>
            </a:pPr>
            <a:r>
              <a:rPr sz="2800" spc="-10" dirty="0">
                <a:latin typeface="Times New Roman"/>
                <a:cs typeface="Times New Roman"/>
              </a:rPr>
              <a:t>Doesn’t:</a:t>
            </a:r>
            <a:endParaRPr sz="2800">
              <a:latin typeface="Times New Roman"/>
              <a:cs typeface="Times New Roman"/>
            </a:endParaRPr>
          </a:p>
          <a:p>
            <a:pPr marL="365760">
              <a:spcBef>
                <a:spcPts val="320"/>
              </a:spcBef>
            </a:pPr>
            <a:r>
              <a:rPr sz="2000" b="1" spc="-10" dirty="0">
                <a:latin typeface="Courier New"/>
                <a:cs typeface="Courier New"/>
              </a:rPr>
              <a:t>const float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pi;</a:t>
            </a:r>
            <a:endParaRPr sz="2000">
              <a:latin typeface="Courier New"/>
              <a:cs typeface="Courier New"/>
            </a:endParaRPr>
          </a:p>
          <a:p>
            <a:pPr marL="365760">
              <a:spcBef>
                <a:spcPts val="480"/>
              </a:spcBef>
            </a:pPr>
            <a:r>
              <a:rPr sz="2000" b="1" spc="-10" dirty="0">
                <a:latin typeface="Courier New"/>
                <a:cs typeface="Courier New"/>
              </a:rPr>
              <a:t>pi=3.1415926; /* not allowed to change it</a:t>
            </a:r>
            <a:r>
              <a:rPr sz="2000" b="1" spc="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*/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138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800" y="475043"/>
            <a:ext cx="5994400" cy="137858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0">
              <a:spcBef>
                <a:spcPts val="190"/>
              </a:spcBef>
            </a:pPr>
            <a:r>
              <a:rPr spc="-10" dirty="0"/>
              <a:t>Standard Input and</a:t>
            </a:r>
            <a:r>
              <a:rPr spc="-60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381001" y="2438398"/>
            <a:ext cx="8363710" cy="3520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4169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A Simple C Program: Printing a Line of Text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A left brace, </a:t>
            </a:r>
            <a:r>
              <a:rPr lang="en-US" sz="2500" dirty="0" smtClean="0">
                <a:solidFill>
                  <a:srgbClr val="000000"/>
                </a:solidFill>
                <a:latin typeface="Lucida Console" pitchFamily="49" charset="0"/>
              </a:rPr>
              <a:t>{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, begins the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body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of every function .</a:t>
            </a:r>
          </a:p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A corresponding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right brace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ends each function .</a:t>
            </a:r>
          </a:p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This pair of braces and the portion of the program between the braces is called a block.</a:t>
            </a:r>
          </a:p>
          <a:p>
            <a:r>
              <a:rPr lang="en-US" sz="1900" dirty="0" err="1" smtClean="0">
                <a:solidFill>
                  <a:srgbClr val="000000"/>
                </a:solidFill>
                <a:latin typeface="Lucida Console" pitchFamily="49" charset="0"/>
              </a:rPr>
              <a:t>printf</a:t>
            </a: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( </a:t>
            </a:r>
            <a:r>
              <a:rPr lang="en-US" sz="1900" b="1" dirty="0" smtClean="0">
                <a:solidFill>
                  <a:srgbClr val="128AFF"/>
                </a:solidFill>
                <a:latin typeface="Lucida Console" pitchFamily="49" charset="0"/>
              </a:rPr>
              <a:t>"Welcome to C!\n"</a:t>
            </a:r>
            <a:r>
              <a:rPr lang="en-US" sz="1900" b="1" dirty="0" smtClean="0">
                <a:solidFill>
                  <a:srgbClr val="000000"/>
                </a:solidFill>
                <a:latin typeface="Lucida Console" pitchFamily="49" charset="0"/>
              </a:rPr>
              <a:t> );</a:t>
            </a:r>
          </a:p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instructs the computer to perform an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action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, namely to print on the screen the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string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of characters marked by the quotation marks.</a:t>
            </a:r>
          </a:p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A string is sometimes called a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character string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, a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message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or a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literal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72556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 Simple C Program: Printing a Line of Text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The entire line, including 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printf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, its </a:t>
            </a:r>
            <a:r>
              <a:rPr lang="en-US" sz="2500" smtClean="0">
                <a:solidFill>
                  <a:srgbClr val="0000FF"/>
                </a:solidFill>
                <a:latin typeface="Times New Roman" pitchFamily="18" charset="0"/>
              </a:rPr>
              <a:t>argument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 within the parentheses and the semicolon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 (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;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)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, is called a </a:t>
            </a:r>
            <a:r>
              <a:rPr lang="en-US" sz="2500" smtClean="0">
                <a:solidFill>
                  <a:srgbClr val="0000FF"/>
                </a:solidFill>
                <a:latin typeface="Times New Roman" pitchFamily="18" charset="0"/>
              </a:rPr>
              <a:t>statement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Every statement must end with a semicolon (also known as the </a:t>
            </a:r>
            <a:r>
              <a:rPr lang="en-US" sz="2500" smtClean="0">
                <a:solidFill>
                  <a:srgbClr val="0000FF"/>
                </a:solidFill>
                <a:latin typeface="Times New Roman" pitchFamily="18" charset="0"/>
              </a:rPr>
              <a:t>statement terminator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).</a:t>
            </a:r>
          </a:p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When the preceding 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printf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 statement is executed, it prints the message 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Welcome to C!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 on the screen.</a:t>
            </a:r>
          </a:p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The characters normally print exactly as they appear between the double quotes in the 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printf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 statement.</a:t>
            </a:r>
          </a:p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Notice that the characters 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\n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 were not printed on the screen.</a:t>
            </a:r>
          </a:p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The backslash (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\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) is called an </a:t>
            </a:r>
            <a:r>
              <a:rPr lang="en-US" sz="2500" smtClean="0">
                <a:solidFill>
                  <a:srgbClr val="0000FF"/>
                </a:solidFill>
                <a:latin typeface="Times New Roman" pitchFamily="18" charset="0"/>
              </a:rPr>
              <a:t>escape character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It indicates that </a:t>
            </a:r>
            <a:r>
              <a:rPr lang="en-US" sz="2500" smtClean="0">
                <a:solidFill>
                  <a:srgbClr val="000000"/>
                </a:solidFill>
                <a:latin typeface="Lucida Console" pitchFamily="49" charset="0"/>
              </a:rPr>
              <a:t>printf</a:t>
            </a:r>
            <a:r>
              <a:rPr lang="en-US" sz="2500" smtClean="0">
                <a:solidFill>
                  <a:srgbClr val="000000"/>
                </a:solidFill>
                <a:latin typeface="Times New Roman" pitchFamily="18" charset="0"/>
              </a:rPr>
              <a:t> is supposed to do something out of the ordinary.</a:t>
            </a:r>
          </a:p>
        </p:txBody>
      </p:sp>
    </p:spTree>
    <p:extLst>
      <p:ext uri="{BB962C8B-B14F-4D97-AF65-F5344CB8AC3E}">
        <p14:creationId xmlns:p14="http://schemas.microsoft.com/office/powerpoint/2010/main" xmlns="" val="298826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Arial"/>
              </a:rPr>
              <a:t>A Simple C Program: Printing a Line of Text (Cont.)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When encountering a backslash in a string, the compiler looks ahead at the next character and combines it with the backslash to form an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</a:rPr>
              <a:t>escape sequence</a:t>
            </a:r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The escape sequence </a:t>
            </a:r>
            <a:r>
              <a:rPr lang="en-US" smtClean="0">
                <a:solidFill>
                  <a:srgbClr val="0000FF"/>
                </a:solidFill>
                <a:latin typeface="LucidaSansTypewriter" pitchFamily="49" charset="0"/>
              </a:rPr>
              <a:t>\n</a:t>
            </a:r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 means </a:t>
            </a:r>
            <a:r>
              <a:rPr lang="en-US" smtClean="0">
                <a:solidFill>
                  <a:srgbClr val="0000FF"/>
                </a:solidFill>
                <a:latin typeface="Times New Roman" pitchFamily="18" charset="0"/>
              </a:rPr>
              <a:t>newline</a:t>
            </a:r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When a newline appears in the string output by a </a:t>
            </a:r>
            <a:r>
              <a:rPr lang="en-US" smtClean="0">
                <a:solidFill>
                  <a:srgbClr val="000000"/>
                </a:solidFill>
                <a:latin typeface="Lucida Console" pitchFamily="49" charset="0"/>
              </a:rPr>
              <a:t>printf</a:t>
            </a:r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, the newline causes the cursor to position to the beginning of the next line on the screen.</a:t>
            </a:r>
          </a:p>
          <a:p>
            <a:r>
              <a:rPr lang="en-US" smtClean="0">
                <a:solidFill>
                  <a:srgbClr val="000000"/>
                </a:solidFill>
                <a:latin typeface="Times New Roman" pitchFamily="18" charset="0"/>
              </a:rPr>
              <a:t>Some common escape sequences are listed in Fig. 2.2.</a:t>
            </a:r>
          </a:p>
        </p:txBody>
      </p:sp>
    </p:spTree>
    <p:extLst>
      <p:ext uri="{BB962C8B-B14F-4D97-AF65-F5344CB8AC3E}">
        <p14:creationId xmlns:p14="http://schemas.microsoft.com/office/powerpoint/2010/main" xmlns="" val="75166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 descr="ch02images_Page_08.pn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6524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7056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>
                <a:solidFill>
                  <a:srgbClr val="3380E6"/>
                </a:solidFill>
                <a:latin typeface="Arial"/>
              </a:rPr>
              <a:t>A Simple C Program: Printing a Line of Text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914400" lvl="2" indent="0">
              <a:lnSpc>
                <a:spcPct val="90000"/>
              </a:lnSpc>
              <a:buNone/>
            </a:pPr>
            <a:r>
              <a:rPr lang="en-US" b="1" dirty="0" smtClean="0">
                <a:solidFill>
                  <a:srgbClr val="0000FF"/>
                </a:solidFill>
                <a:latin typeface="Lucida Console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US" b="1" dirty="0" smtClean="0">
                <a:solidFill>
                  <a:srgbClr val="128AFF"/>
                </a:solidFill>
                <a:latin typeface="Lucida Console" pitchFamily="49" charset="0"/>
              </a:rPr>
              <a:t>0</a:t>
            </a:r>
            <a:r>
              <a:rPr lang="en-US" b="1" dirty="0" smtClean="0">
                <a:solidFill>
                  <a:srgbClr val="000000"/>
                </a:solidFill>
                <a:latin typeface="Lucida Console" pitchFamily="49" charset="0"/>
              </a:rPr>
              <a:t>; </a:t>
            </a:r>
            <a:r>
              <a:rPr lang="en-US" b="1" dirty="0" smtClean="0">
                <a:solidFill>
                  <a:srgbClr val="00BF00"/>
                </a:solidFill>
                <a:latin typeface="Lucida Console" pitchFamily="49" charset="0"/>
              </a:rPr>
              <a:t>/* indicate that program ended successfully */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is included at the end of every </a:t>
            </a:r>
            <a:r>
              <a:rPr lang="en-US" dirty="0" smtClean="0">
                <a:solidFill>
                  <a:srgbClr val="000000"/>
                </a:solidFill>
                <a:latin typeface="Lucida Console" pitchFamily="49" charset="0"/>
              </a:rPr>
              <a:t>main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 function.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The keyword </a:t>
            </a:r>
            <a:r>
              <a:rPr lang="en-US" dirty="0" smtClean="0">
                <a:solidFill>
                  <a:srgbClr val="000000"/>
                </a:solidFill>
                <a:latin typeface="Lucida Console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 is one of several means we’ll use to 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</a:rPr>
              <a:t>exit a function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When the return statement is used at the end of </a:t>
            </a:r>
            <a:r>
              <a:rPr lang="en-US" dirty="0" smtClean="0">
                <a:solidFill>
                  <a:srgbClr val="000000"/>
                </a:solidFill>
                <a:latin typeface="Lucida Console" pitchFamily="49" charset="0"/>
              </a:rPr>
              <a:t>main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 as shown here, the value </a:t>
            </a:r>
            <a:r>
              <a:rPr lang="en-US" dirty="0" smtClean="0">
                <a:solidFill>
                  <a:srgbClr val="000000"/>
                </a:solidFill>
                <a:latin typeface="Lucida Console" pitchFamily="49" charset="0"/>
              </a:rPr>
              <a:t>0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 indicates that the program has terminated successfully.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The right brace, </a:t>
            </a:r>
            <a:r>
              <a:rPr lang="en-US" dirty="0" smtClean="0">
                <a:solidFill>
                  <a:srgbClr val="000000"/>
                </a:solidFill>
                <a:latin typeface="Lucida Console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,  indicates that the end of </a:t>
            </a:r>
            <a:r>
              <a:rPr lang="en-US" dirty="0" smtClean="0">
                <a:solidFill>
                  <a:srgbClr val="000000"/>
                </a:solidFill>
                <a:latin typeface="Lucida Console" pitchFamily="49" charset="0"/>
              </a:rPr>
              <a:t>main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</a:rPr>
              <a:t> has been reached.</a:t>
            </a:r>
          </a:p>
        </p:txBody>
      </p:sp>
    </p:spTree>
    <p:extLst>
      <p:ext uri="{BB962C8B-B14F-4D97-AF65-F5344CB8AC3E}">
        <p14:creationId xmlns:p14="http://schemas.microsoft.com/office/powerpoint/2010/main" xmlns="" val="21689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 </a:t>
            </a:r>
            <a:r>
              <a:rPr lang="en-US" dirty="0" err="1" smtClean="0"/>
              <a:t>Specifier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%d	Integer Format </a:t>
            </a:r>
            <a:r>
              <a:rPr lang="en-IN" dirty="0" err="1"/>
              <a:t>Specifier</a:t>
            </a:r>
            <a:endParaRPr lang="en-IN" dirty="0"/>
          </a:p>
          <a:p>
            <a:r>
              <a:rPr lang="en-IN" dirty="0"/>
              <a:t>%f	Float Format </a:t>
            </a:r>
            <a:r>
              <a:rPr lang="en-IN" dirty="0" err="1"/>
              <a:t>Specifier</a:t>
            </a:r>
            <a:endParaRPr lang="en-IN" dirty="0"/>
          </a:p>
          <a:p>
            <a:r>
              <a:rPr lang="en-IN" dirty="0"/>
              <a:t>%c	Character Format </a:t>
            </a:r>
            <a:r>
              <a:rPr lang="en-IN" dirty="0" err="1"/>
              <a:t>Specifier</a:t>
            </a:r>
            <a:endParaRPr lang="en-IN" dirty="0"/>
          </a:p>
          <a:p>
            <a:r>
              <a:rPr lang="en-IN" dirty="0"/>
              <a:t>%s	String Format </a:t>
            </a:r>
            <a:r>
              <a:rPr lang="en-IN" dirty="0" err="1"/>
              <a:t>Specifier</a:t>
            </a:r>
            <a:endParaRPr lang="en-IN" dirty="0"/>
          </a:p>
          <a:p>
            <a:r>
              <a:rPr lang="en-IN" dirty="0"/>
              <a:t>%u	Unsigned Integer Format </a:t>
            </a:r>
            <a:r>
              <a:rPr lang="en-IN" dirty="0" err="1"/>
              <a:t>Specifier</a:t>
            </a:r>
            <a:endParaRPr lang="en-IN" dirty="0"/>
          </a:p>
          <a:p>
            <a:r>
              <a:rPr lang="en-IN" dirty="0"/>
              <a:t>%</a:t>
            </a:r>
            <a:r>
              <a:rPr lang="en-IN" dirty="0" err="1"/>
              <a:t>ld</a:t>
            </a:r>
            <a:r>
              <a:rPr lang="en-IN" dirty="0"/>
              <a:t>	Long </a:t>
            </a:r>
            <a:r>
              <a:rPr lang="en-IN" dirty="0" err="1"/>
              <a:t>Int</a:t>
            </a:r>
            <a:r>
              <a:rPr lang="en-IN" dirty="0"/>
              <a:t> Format </a:t>
            </a:r>
            <a:r>
              <a:rPr lang="en-IN" dirty="0" err="1"/>
              <a:t>Specifier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3108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to Display "Hello, World!"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#</a:t>
            </a:r>
            <a:r>
              <a:rPr lang="en-IN" dirty="0"/>
              <a:t>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 main() {</a:t>
            </a:r>
          </a:p>
          <a:p>
            <a:r>
              <a:rPr lang="en-IN" dirty="0"/>
              <a:t>   // </a:t>
            </a:r>
            <a:r>
              <a:rPr lang="en-IN" dirty="0" err="1"/>
              <a:t>printf</a:t>
            </a:r>
            <a:r>
              <a:rPr lang="en-IN" dirty="0"/>
              <a:t>() displays the string inside quotation</a:t>
            </a:r>
          </a:p>
          <a:p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("Hello, World!");</a:t>
            </a:r>
          </a:p>
          <a:p>
            <a:r>
              <a:rPr lang="en-IN" dirty="0"/>
              <a:t>   return 0;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Output</a:t>
            </a:r>
          </a:p>
          <a:p>
            <a:endParaRPr lang="en-IN" dirty="0"/>
          </a:p>
          <a:p>
            <a:r>
              <a:rPr lang="en-IN" dirty="0"/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xmlns="" val="205180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to Print an Integer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 main() {   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number;</a:t>
            </a:r>
          </a:p>
          <a:p>
            <a:r>
              <a:rPr lang="en-IN" dirty="0"/>
              <a:t>   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an integer: ");  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// reads and stores input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&amp;number);</a:t>
            </a:r>
          </a:p>
          <a:p>
            <a:r>
              <a:rPr lang="en-IN" dirty="0"/>
              <a:t>    // displays output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("You entered: %d", number);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return 0;</a:t>
            </a:r>
          </a:p>
          <a:p>
            <a:r>
              <a:rPr lang="en-IN" dirty="0" smtClean="0"/>
              <a:t>}</a:t>
            </a:r>
          </a:p>
          <a:p>
            <a:pPr fontAlgn="base"/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Enter an integer: 25 You entered: 25</a:t>
            </a:r>
          </a:p>
        </p:txBody>
      </p:sp>
    </p:spTree>
    <p:extLst>
      <p:ext uri="{BB962C8B-B14F-4D97-AF65-F5344CB8AC3E}">
        <p14:creationId xmlns:p14="http://schemas.microsoft.com/office/powerpoint/2010/main" xmlns="" val="134601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Swap Numbers Using Temporary Variable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399"/>
            <a:ext cx="8229600" cy="527521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 main() {</a:t>
            </a:r>
          </a:p>
          <a:p>
            <a:r>
              <a:rPr lang="en-IN" dirty="0"/>
              <a:t>      double first, second, temp;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("Enter first number: ");</a:t>
            </a:r>
          </a:p>
          <a:p>
            <a:r>
              <a:rPr lang="en-IN" dirty="0"/>
              <a:t>      </a:t>
            </a:r>
            <a:r>
              <a:rPr lang="en-IN" dirty="0" err="1"/>
              <a:t>scanf</a:t>
            </a:r>
            <a:r>
              <a:rPr lang="en-IN" dirty="0"/>
              <a:t>("%lf", &amp;first);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("Enter second number: ");</a:t>
            </a:r>
          </a:p>
          <a:p>
            <a:r>
              <a:rPr lang="en-IN" dirty="0"/>
              <a:t>      </a:t>
            </a:r>
            <a:r>
              <a:rPr lang="en-IN" dirty="0" err="1"/>
              <a:t>scanf</a:t>
            </a:r>
            <a:r>
              <a:rPr lang="en-IN" dirty="0"/>
              <a:t>("%lf", &amp;second);</a:t>
            </a:r>
          </a:p>
          <a:p>
            <a:r>
              <a:rPr lang="en-IN" dirty="0"/>
              <a:t>      </a:t>
            </a:r>
            <a:r>
              <a:rPr lang="en-IN" dirty="0" smtClean="0"/>
              <a:t>temp </a:t>
            </a:r>
            <a:r>
              <a:rPr lang="en-IN" dirty="0"/>
              <a:t>= first;</a:t>
            </a:r>
          </a:p>
          <a:p>
            <a:r>
              <a:rPr lang="en-IN" dirty="0"/>
              <a:t>      </a:t>
            </a:r>
            <a:r>
              <a:rPr lang="en-IN" dirty="0" smtClean="0"/>
              <a:t> </a:t>
            </a:r>
            <a:r>
              <a:rPr lang="en-IN" dirty="0"/>
              <a:t>first = second;</a:t>
            </a:r>
          </a:p>
          <a:p>
            <a:r>
              <a:rPr lang="en-IN" dirty="0"/>
              <a:t>      </a:t>
            </a:r>
            <a:r>
              <a:rPr lang="en-IN" dirty="0" smtClean="0"/>
              <a:t> second = temp;</a:t>
            </a:r>
          </a:p>
          <a:p>
            <a:r>
              <a:rPr lang="en-IN" dirty="0" smtClean="0"/>
              <a:t>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nAfter</a:t>
            </a:r>
            <a:r>
              <a:rPr lang="en-IN" dirty="0"/>
              <a:t> swapping, </a:t>
            </a:r>
            <a:r>
              <a:rPr lang="en-IN" dirty="0" err="1"/>
              <a:t>firstNumber</a:t>
            </a:r>
            <a:r>
              <a:rPr lang="en-IN" dirty="0"/>
              <a:t> = %.2lf\n", first);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("After swapping, </a:t>
            </a:r>
            <a:r>
              <a:rPr lang="en-IN" dirty="0" err="1"/>
              <a:t>secondNumber</a:t>
            </a:r>
            <a:r>
              <a:rPr lang="en-IN" dirty="0"/>
              <a:t> = %.2lf", second);</a:t>
            </a:r>
          </a:p>
          <a:p>
            <a:r>
              <a:rPr lang="en-IN" dirty="0"/>
              <a:t>      return 0;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0055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  <a:p>
            <a:endParaRPr lang="en-IN" dirty="0"/>
          </a:p>
          <a:p>
            <a:r>
              <a:rPr lang="en-IN" dirty="0"/>
              <a:t>Enter first number: 1.20</a:t>
            </a:r>
          </a:p>
          <a:p>
            <a:r>
              <a:rPr lang="en-IN" dirty="0"/>
              <a:t>Enter second number: 2.45</a:t>
            </a:r>
          </a:p>
          <a:p>
            <a:endParaRPr lang="en-IN" dirty="0"/>
          </a:p>
          <a:p>
            <a:r>
              <a:rPr lang="en-IN" dirty="0"/>
              <a:t>After swapping, </a:t>
            </a:r>
            <a:r>
              <a:rPr lang="en-IN" dirty="0" err="1"/>
              <a:t>firstNumber</a:t>
            </a:r>
            <a:r>
              <a:rPr lang="en-IN" dirty="0"/>
              <a:t> = 2.45</a:t>
            </a:r>
          </a:p>
          <a:p>
            <a:r>
              <a:rPr lang="en-IN" dirty="0"/>
              <a:t>After swapping, </a:t>
            </a:r>
            <a:r>
              <a:rPr lang="en-IN" dirty="0" err="1"/>
              <a:t>secondNumber</a:t>
            </a:r>
            <a:r>
              <a:rPr lang="en-IN" dirty="0"/>
              <a:t> = 1.20</a:t>
            </a:r>
          </a:p>
        </p:txBody>
      </p:sp>
    </p:spTree>
    <p:extLst>
      <p:ext uri="{BB962C8B-B14F-4D97-AF65-F5344CB8AC3E}">
        <p14:creationId xmlns:p14="http://schemas.microsoft.com/office/powerpoint/2010/main" xmlns="" val="16272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Program to convert temperature from Celsius to Fahrenheit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float </a:t>
            </a:r>
            <a:r>
              <a:rPr lang="en-IN" dirty="0" err="1"/>
              <a:t>celsius</a:t>
            </a:r>
            <a:r>
              <a:rPr lang="en-IN" dirty="0"/>
              <a:t>, </a:t>
            </a:r>
            <a:r>
              <a:rPr lang="en-IN" dirty="0" err="1"/>
              <a:t>fahrenheit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/* Input temperature in </a:t>
            </a:r>
            <a:r>
              <a:rPr lang="en-IN" dirty="0" err="1"/>
              <a:t>celsius</a:t>
            </a:r>
            <a:r>
              <a:rPr lang="en-IN" dirty="0"/>
              <a:t> */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temperature in Celsius: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("%f", &amp;</a:t>
            </a:r>
            <a:r>
              <a:rPr lang="en-IN" dirty="0" err="1"/>
              <a:t>celsius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/* </a:t>
            </a:r>
            <a:r>
              <a:rPr lang="en-IN" dirty="0" err="1"/>
              <a:t>celsius</a:t>
            </a:r>
            <a:r>
              <a:rPr lang="en-IN" dirty="0"/>
              <a:t> to </a:t>
            </a:r>
            <a:r>
              <a:rPr lang="en-IN" dirty="0" err="1"/>
              <a:t>fahrenheit</a:t>
            </a:r>
            <a:r>
              <a:rPr lang="en-IN" dirty="0"/>
              <a:t> conversion formula */</a:t>
            </a:r>
          </a:p>
          <a:p>
            <a:r>
              <a:rPr lang="en-IN" dirty="0"/>
              <a:t>    </a:t>
            </a:r>
            <a:r>
              <a:rPr lang="en-IN" dirty="0" err="1"/>
              <a:t>fahrenheit</a:t>
            </a:r>
            <a:r>
              <a:rPr lang="en-IN" dirty="0"/>
              <a:t> = (</a:t>
            </a:r>
            <a:r>
              <a:rPr lang="en-IN" dirty="0" err="1"/>
              <a:t>celsius</a:t>
            </a:r>
            <a:r>
              <a:rPr lang="en-IN" dirty="0"/>
              <a:t> * 9 / 5) + 32;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("%.2f Celsius = %.2f Fahrenheit", </a:t>
            </a:r>
            <a:r>
              <a:rPr lang="en-IN" dirty="0" err="1"/>
              <a:t>celsius</a:t>
            </a:r>
            <a:r>
              <a:rPr lang="en-IN" dirty="0"/>
              <a:t>, </a:t>
            </a:r>
            <a:r>
              <a:rPr lang="en-IN" dirty="0" err="1"/>
              <a:t>fahrenheit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  <a:p>
            <a:endParaRPr lang="en-US" dirty="0" smtClean="0"/>
          </a:p>
          <a:p>
            <a:r>
              <a:rPr lang="en-US" dirty="0" smtClean="0"/>
              <a:t>output</a:t>
            </a:r>
          </a:p>
          <a:p>
            <a:pPr marL="0" indent="0">
              <a:buNone/>
            </a:pPr>
            <a:r>
              <a:rPr lang="de-DE" dirty="0"/>
              <a:t>Enter temperature in Celsius: 100 </a:t>
            </a:r>
            <a:endParaRPr lang="de-DE" dirty="0" smtClean="0"/>
          </a:p>
          <a:p>
            <a:pPr marL="0" indent="0">
              <a:buNone/>
            </a:pPr>
            <a:r>
              <a:rPr lang="de-DE" dirty="0" smtClean="0"/>
              <a:t>100 </a:t>
            </a:r>
            <a:r>
              <a:rPr lang="de-DE" dirty="0"/>
              <a:t>Celsius = 212.00 Fahrenheit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1748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IN" dirty="0"/>
              <a:t>Program to add two </a:t>
            </a:r>
            <a:r>
              <a:rPr lang="en-IN" dirty="0" smtClean="0"/>
              <a:t>numbers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3325" y="1027610"/>
            <a:ext cx="8229600" cy="5677989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num1, num2, sum;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/*</a:t>
            </a:r>
          </a:p>
          <a:p>
            <a:r>
              <a:rPr lang="en-IN" dirty="0"/>
              <a:t>     * Input two numbers from user</a:t>
            </a:r>
          </a:p>
          <a:p>
            <a:r>
              <a:rPr lang="en-IN" dirty="0"/>
              <a:t>     */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any two numbers : ");</a:t>
            </a:r>
          </a:p>
          <a:p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d%d</a:t>
            </a:r>
            <a:r>
              <a:rPr lang="en-IN" dirty="0"/>
              <a:t>", &amp;num1, &amp;num2);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sum = num1 + num2;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/* Prints the sum of two numbers */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("Sum of %d and %d = %d\n", num1, num2, sum);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return 0;</a:t>
            </a:r>
          </a:p>
          <a:p>
            <a:r>
              <a:rPr lang="en-IN" dirty="0" smtClean="0"/>
              <a:t>}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output</a:t>
            </a:r>
            <a:endParaRPr lang="en-IN" dirty="0" smtClean="0"/>
          </a:p>
          <a:p>
            <a:r>
              <a:rPr lang="en-IN" dirty="0"/>
              <a:t>Enter any two numbers : 12 </a:t>
            </a:r>
            <a:r>
              <a:rPr lang="en-IN" dirty="0" smtClean="0"/>
              <a:t>20</a:t>
            </a:r>
          </a:p>
          <a:p>
            <a:r>
              <a:rPr lang="en-IN" dirty="0" smtClean="0"/>
              <a:t> </a:t>
            </a:r>
            <a:r>
              <a:rPr lang="en-IN" dirty="0"/>
              <a:t>Sum of 12 and 20 = 32</a:t>
            </a:r>
          </a:p>
        </p:txBody>
      </p:sp>
    </p:spTree>
    <p:extLst>
      <p:ext uri="{BB962C8B-B14F-4D97-AF65-F5344CB8AC3E}">
        <p14:creationId xmlns:p14="http://schemas.microsoft.com/office/powerpoint/2010/main" xmlns="" val="399530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1296</Words>
  <Application>Microsoft Office PowerPoint</Application>
  <PresentationFormat>On-screen Show (4:3)</PresentationFormat>
  <Paragraphs>270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Basic Structure of C Programming</vt:lpstr>
      <vt:lpstr>Structure of a C Program</vt:lpstr>
      <vt:lpstr>First Program</vt:lpstr>
      <vt:lpstr>Slide 4</vt:lpstr>
      <vt:lpstr>Comments</vt:lpstr>
      <vt:lpstr>Comments</vt:lpstr>
      <vt:lpstr>Pre-processor Directives</vt:lpstr>
      <vt:lpstr>#include &lt;stdio.h&gt;</vt:lpstr>
      <vt:lpstr>The main() function</vt:lpstr>
      <vt:lpstr>First Program</vt:lpstr>
      <vt:lpstr>Variables</vt:lpstr>
      <vt:lpstr>Variables</vt:lpstr>
      <vt:lpstr>Rules for Naming Variables</vt:lpstr>
      <vt:lpstr>Legal/Illegal Names</vt:lpstr>
      <vt:lpstr>Standard Data Types</vt:lpstr>
      <vt:lpstr>Primitive Data Types</vt:lpstr>
      <vt:lpstr>Logical Data</vt:lpstr>
      <vt:lpstr>Variable Declaration</vt:lpstr>
      <vt:lpstr>Variable Initialization</vt:lpstr>
      <vt:lpstr>Special Characters</vt:lpstr>
      <vt:lpstr>Special Characters</vt:lpstr>
      <vt:lpstr>String Constants</vt:lpstr>
      <vt:lpstr>#define</vt:lpstr>
      <vt:lpstr>#define</vt:lpstr>
      <vt:lpstr>Constants</vt:lpstr>
      <vt:lpstr>Standard Input and Output</vt:lpstr>
      <vt:lpstr> A Simple C Program: Printing a Line of Text </vt:lpstr>
      <vt:lpstr>2.2  A Simple C Program: Printing a Line of Text (Cont.)</vt:lpstr>
      <vt:lpstr>A Simple C Program: Printing a Line of Text (Cont.)</vt:lpstr>
      <vt:lpstr>Slide 30</vt:lpstr>
      <vt:lpstr>A Simple C Program: Printing a Line of Text (Cont.)</vt:lpstr>
      <vt:lpstr>Format Specifier</vt:lpstr>
      <vt:lpstr>Program to Display "Hello, World!"</vt:lpstr>
      <vt:lpstr>Program to Print an Integer</vt:lpstr>
      <vt:lpstr>Swap Numbers Using Temporary Variable</vt:lpstr>
      <vt:lpstr>Slide 36</vt:lpstr>
      <vt:lpstr>Program to convert temperature from Celsius to Fahrenheit</vt:lpstr>
      <vt:lpstr>Program to add two numbers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Structure of C Programming</dc:title>
  <dc:creator>gift</dc:creator>
  <cp:lastModifiedBy>dell</cp:lastModifiedBy>
  <cp:revision>26</cp:revision>
  <dcterms:created xsi:type="dcterms:W3CDTF">2006-08-16T00:00:00Z</dcterms:created>
  <dcterms:modified xsi:type="dcterms:W3CDTF">2021-07-03T07:48:00Z</dcterms:modified>
</cp:coreProperties>
</file>