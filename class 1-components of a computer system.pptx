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8.jpg" ContentType="image/jpg"/>
  <Override PartName="/ppt/media/image21.jpg" ContentType="image/jpg"/>
  <Override PartName="/ppt/media/image23.jpg" ContentType="image/jpg"/>
  <Override PartName="/ppt/media/image30.jpg" ContentType="image/jpg"/>
  <Override PartName="/ppt/media/image31.jpg" ContentType="image/jpg"/>
  <Override PartName="/ppt/media/image42.jpg" ContentType="image/jpg"/>
  <Override PartName="/ppt/media/image43.jpg" ContentType="image/jpg"/>
  <Override PartName="/ppt/media/image64.jpg" ContentType="image/jpg"/>
  <Override PartName="/ppt/media/image69.jpg" ContentType="image/jpg"/>
  <Override PartName="/ppt/media/image70.jpg" ContentType="image/jpg"/>
  <Override PartName="/ppt/media/image71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00" r:id="rId3"/>
    <p:sldId id="303" r:id="rId4"/>
    <p:sldId id="301" r:id="rId5"/>
    <p:sldId id="298" r:id="rId6"/>
    <p:sldId id="332" r:id="rId7"/>
    <p:sldId id="310" r:id="rId8"/>
    <p:sldId id="276" r:id="rId9"/>
    <p:sldId id="304" r:id="rId10"/>
    <p:sldId id="305" r:id="rId11"/>
    <p:sldId id="277" r:id="rId12"/>
    <p:sldId id="333" r:id="rId13"/>
    <p:sldId id="278" r:id="rId14"/>
    <p:sldId id="279" r:id="rId15"/>
    <p:sldId id="280" r:id="rId16"/>
    <p:sldId id="306" r:id="rId17"/>
    <p:sldId id="307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312" r:id="rId27"/>
    <p:sldId id="313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311" r:id="rId37"/>
    <p:sldId id="259" r:id="rId38"/>
    <p:sldId id="314" r:id="rId39"/>
    <p:sldId id="315" r:id="rId40"/>
    <p:sldId id="316" r:id="rId41"/>
    <p:sldId id="317" r:id="rId42"/>
    <p:sldId id="318" r:id="rId43"/>
    <p:sldId id="323" r:id="rId4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>
        <p:scale>
          <a:sx n="86" d="100"/>
          <a:sy n="86" d="100"/>
        </p:scale>
        <p:origin x="-88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2021/6/17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44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omputer_hardware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2" name="Group2"/>
          <p:cNvGrpSpPr/>
          <p:nvPr/>
        </p:nvGrpSpPr>
        <p:grpSpPr>
          <a:xfrm>
            <a:off x="548640" y="2633472"/>
            <a:ext cx="8197598" cy="1522476"/>
            <a:chOff x="548640" y="2633472"/>
            <a:chExt cx="8197598" cy="1522476"/>
          </a:xfrm>
        </p:grpSpPr>
        <p:pic>
          <p:nvPicPr>
            <p:cNvPr id="3" name="Image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2633472"/>
              <a:ext cx="8197598" cy="851916"/>
            </a:xfrm>
            <a:prstGeom prst="rect">
              <a:avLst/>
            </a:prstGeom>
            <a:noFill/>
          </p:spPr>
        </p:pic>
        <p:pic>
          <p:nvPicPr>
            <p:cNvPr id="4" name="Image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3928" y="3304032"/>
              <a:ext cx="2674620" cy="851916"/>
            </a:xfrm>
            <a:prstGeom prst="rect">
              <a:avLst/>
            </a:prstGeom>
            <a:noFill/>
          </p:spPr>
        </p:pic>
      </p:grpSp>
      <p:sp>
        <p:nvSpPr>
          <p:cNvPr id="5" name="Text Box5"/>
          <p:cNvSpPr txBox="1"/>
          <p:nvPr/>
        </p:nvSpPr>
        <p:spPr>
          <a:xfrm>
            <a:off x="892454" y="2233067"/>
            <a:ext cx="7397008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Components</a:t>
            </a:r>
            <a:r>
              <a:rPr lang="en-US" altLang="zh-CN" sz="4400" b="1" spc="-1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4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400" b="1" spc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4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400" b="1" spc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Computer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6" name="Text Box6"/>
          <p:cNvSpPr txBox="1"/>
          <p:nvPr/>
        </p:nvSpPr>
        <p:spPr>
          <a:xfrm>
            <a:off x="3578098" y="2903903"/>
            <a:ext cx="2027559" cy="62362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0"/>
              </a:lnSpc>
            </a:pPr>
            <a:r>
              <a:rPr lang="en-US" altLang="zh-CN" sz="4400" b="1" spc="2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7" name="Text Box7"/>
          <p:cNvSpPr txBox="1"/>
          <p:nvPr/>
        </p:nvSpPr>
        <p:spPr>
          <a:xfrm>
            <a:off x="1907704" y="4005063"/>
            <a:ext cx="5832648" cy="969561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 dirty="0"/>
          </a:p>
          <a:p>
            <a:pPr algn="l" rtl="0">
              <a:lnSpc>
                <a:spcPts val="3575"/>
              </a:lnSpc>
            </a:pPr>
            <a:r>
              <a:rPr lang="en-US" altLang="zh-CN" sz="3200" dirty="0" smtClean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Prepared By:</a:t>
            </a:r>
          </a:p>
          <a:p>
            <a:pPr algn="l" rtl="0">
              <a:lnSpc>
                <a:spcPts val="3575"/>
              </a:lnSpc>
            </a:pPr>
            <a:r>
              <a:rPr lang="en-US" altLang="zh-CN" sz="3200" dirty="0" smtClean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Asst. Prof. </a:t>
            </a:r>
            <a:r>
              <a:rPr lang="en-US" altLang="zh-CN" sz="3200" dirty="0" err="1" smtClean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Jyotsnarani</a:t>
            </a:r>
            <a:r>
              <a:rPr lang="en-US" altLang="zh-CN" sz="3200" dirty="0" smtClean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dirty="0" err="1" smtClean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Tripathy</a:t>
            </a:r>
            <a:endParaRPr lang="en-US" altLang="zh-CN" sz="3200" dirty="0">
              <a:solidFill>
                <a:schemeClr val="bg1">
                  <a:lumMod val="9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9613" y="-64453"/>
            <a:ext cx="8242300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1830" y="1155700"/>
            <a:ext cx="231775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360" dirty="0">
                <a:solidFill>
                  <a:srgbClr val="F8F8F8"/>
                </a:solidFill>
                <a:latin typeface="Arial"/>
                <a:cs typeface="Arial"/>
              </a:rPr>
              <a:t>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830" y="2950210"/>
            <a:ext cx="231775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360" dirty="0">
                <a:solidFill>
                  <a:srgbClr val="F8F8F8"/>
                </a:solidFill>
                <a:latin typeface="Arial"/>
                <a:cs typeface="Arial"/>
              </a:rPr>
              <a:t>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1830" y="4318000"/>
            <a:ext cx="231775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360" dirty="0">
                <a:solidFill>
                  <a:srgbClr val="F8F8F8"/>
                </a:solidFill>
                <a:latin typeface="Arial"/>
                <a:cs typeface="Arial"/>
              </a:rPr>
              <a:t>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39552" y="887095"/>
            <a:ext cx="7620000" cy="1143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7" name="object 7"/>
          <p:cNvSpPr txBox="1">
            <a:spLocks noGrp="1"/>
          </p:cNvSpPr>
          <p:nvPr>
            <p:ph idx="1"/>
          </p:nvPr>
        </p:nvSpPr>
        <p:spPr>
          <a:xfrm>
            <a:off x="429613" y="787439"/>
            <a:ext cx="7500570" cy="4325542"/>
          </a:xfrm>
          <a:prstGeom prst="rect">
            <a:avLst/>
          </a:prstGeom>
        </p:spPr>
        <p:txBody>
          <a:bodyPr vert="horz" wrap="square" lIns="0" tIns="1362709" rIns="0" bIns="0" rtlCol="0">
            <a:spAutoFit/>
          </a:bodyPr>
          <a:lstStyle/>
          <a:p>
            <a:pPr marL="680720" marR="412115" algn="just">
              <a:lnSpc>
                <a:spcPct val="100000"/>
              </a:lnSpc>
              <a:spcBef>
                <a:spcPts val="100"/>
              </a:spcBef>
            </a:pPr>
            <a:r>
              <a:rPr lang="en-US" sz="2000" spc="75" dirty="0" smtClean="0"/>
              <a:t>Computer</a:t>
            </a:r>
            <a:r>
              <a:rPr sz="2000" spc="75" dirty="0" smtClean="0"/>
              <a:t> </a:t>
            </a:r>
            <a:r>
              <a:rPr sz="2000" spc="-20" dirty="0">
                <a:latin typeface="Georgia"/>
                <a:cs typeface="Georgia"/>
              </a:rPr>
              <a:t>is </a:t>
            </a:r>
            <a:r>
              <a:rPr sz="2000" spc="-15" dirty="0">
                <a:latin typeface="Georgia"/>
                <a:cs typeface="Georgia"/>
              </a:rPr>
              <a:t>a </a:t>
            </a:r>
            <a:r>
              <a:rPr sz="2000" spc="5" dirty="0">
                <a:latin typeface="Georgia"/>
                <a:cs typeface="Georgia"/>
              </a:rPr>
              <a:t>programmable </a:t>
            </a:r>
            <a:r>
              <a:rPr sz="2000" spc="-15" dirty="0">
                <a:latin typeface="Georgia"/>
                <a:cs typeface="Georgia"/>
              </a:rPr>
              <a:t>machine</a:t>
            </a:r>
            <a:r>
              <a:rPr sz="2000" spc="-290" dirty="0">
                <a:latin typeface="Georgia"/>
                <a:cs typeface="Georgia"/>
              </a:rPr>
              <a:t> </a:t>
            </a:r>
            <a:r>
              <a:rPr sz="2000" spc="-30" dirty="0">
                <a:latin typeface="Georgia"/>
                <a:cs typeface="Georgia"/>
              </a:rPr>
              <a:t>that  </a:t>
            </a:r>
            <a:r>
              <a:rPr sz="2000" dirty="0">
                <a:latin typeface="Georgia"/>
                <a:cs typeface="Georgia"/>
              </a:rPr>
              <a:t>receives input, </a:t>
            </a:r>
            <a:r>
              <a:rPr sz="2000" spc="-25" dirty="0">
                <a:latin typeface="Georgia"/>
                <a:cs typeface="Georgia"/>
              </a:rPr>
              <a:t>stores </a:t>
            </a:r>
            <a:r>
              <a:rPr sz="2000" spc="20" dirty="0">
                <a:latin typeface="Georgia"/>
                <a:cs typeface="Georgia"/>
              </a:rPr>
              <a:t>and </a:t>
            </a:r>
            <a:r>
              <a:rPr sz="2000" dirty="0">
                <a:latin typeface="Georgia"/>
                <a:cs typeface="Georgia"/>
              </a:rPr>
              <a:t>manipulates </a:t>
            </a:r>
            <a:r>
              <a:rPr sz="2000" spc="-10" dirty="0">
                <a:latin typeface="Georgia"/>
                <a:cs typeface="Georgia"/>
              </a:rPr>
              <a:t>data,  </a:t>
            </a:r>
            <a:r>
              <a:rPr sz="2000" spc="25" dirty="0">
                <a:latin typeface="Georgia"/>
                <a:cs typeface="Georgia"/>
              </a:rPr>
              <a:t>and </a:t>
            </a:r>
            <a:r>
              <a:rPr sz="2000" spc="35" dirty="0">
                <a:latin typeface="Georgia"/>
                <a:cs typeface="Georgia"/>
              </a:rPr>
              <a:t>provides </a:t>
            </a:r>
            <a:r>
              <a:rPr sz="2000" spc="20" dirty="0">
                <a:latin typeface="Georgia"/>
                <a:cs typeface="Georgia"/>
              </a:rPr>
              <a:t>output </a:t>
            </a:r>
            <a:r>
              <a:rPr sz="2000" spc="-20" dirty="0">
                <a:latin typeface="Georgia"/>
                <a:cs typeface="Georgia"/>
              </a:rPr>
              <a:t>in </a:t>
            </a:r>
            <a:r>
              <a:rPr sz="2000" spc="-15" dirty="0">
                <a:latin typeface="Georgia"/>
                <a:cs typeface="Georgia"/>
              </a:rPr>
              <a:t>a </a:t>
            </a:r>
            <a:r>
              <a:rPr sz="2000" spc="25" dirty="0">
                <a:latin typeface="Georgia"/>
                <a:cs typeface="Georgia"/>
              </a:rPr>
              <a:t>useful</a:t>
            </a:r>
            <a:r>
              <a:rPr sz="2000" spc="50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format.</a:t>
            </a:r>
          </a:p>
          <a:p>
            <a:pPr marL="680720" marR="5080" algn="just">
              <a:lnSpc>
                <a:spcPct val="100000"/>
              </a:lnSpc>
              <a:spcBef>
                <a:spcPts val="700"/>
              </a:spcBef>
            </a:pPr>
            <a:r>
              <a:rPr sz="2000" spc="30" dirty="0">
                <a:latin typeface="Georgia"/>
                <a:cs typeface="Georgia"/>
              </a:rPr>
              <a:t>Computer </a:t>
            </a:r>
            <a:r>
              <a:rPr sz="2000" spc="75" dirty="0">
                <a:latin typeface="Georgia"/>
                <a:cs typeface="Georgia"/>
              </a:rPr>
              <a:t>was </a:t>
            </a:r>
            <a:r>
              <a:rPr sz="2000" spc="35" dirty="0">
                <a:latin typeface="Georgia"/>
                <a:cs typeface="Georgia"/>
              </a:rPr>
              <a:t>used </a:t>
            </a:r>
            <a:r>
              <a:rPr sz="2000" spc="-20" dirty="0">
                <a:latin typeface="Georgia"/>
                <a:cs typeface="Georgia"/>
              </a:rPr>
              <a:t>as </a:t>
            </a:r>
            <a:r>
              <a:rPr sz="2000" spc="-15" dirty="0">
                <a:latin typeface="Georgia"/>
                <a:cs typeface="Georgia"/>
              </a:rPr>
              <a:t>an </a:t>
            </a:r>
            <a:r>
              <a:rPr sz="2000" spc="-25" dirty="0">
                <a:latin typeface="Georgia"/>
                <a:cs typeface="Georgia"/>
              </a:rPr>
              <a:t>electronic </a:t>
            </a:r>
            <a:r>
              <a:rPr sz="2000" spc="35" dirty="0">
                <a:latin typeface="Georgia"/>
                <a:cs typeface="Georgia"/>
              </a:rPr>
              <a:t>device </a:t>
            </a:r>
            <a:r>
              <a:rPr sz="2000" spc="-30" dirty="0">
                <a:latin typeface="Georgia"/>
                <a:cs typeface="Georgia"/>
              </a:rPr>
              <a:t>that  </a:t>
            </a:r>
            <a:r>
              <a:rPr sz="2000" spc="45" dirty="0">
                <a:latin typeface="Georgia"/>
                <a:cs typeface="Georgia"/>
              </a:rPr>
              <a:t>allows </a:t>
            </a:r>
            <a:r>
              <a:rPr sz="2000" spc="10" dirty="0">
                <a:latin typeface="Georgia"/>
                <a:cs typeface="Georgia"/>
              </a:rPr>
              <a:t>inputting </a:t>
            </a:r>
            <a:r>
              <a:rPr sz="2000" spc="5" dirty="0">
                <a:latin typeface="Georgia"/>
                <a:cs typeface="Georgia"/>
              </a:rPr>
              <a:t>data </a:t>
            </a:r>
            <a:r>
              <a:rPr sz="2000" spc="20" dirty="0">
                <a:latin typeface="Georgia"/>
                <a:cs typeface="Georgia"/>
              </a:rPr>
              <a:t>and </a:t>
            </a:r>
            <a:r>
              <a:rPr sz="2000" spc="45" dirty="0">
                <a:latin typeface="Georgia"/>
                <a:cs typeface="Georgia"/>
              </a:rPr>
              <a:t>having </a:t>
            </a:r>
            <a:r>
              <a:rPr sz="2000" spc="-30" dirty="0">
                <a:latin typeface="Georgia"/>
                <a:cs typeface="Georgia"/>
              </a:rPr>
              <a:t>it </a:t>
            </a:r>
            <a:r>
              <a:rPr sz="2000" spc="-15" dirty="0">
                <a:latin typeface="Georgia"/>
                <a:cs typeface="Georgia"/>
              </a:rPr>
              <a:t>stored,  </a:t>
            </a:r>
            <a:r>
              <a:rPr sz="2000" spc="-5" dirty="0">
                <a:latin typeface="Georgia"/>
                <a:cs typeface="Georgia"/>
              </a:rPr>
              <a:t>processed, </a:t>
            </a:r>
            <a:r>
              <a:rPr sz="2000" spc="-15" dirty="0">
                <a:latin typeface="Georgia"/>
                <a:cs typeface="Georgia"/>
              </a:rPr>
              <a:t>or </a:t>
            </a:r>
            <a:r>
              <a:rPr sz="2000" spc="10" dirty="0">
                <a:latin typeface="Georgia"/>
                <a:cs typeface="Georgia"/>
              </a:rPr>
              <a:t>otherwise manipulated </a:t>
            </a:r>
            <a:r>
              <a:rPr sz="2000" spc="40" dirty="0">
                <a:latin typeface="Georgia"/>
                <a:cs typeface="Georgia"/>
              </a:rPr>
              <a:t>quickly  </a:t>
            </a:r>
            <a:r>
              <a:rPr sz="2000" spc="25" dirty="0">
                <a:latin typeface="Georgia"/>
                <a:cs typeface="Georgia"/>
              </a:rPr>
              <a:t>and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efficiently</a:t>
            </a:r>
            <a:r>
              <a:rPr sz="2000" dirty="0" smtClean="0">
                <a:latin typeface="Georgia"/>
                <a:cs typeface="Georgia"/>
              </a:rPr>
              <a:t>.</a:t>
            </a:r>
            <a:endParaRPr lang="en-US" sz="2000" dirty="0" smtClean="0">
              <a:latin typeface="Georgia"/>
              <a:cs typeface="Georgia"/>
            </a:endParaRPr>
          </a:p>
          <a:p>
            <a:pPr marL="680720" marR="5080" algn="just">
              <a:lnSpc>
                <a:spcPct val="100000"/>
              </a:lnSpc>
              <a:spcBef>
                <a:spcPts val="700"/>
              </a:spcBef>
            </a:pPr>
            <a:r>
              <a:rPr lang="en-IN" sz="2000" spc="295" dirty="0">
                <a:latin typeface="Georgia"/>
                <a:cs typeface="Georgia"/>
              </a:rPr>
              <a:t>A </a:t>
            </a:r>
            <a:r>
              <a:rPr lang="en-IN" sz="2000" spc="-15" dirty="0">
                <a:latin typeface="Georgia"/>
                <a:cs typeface="Georgia"/>
              </a:rPr>
              <a:t>machine </a:t>
            </a:r>
            <a:r>
              <a:rPr lang="en-IN" sz="2000" dirty="0">
                <a:latin typeface="Georgia"/>
                <a:cs typeface="Georgia"/>
              </a:rPr>
              <a:t>capable </a:t>
            </a:r>
            <a:r>
              <a:rPr lang="en-IN" sz="2000" spc="15" dirty="0">
                <a:latin typeface="Georgia"/>
                <a:cs typeface="Georgia"/>
              </a:rPr>
              <a:t>of </a:t>
            </a:r>
            <a:r>
              <a:rPr lang="en-IN" sz="2000" spc="45" dirty="0">
                <a:latin typeface="Georgia"/>
                <a:cs typeface="Georgia"/>
              </a:rPr>
              <a:t>following </a:t>
            </a:r>
            <a:r>
              <a:rPr lang="en-IN" sz="2000" spc="-20" dirty="0">
                <a:latin typeface="Georgia"/>
                <a:cs typeface="Georgia"/>
              </a:rPr>
              <a:t>instruction to  alter </a:t>
            </a:r>
            <a:r>
              <a:rPr lang="en-IN" sz="2000" dirty="0">
                <a:latin typeface="Georgia"/>
                <a:cs typeface="Georgia"/>
              </a:rPr>
              <a:t>data </a:t>
            </a:r>
            <a:r>
              <a:rPr lang="en-IN" sz="2000" spc="-20" dirty="0">
                <a:latin typeface="Georgia"/>
                <a:cs typeface="Georgia"/>
              </a:rPr>
              <a:t>in </a:t>
            </a:r>
            <a:r>
              <a:rPr lang="en-IN" sz="2000" spc="-15" dirty="0">
                <a:latin typeface="Georgia"/>
                <a:cs typeface="Georgia"/>
              </a:rPr>
              <a:t>a </a:t>
            </a:r>
            <a:r>
              <a:rPr lang="en-IN" sz="2000" spc="-5" dirty="0">
                <a:latin typeface="Georgia"/>
                <a:cs typeface="Georgia"/>
              </a:rPr>
              <a:t>desirable </a:t>
            </a:r>
            <a:r>
              <a:rPr lang="en-IN" sz="2000" spc="140" dirty="0">
                <a:latin typeface="Georgia"/>
                <a:cs typeface="Georgia"/>
              </a:rPr>
              <a:t>way </a:t>
            </a:r>
            <a:r>
              <a:rPr lang="en-IN" sz="2000" spc="20" dirty="0">
                <a:latin typeface="Georgia"/>
                <a:cs typeface="Georgia"/>
              </a:rPr>
              <a:t>and </a:t>
            </a:r>
            <a:r>
              <a:rPr lang="en-IN" sz="2000" spc="-20" dirty="0">
                <a:latin typeface="Georgia"/>
                <a:cs typeface="Georgia"/>
              </a:rPr>
              <a:t>to </a:t>
            </a:r>
            <a:r>
              <a:rPr lang="en-IN" sz="2000" dirty="0">
                <a:latin typeface="Georgia"/>
                <a:cs typeface="Georgia"/>
              </a:rPr>
              <a:t>perform </a:t>
            </a:r>
            <a:r>
              <a:rPr lang="en-IN" sz="2000" spc="-30" dirty="0">
                <a:latin typeface="Georgia"/>
                <a:cs typeface="Georgia"/>
              </a:rPr>
              <a:t>at  </a:t>
            </a:r>
            <a:r>
              <a:rPr lang="en-IN" sz="2000" spc="-20" dirty="0">
                <a:latin typeface="Georgia"/>
                <a:cs typeface="Georgia"/>
              </a:rPr>
              <a:t>least </a:t>
            </a:r>
            <a:r>
              <a:rPr lang="en-IN" sz="2000" spc="-10" dirty="0">
                <a:latin typeface="Georgia"/>
                <a:cs typeface="Georgia"/>
              </a:rPr>
              <a:t>some </a:t>
            </a:r>
            <a:r>
              <a:rPr lang="en-IN" sz="2000" spc="15" dirty="0">
                <a:latin typeface="Georgia"/>
                <a:cs typeface="Georgia"/>
              </a:rPr>
              <a:t>of </a:t>
            </a:r>
            <a:r>
              <a:rPr lang="en-IN" sz="2000" spc="-20" dirty="0">
                <a:latin typeface="Georgia"/>
                <a:cs typeface="Georgia"/>
              </a:rPr>
              <a:t>these </a:t>
            </a:r>
            <a:r>
              <a:rPr lang="en-IN" sz="2000" spc="-10" dirty="0">
                <a:latin typeface="Georgia"/>
                <a:cs typeface="Georgia"/>
              </a:rPr>
              <a:t>operations </a:t>
            </a:r>
            <a:r>
              <a:rPr lang="en-IN" sz="2000" spc="30" dirty="0">
                <a:latin typeface="Georgia"/>
                <a:cs typeface="Georgia"/>
              </a:rPr>
              <a:t>without </a:t>
            </a:r>
            <a:r>
              <a:rPr lang="en-IN" sz="2000" spc="5" dirty="0">
                <a:latin typeface="Georgia"/>
                <a:cs typeface="Georgia"/>
              </a:rPr>
              <a:t>human  </a:t>
            </a:r>
            <a:r>
              <a:rPr lang="en-IN" sz="2000" spc="-15" dirty="0">
                <a:latin typeface="Georgia"/>
                <a:cs typeface="Georgia"/>
              </a:rPr>
              <a:t>intervention.</a:t>
            </a:r>
            <a:endParaRPr sz="20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357175713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1830" y="1695449"/>
            <a:ext cx="26098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420" dirty="0">
                <a:solidFill>
                  <a:srgbClr val="F8F8F8"/>
                </a:solidFill>
                <a:latin typeface="Arial"/>
                <a:cs typeface="Arial"/>
              </a:rPr>
              <a:t></a:t>
            </a:r>
            <a:endParaRPr sz="2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3310" y="1633220"/>
            <a:ext cx="7071995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Georgia"/>
                <a:cs typeface="Georgia"/>
              </a:rPr>
              <a:t>The </a:t>
            </a:r>
            <a:r>
              <a:rPr sz="3200" spc="5" dirty="0">
                <a:solidFill>
                  <a:srgbClr val="FFFFFF"/>
                </a:solidFill>
                <a:latin typeface="Georgia"/>
                <a:cs typeface="Georgia"/>
              </a:rPr>
              <a:t>repetitive </a:t>
            </a:r>
            <a:r>
              <a:rPr sz="3200" spc="-5" dirty="0">
                <a:solidFill>
                  <a:srgbClr val="FFFFFF"/>
                </a:solidFill>
                <a:latin typeface="Georgia"/>
                <a:cs typeface="Georgia"/>
              </a:rPr>
              <a:t>process </a:t>
            </a:r>
            <a:r>
              <a:rPr sz="3200" spc="20" dirty="0">
                <a:solidFill>
                  <a:srgbClr val="FFFFFF"/>
                </a:solidFill>
                <a:latin typeface="Georgia"/>
                <a:cs typeface="Georgia"/>
              </a:rPr>
              <a:t>of </a:t>
            </a:r>
            <a:r>
              <a:rPr sz="3200" dirty="0">
                <a:solidFill>
                  <a:srgbClr val="FFFFFF"/>
                </a:solidFill>
                <a:latin typeface="Georgia"/>
                <a:cs typeface="Georgia"/>
              </a:rPr>
              <a:t>computation  </a:t>
            </a:r>
            <a:r>
              <a:rPr sz="3200" spc="15" dirty="0">
                <a:solidFill>
                  <a:srgbClr val="FFFFFF"/>
                </a:solidFill>
                <a:latin typeface="Georgia"/>
                <a:cs typeface="Georgia"/>
              </a:rPr>
              <a:t>leads </a:t>
            </a:r>
            <a:r>
              <a:rPr sz="3200" spc="-25" dirty="0">
                <a:solidFill>
                  <a:srgbClr val="FFFFFF"/>
                </a:solidFill>
                <a:latin typeface="Georgia"/>
                <a:cs typeface="Georgia"/>
              </a:rPr>
              <a:t>to </a:t>
            </a:r>
            <a:r>
              <a:rPr sz="3200" spc="30" dirty="0">
                <a:solidFill>
                  <a:srgbClr val="FFFFFF"/>
                </a:solidFill>
                <a:latin typeface="Georgia"/>
                <a:cs typeface="Georgia"/>
              </a:rPr>
              <a:t>people </a:t>
            </a:r>
            <a:r>
              <a:rPr sz="3200" spc="10" dirty="0">
                <a:solidFill>
                  <a:srgbClr val="FFFFFF"/>
                </a:solidFill>
                <a:latin typeface="Georgia"/>
                <a:cs typeface="Georgia"/>
              </a:rPr>
              <a:t>becoming bored </a:t>
            </a:r>
            <a:r>
              <a:rPr sz="3200" spc="-25" dirty="0">
                <a:solidFill>
                  <a:srgbClr val="FFFFFF"/>
                </a:solidFill>
                <a:latin typeface="Georgia"/>
                <a:cs typeface="Georgia"/>
              </a:rPr>
              <a:t>in  </a:t>
            </a:r>
            <a:r>
              <a:rPr sz="3200" spc="25" dirty="0">
                <a:solidFill>
                  <a:srgbClr val="FFFFFF"/>
                </a:solidFill>
                <a:latin typeface="Georgia"/>
                <a:cs typeface="Georgia"/>
              </a:rPr>
              <a:t>computing </a:t>
            </a:r>
            <a:r>
              <a:rPr sz="3200" spc="5" dirty="0">
                <a:solidFill>
                  <a:srgbClr val="FFFFFF"/>
                </a:solidFill>
                <a:latin typeface="Georgia"/>
                <a:cs typeface="Georgia"/>
              </a:rPr>
              <a:t>such </a:t>
            </a:r>
            <a:r>
              <a:rPr sz="3200" spc="-20" dirty="0">
                <a:solidFill>
                  <a:srgbClr val="FFFFFF"/>
                </a:solidFill>
                <a:latin typeface="Georgia"/>
                <a:cs typeface="Georgia"/>
              </a:rPr>
              <a:t>as </a:t>
            </a:r>
            <a:r>
              <a:rPr sz="3200" spc="20" dirty="0">
                <a:solidFill>
                  <a:srgbClr val="FFFFFF"/>
                </a:solidFill>
                <a:latin typeface="Georgia"/>
                <a:cs typeface="Georgia"/>
              </a:rPr>
              <a:t>navigational </a:t>
            </a:r>
            <a:r>
              <a:rPr sz="3200" spc="-30" dirty="0">
                <a:solidFill>
                  <a:srgbClr val="FFFFFF"/>
                </a:solidFill>
                <a:latin typeface="Georgia"/>
                <a:cs typeface="Georgia"/>
              </a:rPr>
              <a:t>table,  </a:t>
            </a:r>
            <a:r>
              <a:rPr sz="3200" spc="10" dirty="0">
                <a:solidFill>
                  <a:srgbClr val="FFFFFF"/>
                </a:solidFill>
                <a:latin typeface="Georgia"/>
                <a:cs typeface="Georgia"/>
              </a:rPr>
              <a:t>tide </a:t>
            </a:r>
            <a:r>
              <a:rPr sz="3200" spc="-40" dirty="0">
                <a:solidFill>
                  <a:srgbClr val="FFFFFF"/>
                </a:solidFill>
                <a:latin typeface="Georgia"/>
                <a:cs typeface="Georgia"/>
              </a:rPr>
              <a:t>charts, </a:t>
            </a:r>
            <a:r>
              <a:rPr sz="3200" spc="25" dirty="0">
                <a:solidFill>
                  <a:srgbClr val="FFFFFF"/>
                </a:solidFill>
                <a:latin typeface="Georgia"/>
                <a:cs typeface="Georgia"/>
              </a:rPr>
              <a:t>and </a:t>
            </a:r>
            <a:r>
              <a:rPr sz="3200" spc="10" dirty="0">
                <a:solidFill>
                  <a:srgbClr val="FFFFFF"/>
                </a:solidFill>
                <a:latin typeface="Georgia"/>
                <a:cs typeface="Georgia"/>
              </a:rPr>
              <a:t>planetary </a:t>
            </a:r>
            <a:r>
              <a:rPr sz="3200" spc="-5" dirty="0">
                <a:solidFill>
                  <a:srgbClr val="FFFFFF"/>
                </a:solidFill>
                <a:latin typeface="Georgia"/>
                <a:cs typeface="Georgia"/>
              </a:rPr>
              <a:t>positions </a:t>
            </a:r>
            <a:r>
              <a:rPr sz="3200" dirty="0">
                <a:solidFill>
                  <a:srgbClr val="FFFFFF"/>
                </a:solidFill>
                <a:latin typeface="Georgia"/>
                <a:cs typeface="Georgia"/>
              </a:rPr>
              <a:t>for  </a:t>
            </a:r>
            <a:r>
              <a:rPr sz="3200" spc="-15" dirty="0">
                <a:solidFill>
                  <a:srgbClr val="FFFFFF"/>
                </a:solidFill>
                <a:latin typeface="Georgia"/>
                <a:cs typeface="Georgia"/>
              </a:rPr>
              <a:t>astronomical </a:t>
            </a:r>
            <a:r>
              <a:rPr sz="3200" spc="-20" dirty="0">
                <a:solidFill>
                  <a:srgbClr val="FFFFFF"/>
                </a:solidFill>
                <a:latin typeface="Georgia"/>
                <a:cs typeface="Georgia"/>
              </a:rPr>
              <a:t>almanacs. </a:t>
            </a:r>
            <a:r>
              <a:rPr sz="3200" spc="10" dirty="0">
                <a:solidFill>
                  <a:srgbClr val="FFFFFF"/>
                </a:solidFill>
                <a:latin typeface="Georgia"/>
                <a:cs typeface="Georgia"/>
              </a:rPr>
              <a:t>People </a:t>
            </a:r>
            <a:r>
              <a:rPr sz="3200" spc="55" dirty="0">
                <a:solidFill>
                  <a:srgbClr val="FFFFFF"/>
                </a:solidFill>
                <a:latin typeface="Georgia"/>
                <a:cs typeface="Georgia"/>
              </a:rPr>
              <a:t>were  </a:t>
            </a:r>
            <a:r>
              <a:rPr sz="3200" spc="45" dirty="0">
                <a:solidFill>
                  <a:srgbClr val="FFFFFF"/>
                </a:solidFill>
                <a:latin typeface="Georgia"/>
                <a:cs typeface="Georgia"/>
              </a:rPr>
              <a:t>doing </a:t>
            </a:r>
            <a:r>
              <a:rPr sz="3200" spc="-30" dirty="0">
                <a:solidFill>
                  <a:srgbClr val="FFFFFF"/>
                </a:solidFill>
                <a:latin typeface="Georgia"/>
                <a:cs typeface="Georgia"/>
              </a:rPr>
              <a:t>these </a:t>
            </a:r>
            <a:r>
              <a:rPr sz="3200" dirty="0">
                <a:solidFill>
                  <a:srgbClr val="FFFFFF"/>
                </a:solidFill>
                <a:latin typeface="Georgia"/>
                <a:cs typeface="Georgia"/>
              </a:rPr>
              <a:t>things </a:t>
            </a:r>
            <a:r>
              <a:rPr sz="3200" spc="80" dirty="0">
                <a:solidFill>
                  <a:srgbClr val="FFFFFF"/>
                </a:solidFill>
                <a:latin typeface="Georgia"/>
                <a:cs typeface="Georgia"/>
              </a:rPr>
              <a:t>everyday </a:t>
            </a:r>
            <a:r>
              <a:rPr sz="3200" spc="25" dirty="0">
                <a:solidFill>
                  <a:srgbClr val="FFFFFF"/>
                </a:solidFill>
                <a:latin typeface="Georgia"/>
                <a:cs typeface="Georgia"/>
              </a:rPr>
              <a:t>and </a:t>
            </a:r>
            <a:r>
              <a:rPr sz="3200" spc="-25" dirty="0">
                <a:solidFill>
                  <a:srgbClr val="FFFFFF"/>
                </a:solidFill>
                <a:latin typeface="Georgia"/>
                <a:cs typeface="Georgia"/>
              </a:rPr>
              <a:t>this is  </a:t>
            </a:r>
            <a:r>
              <a:rPr sz="3200" spc="-30" dirty="0">
                <a:solidFill>
                  <a:srgbClr val="FFFFFF"/>
                </a:solidFill>
                <a:latin typeface="Georgia"/>
                <a:cs typeface="Georgia"/>
              </a:rPr>
              <a:t>the </a:t>
            </a:r>
            <a:r>
              <a:rPr sz="3200" spc="-20" dirty="0">
                <a:solidFill>
                  <a:srgbClr val="FFFFFF"/>
                </a:solidFill>
                <a:latin typeface="Georgia"/>
                <a:cs typeface="Georgia"/>
              </a:rPr>
              <a:t>reason </a:t>
            </a:r>
            <a:r>
              <a:rPr sz="3200" spc="170" dirty="0">
                <a:solidFill>
                  <a:srgbClr val="FFFFFF"/>
                </a:solidFill>
                <a:latin typeface="Georgia"/>
                <a:cs typeface="Georgia"/>
              </a:rPr>
              <a:t>why </a:t>
            </a:r>
            <a:r>
              <a:rPr sz="3200" spc="30" dirty="0">
                <a:solidFill>
                  <a:srgbClr val="FFFFFF"/>
                </a:solidFill>
                <a:latin typeface="Georgia"/>
                <a:cs typeface="Georgia"/>
              </a:rPr>
              <a:t>people </a:t>
            </a:r>
            <a:r>
              <a:rPr sz="3200" spc="20" dirty="0" smtClean="0">
                <a:solidFill>
                  <a:srgbClr val="FFFFFF"/>
                </a:solidFill>
                <a:latin typeface="Georgia"/>
                <a:cs typeface="Georgia"/>
              </a:rPr>
              <a:t>invented</a:t>
            </a:r>
            <a:r>
              <a:rPr sz="3200" spc="65" dirty="0" smtClean="0">
                <a:solidFill>
                  <a:srgbClr val="FFFFFF"/>
                </a:solidFill>
                <a:latin typeface="Georgia"/>
                <a:cs typeface="Georgia"/>
              </a:rPr>
              <a:t>.</a:t>
            </a:r>
            <a:endParaRPr sz="3200" dirty="0">
              <a:latin typeface="Georgia"/>
              <a:cs typeface="Georgi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815" y="404664"/>
            <a:ext cx="7383601" cy="4521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940220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0850" y="102870"/>
            <a:ext cx="8242300" cy="14401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1830" y="1689100"/>
            <a:ext cx="231775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360" dirty="0">
                <a:solidFill>
                  <a:srgbClr val="F8F8F8"/>
                </a:solidFill>
                <a:latin typeface="Arial"/>
                <a:cs typeface="Arial"/>
              </a:rPr>
              <a:t>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7910" y="1544319"/>
            <a:ext cx="7188834" cy="141605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0"/>
              </a:spcBef>
            </a:pPr>
            <a:r>
              <a:rPr sz="2800" b="1" spc="95" dirty="0">
                <a:latin typeface="Times New Roman"/>
                <a:cs typeface="Times New Roman"/>
              </a:rPr>
              <a:t>The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95" dirty="0">
                <a:latin typeface="Times New Roman"/>
                <a:cs typeface="Times New Roman"/>
              </a:rPr>
              <a:t>Abacus</a:t>
            </a:r>
            <a:endParaRPr sz="2800">
              <a:latin typeface="Times New Roman"/>
              <a:cs typeface="Times New Roman"/>
            </a:endParaRPr>
          </a:p>
          <a:p>
            <a:pPr marL="358775" marR="30480" indent="-283210">
              <a:lnSpc>
                <a:spcPct val="100000"/>
              </a:lnSpc>
              <a:spcBef>
                <a:spcPts val="650"/>
              </a:spcBef>
              <a:tabLst>
                <a:tab pos="358775" algn="l"/>
              </a:tabLst>
            </a:pPr>
            <a:r>
              <a:rPr sz="3075" spc="-772" baseline="10840" dirty="0"/>
              <a:t>	</a:t>
            </a:r>
            <a:r>
              <a:rPr sz="2600" spc="-15" dirty="0">
                <a:latin typeface="Georgia"/>
                <a:cs typeface="Georgia"/>
              </a:rPr>
              <a:t>The </a:t>
            </a:r>
            <a:r>
              <a:rPr sz="2600" spc="-20" dirty="0">
                <a:latin typeface="Georgia"/>
                <a:cs typeface="Georgia"/>
              </a:rPr>
              <a:t>first </a:t>
            </a:r>
            <a:r>
              <a:rPr sz="2600" spc="15" dirty="0">
                <a:latin typeface="Georgia"/>
                <a:cs typeface="Georgia"/>
              </a:rPr>
              <a:t>computing </a:t>
            </a:r>
            <a:r>
              <a:rPr sz="2600" spc="30" dirty="0">
                <a:latin typeface="Georgia"/>
                <a:cs typeface="Georgia"/>
              </a:rPr>
              <a:t>aid </a:t>
            </a:r>
            <a:r>
              <a:rPr sz="2600" spc="-30" dirty="0">
                <a:latin typeface="Georgia"/>
                <a:cs typeface="Georgia"/>
              </a:rPr>
              <a:t>that </a:t>
            </a:r>
            <a:r>
              <a:rPr sz="2600" spc="45" dirty="0">
                <a:latin typeface="Georgia"/>
                <a:cs typeface="Georgia"/>
              </a:rPr>
              <a:t>were </a:t>
            </a:r>
            <a:r>
              <a:rPr sz="2600" spc="30" dirty="0">
                <a:latin typeface="Georgia"/>
                <a:cs typeface="Georgia"/>
              </a:rPr>
              <a:t>used </a:t>
            </a:r>
            <a:r>
              <a:rPr sz="2600" spc="-20" dirty="0">
                <a:latin typeface="Georgia"/>
                <a:cs typeface="Georgia"/>
              </a:rPr>
              <a:t>to </a:t>
            </a:r>
            <a:r>
              <a:rPr sz="2600" spc="15" dirty="0">
                <a:latin typeface="Georgia"/>
                <a:cs typeface="Georgia"/>
              </a:rPr>
              <a:t>help  </a:t>
            </a:r>
            <a:r>
              <a:rPr sz="2600" spc="-15" dirty="0">
                <a:latin typeface="Georgia"/>
                <a:cs typeface="Georgia"/>
              </a:rPr>
              <a:t>them in </a:t>
            </a:r>
            <a:r>
              <a:rPr sz="2600" spc="-25" dirty="0">
                <a:latin typeface="Georgia"/>
                <a:cs typeface="Georgia"/>
              </a:rPr>
              <a:t>their</a:t>
            </a:r>
            <a:r>
              <a:rPr sz="2600" spc="105" dirty="0">
                <a:latin typeface="Georgia"/>
                <a:cs typeface="Georgia"/>
              </a:rPr>
              <a:t> </a:t>
            </a:r>
            <a:r>
              <a:rPr sz="2600" spc="-5" dirty="0">
                <a:latin typeface="Georgia"/>
                <a:cs typeface="Georgia"/>
              </a:rPr>
              <a:t>computation.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" y="3124200"/>
            <a:ext cx="8382000" cy="3352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443849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453978" y="38100"/>
            <a:ext cx="9706498" cy="5654040"/>
            <a:chOff x="0" y="601980"/>
            <a:chExt cx="12192000" cy="5654040"/>
          </a:xfrm>
        </p:grpSpPr>
        <p:sp>
          <p:nvSpPr>
            <p:cNvPr id="4" name="object 4"/>
            <p:cNvSpPr/>
            <p:nvPr/>
          </p:nvSpPr>
          <p:spPr>
            <a:xfrm>
              <a:off x="608076" y="609600"/>
              <a:ext cx="10972800" cy="5638800"/>
            </a:xfrm>
            <a:custGeom>
              <a:avLst/>
              <a:gdLst/>
              <a:ahLst/>
              <a:cxnLst/>
              <a:rect l="l" t="t" r="r" b="b"/>
              <a:pathLst>
                <a:path w="10972800" h="5638800">
                  <a:moveTo>
                    <a:pt x="0" y="5638800"/>
                  </a:moveTo>
                  <a:lnTo>
                    <a:pt x="10972800" y="5638800"/>
                  </a:lnTo>
                  <a:lnTo>
                    <a:pt x="10972800" y="0"/>
                  </a:lnTo>
                  <a:lnTo>
                    <a:pt x="0" y="0"/>
                  </a:lnTo>
                  <a:lnTo>
                    <a:pt x="0" y="5638800"/>
                  </a:lnTo>
                  <a:close/>
                </a:path>
              </a:pathLst>
            </a:custGeom>
            <a:ln w="15240">
              <a:solidFill>
                <a:srgbClr val="8399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153156"/>
              <a:ext cx="762000" cy="6065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37619" y="3153156"/>
              <a:ext cx="754379" cy="60655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39552" y="509488"/>
            <a:ext cx="7632848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24300" algn="l"/>
              </a:tabLst>
            </a:pPr>
            <a:r>
              <a:rPr u="none" spc="-225" dirty="0"/>
              <a:t>Basic</a:t>
            </a:r>
            <a:r>
              <a:rPr u="none" spc="35" dirty="0"/>
              <a:t> </a:t>
            </a:r>
            <a:r>
              <a:rPr u="none" spc="-225" dirty="0"/>
              <a:t>components</a:t>
            </a:r>
            <a:r>
              <a:rPr u="none" spc="50" dirty="0"/>
              <a:t> </a:t>
            </a:r>
            <a:r>
              <a:rPr u="none" spc="-60" dirty="0" smtClean="0"/>
              <a:t>o</a:t>
            </a:r>
            <a:r>
              <a:rPr lang="en-US" u="none" spc="-60" dirty="0" smtClean="0"/>
              <a:t>f </a:t>
            </a:r>
            <a:r>
              <a:rPr u="none" spc="-355" dirty="0" smtClean="0"/>
              <a:t>a</a:t>
            </a:r>
            <a:r>
              <a:rPr lang="en-US" u="none" spc="-355" dirty="0" smtClean="0"/>
              <a:t> </a:t>
            </a:r>
            <a:r>
              <a:rPr u="none" spc="-235" dirty="0" smtClean="0"/>
              <a:t>computer</a:t>
            </a:r>
            <a:r>
              <a:rPr u="none" spc="-155" dirty="0" smtClean="0"/>
              <a:t> </a:t>
            </a:r>
            <a:r>
              <a:rPr u="none" spc="-310" dirty="0" smtClean="0"/>
              <a:t>are</a:t>
            </a:r>
            <a:r>
              <a:rPr lang="en-US" u="none" spc="-310" dirty="0" smtClean="0"/>
              <a:t> </a:t>
            </a:r>
            <a:r>
              <a:rPr u="none" spc="-310" dirty="0" smtClean="0"/>
              <a:t>:</a:t>
            </a:r>
            <a:endParaRPr u="none" spc="-310" dirty="0"/>
          </a:p>
        </p:txBody>
      </p:sp>
      <p:sp>
        <p:nvSpPr>
          <p:cNvPr id="8" name="object 8"/>
          <p:cNvSpPr/>
          <p:nvPr/>
        </p:nvSpPr>
        <p:spPr>
          <a:xfrm>
            <a:off x="2115692" y="2331720"/>
            <a:ext cx="4576572" cy="33604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76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0289"/>
            <a:ext cx="7625332" cy="651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833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56" name="Image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949452"/>
            <a:ext cx="5934456" cy="851916"/>
          </a:xfrm>
          <a:prstGeom prst="rect">
            <a:avLst/>
          </a:prstGeom>
          <a:noFill/>
        </p:spPr>
      </p:pic>
      <p:grpSp>
        <p:nvGrpSpPr>
          <p:cNvPr id="57" name="Group57"/>
          <p:cNvGrpSpPr/>
          <p:nvPr/>
        </p:nvGrpSpPr>
        <p:grpSpPr>
          <a:xfrm>
            <a:off x="4572000" y="2418207"/>
            <a:ext cx="4400550" cy="2692400"/>
            <a:chOff x="4572000" y="2418207"/>
            <a:chExt cx="4400550" cy="2692400"/>
          </a:xfrm>
        </p:grpSpPr>
        <p:pic>
          <p:nvPicPr>
            <p:cNvPr id="58" name="Image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2418207"/>
              <a:ext cx="4400550" cy="2667000"/>
            </a:xfrm>
            <a:prstGeom prst="rect">
              <a:avLst/>
            </a:prstGeom>
            <a:noFill/>
          </p:spPr>
        </p:pic>
        <p:sp>
          <p:nvSpPr>
            <p:cNvPr id="59" name="Path59"/>
            <p:cNvSpPr/>
            <p:nvPr/>
          </p:nvSpPr>
          <p:spPr>
            <a:xfrm>
              <a:off x="4716018" y="4725162"/>
              <a:ext cx="1368171" cy="360045"/>
            </a:xfrm>
            <a:custGeom>
              <a:avLst/>
              <a:gdLst/>
              <a:ahLst/>
              <a:cxnLst/>
              <a:rect l="l" t="t" r="r" b="b"/>
              <a:pathLst>
                <a:path w="1368171" h="360045">
                  <a:moveTo>
                    <a:pt x="0" y="360045"/>
                  </a:moveTo>
                  <a:lnTo>
                    <a:pt x="1368171" y="360045"/>
                  </a:lnTo>
                  <a:lnTo>
                    <a:pt x="1368171" y="0"/>
                  </a:lnTo>
                  <a:lnTo>
                    <a:pt x="0" y="0"/>
                  </a:lnTo>
                  <a:lnTo>
                    <a:pt x="0" y="360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60" name="Path60"/>
            <p:cNvSpPr/>
            <p:nvPr/>
          </p:nvSpPr>
          <p:spPr>
            <a:xfrm>
              <a:off x="4690618" y="4699762"/>
              <a:ext cx="1418971" cy="410845"/>
            </a:xfrm>
            <a:custGeom>
              <a:avLst/>
              <a:gdLst/>
              <a:ahLst/>
              <a:cxnLst/>
              <a:rect l="l" t="t" r="r" b="b"/>
              <a:pathLst>
                <a:path w="1418971" h="410845">
                  <a:moveTo>
                    <a:pt x="25400" y="385445"/>
                  </a:moveTo>
                  <a:lnTo>
                    <a:pt x="1393571" y="385445"/>
                  </a:lnTo>
                  <a:lnTo>
                    <a:pt x="1393571" y="25400"/>
                  </a:lnTo>
                  <a:lnTo>
                    <a:pt x="25400" y="25400"/>
                  </a:lnTo>
                  <a:lnTo>
                    <a:pt x="25400" y="38544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540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61" name="Text Box61"/>
          <p:cNvSpPr txBox="1"/>
          <p:nvPr/>
        </p:nvSpPr>
        <p:spPr>
          <a:xfrm>
            <a:off x="2026285" y="548793"/>
            <a:ext cx="5134494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Computer</a:t>
            </a:r>
            <a:r>
              <a:rPr lang="en-US" altLang="zh-CN" sz="4400" b="1" spc="-3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400" b="1" spc="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Systems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62" name="Text Box62"/>
          <p:cNvSpPr txBox="1"/>
          <p:nvPr/>
        </p:nvSpPr>
        <p:spPr>
          <a:xfrm>
            <a:off x="548640" y="1672638"/>
            <a:ext cx="3893147" cy="45370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spc="-19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</a:t>
            </a:r>
            <a:r>
              <a:rPr lang="en-US" altLang="zh-CN" sz="3200" spc="-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</a:t>
            </a:r>
            <a:r>
              <a:rPr lang="en-US" altLang="zh-CN" sz="3200" spc="-4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63" name="Text Box63"/>
          <p:cNvSpPr txBox="1"/>
          <p:nvPr/>
        </p:nvSpPr>
        <p:spPr>
          <a:xfrm>
            <a:off x="548640" y="2160424"/>
            <a:ext cx="3240422" cy="45404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5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en-US" altLang="zh-CN" sz="3200" spc="-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</a:t>
            </a:r>
            <a:r>
              <a:rPr lang="en-US" altLang="zh-CN" sz="3200" spc="-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3200" spc="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able</a:t>
            </a:r>
            <a:r>
              <a:rPr lang="en-US" altLang="zh-CN" sz="3200" spc="-1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64" name="Text Box64"/>
          <p:cNvSpPr txBox="1"/>
          <p:nvPr/>
        </p:nvSpPr>
        <p:spPr>
          <a:xfrm>
            <a:off x="548640" y="2648380"/>
            <a:ext cx="3556227" cy="45370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take</a:t>
            </a:r>
            <a:r>
              <a:rPr lang="en-US" altLang="zh-CN" sz="3200" spc="-3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</a:t>
            </a:r>
            <a:r>
              <a:rPr lang="en-US" altLang="zh-CN" sz="3200" spc="-2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3200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inputs,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65" name="Text Box65"/>
          <p:cNvSpPr txBox="1"/>
          <p:nvPr/>
        </p:nvSpPr>
        <p:spPr>
          <a:xfrm>
            <a:off x="548640" y="3136059"/>
            <a:ext cx="3374746" cy="45370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</a:t>
            </a:r>
            <a:r>
              <a:rPr lang="en-US" altLang="zh-CN" sz="3200" spc="-3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them,</a:t>
            </a:r>
            <a:r>
              <a:rPr lang="en-US" altLang="zh-CN" sz="3200" spc="-1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66" name="Text Box66"/>
          <p:cNvSpPr txBox="1"/>
          <p:nvPr/>
        </p:nvSpPr>
        <p:spPr>
          <a:xfrm>
            <a:off x="548640" y="3623717"/>
            <a:ext cx="2607613" cy="45404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5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</a:t>
            </a:r>
            <a:r>
              <a:rPr lang="en-US" altLang="zh-CN" sz="3200" spc="-2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spc="-1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67" name="Text Box67"/>
          <p:cNvSpPr txBox="1"/>
          <p:nvPr/>
        </p:nvSpPr>
        <p:spPr>
          <a:xfrm>
            <a:off x="548640" y="4111673"/>
            <a:ext cx="3774330" cy="45370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outputs.</a:t>
            </a:r>
            <a:r>
              <a:rPr lang="en-US" altLang="zh-CN" sz="3200" spc="-8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done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68" name="Text Box68"/>
          <p:cNvSpPr txBox="1"/>
          <p:nvPr/>
        </p:nvSpPr>
        <p:spPr>
          <a:xfrm>
            <a:off x="548640" y="4599354"/>
            <a:ext cx="3646967" cy="45370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</a:t>
            </a:r>
            <a:r>
              <a:rPr lang="en-US" altLang="zh-CN" sz="3200" spc="-4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combination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69" name="Text Box69"/>
          <p:cNvSpPr txBox="1"/>
          <p:nvPr/>
        </p:nvSpPr>
        <p:spPr>
          <a:xfrm>
            <a:off x="548640" y="5087139"/>
            <a:ext cx="2967997" cy="45404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5"/>
              </a:lnSpc>
            </a:pP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3200" spc="-2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hardware</a:t>
            </a:r>
            <a:r>
              <a:rPr lang="en-US" altLang="zh-CN" sz="3200" spc="-3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70" name="Text Box70"/>
          <p:cNvSpPr txBox="1"/>
          <p:nvPr/>
        </p:nvSpPr>
        <p:spPr>
          <a:xfrm>
            <a:off x="548640" y="5575044"/>
            <a:ext cx="1687298" cy="45370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software.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68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7704" y="995263"/>
            <a:ext cx="379967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1. </a:t>
            </a:r>
            <a:r>
              <a:rPr sz="4400" spc="-280" dirty="0"/>
              <a:t>Input</a:t>
            </a:r>
            <a:r>
              <a:rPr sz="4400" spc="25" dirty="0"/>
              <a:t> </a:t>
            </a:r>
            <a:r>
              <a:rPr sz="4400" spc="-275" dirty="0"/>
              <a:t>Unit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1392269" y="2041017"/>
            <a:ext cx="5960269" cy="30514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862330" indent="-28702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418465" algn="l"/>
                <a:tab pos="1972945" algn="l"/>
              </a:tabLst>
            </a:pPr>
            <a:r>
              <a:rPr sz="2800" spc="-180" dirty="0">
                <a:latin typeface="Georgia"/>
                <a:cs typeface="Georgia"/>
              </a:rPr>
              <a:t>Input </a:t>
            </a:r>
            <a:r>
              <a:rPr sz="2800" spc="-190" dirty="0">
                <a:latin typeface="Georgia"/>
                <a:cs typeface="Georgia"/>
              </a:rPr>
              <a:t>is </a:t>
            </a:r>
            <a:r>
              <a:rPr sz="2800" spc="-245" dirty="0">
                <a:latin typeface="Georgia"/>
                <a:cs typeface="Georgia"/>
              </a:rPr>
              <a:t>any </a:t>
            </a:r>
            <a:r>
              <a:rPr sz="2800" spc="-229" dirty="0">
                <a:latin typeface="Georgia"/>
                <a:cs typeface="Georgia"/>
              </a:rPr>
              <a:t>data </a:t>
            </a:r>
            <a:r>
              <a:rPr sz="2800" spc="-155" dirty="0">
                <a:latin typeface="Georgia"/>
                <a:cs typeface="Georgia"/>
              </a:rPr>
              <a:t>or </a:t>
            </a:r>
            <a:r>
              <a:rPr sz="2800" spc="-175" dirty="0">
                <a:latin typeface="Georgia"/>
                <a:cs typeface="Georgia"/>
              </a:rPr>
              <a:t>instructions </a:t>
            </a:r>
            <a:r>
              <a:rPr sz="2800" spc="-200" dirty="0">
                <a:latin typeface="Georgia"/>
                <a:cs typeface="Georgia"/>
              </a:rPr>
              <a:t>entered </a:t>
            </a:r>
            <a:r>
              <a:rPr sz="2800" spc="-170" dirty="0">
                <a:latin typeface="Georgia"/>
                <a:cs typeface="Georgia"/>
              </a:rPr>
              <a:t>into </a:t>
            </a:r>
            <a:r>
              <a:rPr sz="2800" spc="-185" dirty="0">
                <a:latin typeface="Georgia"/>
                <a:cs typeface="Georgia"/>
              </a:rPr>
              <a:t>the  </a:t>
            </a:r>
            <a:r>
              <a:rPr sz="2800" spc="-210" dirty="0">
                <a:latin typeface="Georgia"/>
                <a:cs typeface="Georgia"/>
              </a:rPr>
              <a:t>memory</a:t>
            </a:r>
            <a:r>
              <a:rPr sz="2800" spc="35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280" dirty="0">
                <a:latin typeface="Georgia"/>
                <a:cs typeface="Georgia"/>
              </a:rPr>
              <a:t>a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185" dirty="0">
                <a:latin typeface="Georgia"/>
                <a:cs typeface="Georgia"/>
              </a:rPr>
              <a:t>computer</a:t>
            </a:r>
            <a:endParaRPr sz="2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"/>
            </a:pPr>
            <a:endParaRPr sz="2950" dirty="0">
              <a:latin typeface="Georgia"/>
              <a:cs typeface="Georgia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330200" algn="l"/>
              </a:tabLst>
            </a:pPr>
            <a:r>
              <a:rPr sz="2800" spc="-145" dirty="0">
                <a:latin typeface="Georgia"/>
                <a:cs typeface="Georgia"/>
              </a:rPr>
              <a:t>Any </a:t>
            </a:r>
            <a:r>
              <a:rPr sz="2800" spc="-235" dirty="0">
                <a:latin typeface="Georgia"/>
                <a:cs typeface="Georgia"/>
              </a:rPr>
              <a:t>hardware </a:t>
            </a:r>
            <a:r>
              <a:rPr sz="2800" spc="-175" dirty="0">
                <a:latin typeface="Georgia"/>
                <a:cs typeface="Georgia"/>
              </a:rPr>
              <a:t>component </a:t>
            </a:r>
            <a:r>
              <a:rPr sz="2800" spc="-190" dirty="0">
                <a:latin typeface="Georgia"/>
                <a:cs typeface="Georgia"/>
              </a:rPr>
              <a:t>allows </a:t>
            </a:r>
            <a:r>
              <a:rPr sz="2800" spc="-210" dirty="0">
                <a:latin typeface="Georgia"/>
                <a:cs typeface="Georgia"/>
              </a:rPr>
              <a:t>user </a:t>
            </a:r>
            <a:r>
              <a:rPr sz="2800" spc="-120" dirty="0">
                <a:latin typeface="Georgia"/>
                <a:cs typeface="Georgia"/>
              </a:rPr>
              <a:t>to </a:t>
            </a:r>
            <a:r>
              <a:rPr sz="2800" spc="-195" dirty="0">
                <a:latin typeface="Georgia"/>
                <a:cs typeface="Georgia"/>
              </a:rPr>
              <a:t>enter </a:t>
            </a:r>
            <a:r>
              <a:rPr sz="2800" spc="-229" dirty="0">
                <a:latin typeface="Georgia"/>
                <a:cs typeface="Georgia"/>
              </a:rPr>
              <a:t>data </a:t>
            </a:r>
            <a:r>
              <a:rPr sz="2800" spc="-245" dirty="0">
                <a:latin typeface="Georgia"/>
                <a:cs typeface="Georgia"/>
              </a:rPr>
              <a:t>and  </a:t>
            </a:r>
            <a:r>
              <a:rPr sz="2800" spc="-175" dirty="0">
                <a:latin typeface="Georgia"/>
                <a:cs typeface="Georgia"/>
              </a:rPr>
              <a:t>instructions </a:t>
            </a:r>
            <a:r>
              <a:rPr sz="2800" spc="-204" dirty="0">
                <a:latin typeface="Georgia"/>
                <a:cs typeface="Georgia"/>
              </a:rPr>
              <a:t>in </a:t>
            </a:r>
            <a:r>
              <a:rPr sz="2800" spc="-120" dirty="0">
                <a:latin typeface="Georgia"/>
                <a:cs typeface="Georgia"/>
              </a:rPr>
              <a:t>to </a:t>
            </a:r>
            <a:r>
              <a:rPr sz="2800" spc="-280" dirty="0">
                <a:latin typeface="Georgia"/>
                <a:cs typeface="Georgia"/>
              </a:rPr>
              <a:t>a</a:t>
            </a:r>
            <a:r>
              <a:rPr sz="2800" spc="-380" dirty="0">
                <a:latin typeface="Georgia"/>
                <a:cs typeface="Georgia"/>
              </a:rPr>
              <a:t> </a:t>
            </a:r>
            <a:r>
              <a:rPr sz="2800" spc="-195" dirty="0">
                <a:latin typeface="Georgia"/>
                <a:cs typeface="Georgia"/>
              </a:rPr>
              <a:t>computer.</a:t>
            </a:r>
            <a:endParaRPr sz="2800" dirty="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680" y="5092493"/>
            <a:ext cx="4653153" cy="8732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096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72" name="Image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968" y="949452"/>
            <a:ext cx="4319016" cy="851916"/>
          </a:xfrm>
          <a:prstGeom prst="rect">
            <a:avLst/>
          </a:prstGeom>
          <a:noFill/>
        </p:spPr>
      </p:pic>
      <p:grpSp>
        <p:nvGrpSpPr>
          <p:cNvPr id="73" name="Group73"/>
          <p:cNvGrpSpPr/>
          <p:nvPr/>
        </p:nvGrpSpPr>
        <p:grpSpPr>
          <a:xfrm>
            <a:off x="2471801" y="4221087"/>
            <a:ext cx="4200525" cy="2617690"/>
            <a:chOff x="2471801" y="4221087"/>
            <a:chExt cx="4200525" cy="2617690"/>
          </a:xfrm>
        </p:grpSpPr>
        <p:pic>
          <p:nvPicPr>
            <p:cNvPr id="74" name="Image7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1801" y="4221087"/>
              <a:ext cx="4200525" cy="2447925"/>
            </a:xfrm>
            <a:prstGeom prst="rect">
              <a:avLst/>
            </a:prstGeom>
            <a:noFill/>
          </p:spPr>
        </p:pic>
        <p:sp>
          <p:nvSpPr>
            <p:cNvPr id="75" name="Path75"/>
            <p:cNvSpPr/>
            <p:nvPr/>
          </p:nvSpPr>
          <p:spPr>
            <a:xfrm>
              <a:off x="2555748" y="6453331"/>
              <a:ext cx="1368171" cy="360046"/>
            </a:xfrm>
            <a:custGeom>
              <a:avLst/>
              <a:gdLst/>
              <a:ahLst/>
              <a:cxnLst/>
              <a:rect l="l" t="t" r="r" b="b"/>
              <a:pathLst>
                <a:path w="1368171" h="360046">
                  <a:moveTo>
                    <a:pt x="0" y="360045"/>
                  </a:moveTo>
                  <a:lnTo>
                    <a:pt x="1368171" y="360045"/>
                  </a:lnTo>
                  <a:lnTo>
                    <a:pt x="1368171" y="0"/>
                  </a:lnTo>
                  <a:lnTo>
                    <a:pt x="0" y="0"/>
                  </a:lnTo>
                  <a:lnTo>
                    <a:pt x="0" y="360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76" name="Path76"/>
            <p:cNvSpPr/>
            <p:nvPr/>
          </p:nvSpPr>
          <p:spPr>
            <a:xfrm>
              <a:off x="2530348" y="6427931"/>
              <a:ext cx="1418971" cy="410846"/>
            </a:xfrm>
            <a:custGeom>
              <a:avLst/>
              <a:gdLst/>
              <a:ahLst/>
              <a:cxnLst/>
              <a:rect l="l" t="t" r="r" b="b"/>
              <a:pathLst>
                <a:path w="1418971" h="410846">
                  <a:moveTo>
                    <a:pt x="25400" y="385445"/>
                  </a:moveTo>
                  <a:lnTo>
                    <a:pt x="1393571" y="385445"/>
                  </a:lnTo>
                  <a:lnTo>
                    <a:pt x="1393571" y="25400"/>
                  </a:lnTo>
                  <a:lnTo>
                    <a:pt x="25400" y="25400"/>
                  </a:lnTo>
                  <a:lnTo>
                    <a:pt x="25400" y="38544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540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77" name="Text Box77"/>
          <p:cNvSpPr txBox="1"/>
          <p:nvPr/>
        </p:nvSpPr>
        <p:spPr>
          <a:xfrm>
            <a:off x="2754757" y="548793"/>
            <a:ext cx="3673904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</a:t>
            </a:r>
            <a:r>
              <a:rPr lang="en-US" altLang="zh-CN" sz="4400" b="1" spc="-2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Devices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78" name="Text Box78"/>
          <p:cNvSpPr txBox="1"/>
          <p:nvPr/>
        </p:nvSpPr>
        <p:spPr>
          <a:xfrm>
            <a:off x="548640" y="1672638"/>
            <a:ext cx="7910140" cy="142944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752"/>
              </a:lnSpc>
            </a:pP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3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</a:t>
            </a:r>
            <a:r>
              <a:rPr lang="en-US" altLang="zh-CN" sz="32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3200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</a:t>
            </a:r>
            <a:r>
              <a:rPr lang="en-US" altLang="zh-CN" sz="3200" spc="-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  <a:r>
              <a:rPr lang="en-US" altLang="zh-CN" sz="3200" spc="-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</a:t>
            </a:r>
            <a:r>
              <a:rPr lang="en-US" altLang="zh-CN" sz="32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3200" spc="-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</a:t>
            </a:r>
            <a:r>
              <a:rPr lang="en-US" altLang="zh-CN" sz="3200" spc="-2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spc="-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</a:t>
            </a:r>
            <a:r>
              <a:rPr lang="en-US" altLang="zh-CN" sz="3200" spc="-2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</a:t>
            </a:r>
            <a:r>
              <a:rPr lang="en-US" altLang="zh-CN" sz="3200" spc="-3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ready</a:t>
            </a:r>
            <a:r>
              <a:rPr lang="en-US" altLang="zh-CN" sz="3200" spc="-2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  <a:r>
              <a:rPr lang="en-US" altLang="zh-CN" sz="3200" spc="8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processing.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247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8" name="Image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416" y="949452"/>
            <a:ext cx="4008120" cy="851916"/>
          </a:xfrm>
          <a:prstGeom prst="rect">
            <a:avLst/>
          </a:prstGeom>
          <a:noFill/>
        </p:spPr>
      </p:pic>
      <p:sp>
        <p:nvSpPr>
          <p:cNvPr id="29" name="Text Box29"/>
          <p:cNvSpPr txBox="1"/>
          <p:nvPr/>
        </p:nvSpPr>
        <p:spPr>
          <a:xfrm>
            <a:off x="2910586" y="548793"/>
            <a:ext cx="3362760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</a:t>
            </a:r>
            <a:r>
              <a:rPr lang="en-US" altLang="zh-CN" sz="4400" b="1" spc="-2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30" name="Text Box30"/>
          <p:cNvSpPr txBox="1"/>
          <p:nvPr/>
        </p:nvSpPr>
        <p:spPr>
          <a:xfrm>
            <a:off x="548640" y="1672638"/>
            <a:ext cx="7955308" cy="941828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708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</a:t>
            </a:r>
            <a:r>
              <a:rPr lang="en-US" altLang="zh-CN" sz="32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  <a:r>
              <a:rPr lang="en-US" altLang="zh-CN" sz="3200" spc="-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</a:t>
            </a:r>
            <a:r>
              <a:rPr lang="en-US" altLang="zh-CN" sz="32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3200" spc="-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hardware</a:t>
            </a:r>
            <a:r>
              <a:rPr lang="en-US" altLang="zh-CN" sz="3200" spc="-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allows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3200" spc="-2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</a:t>
            </a:r>
            <a:r>
              <a:rPr lang="en-US" altLang="zh-CN" sz="32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entered</a:t>
            </a:r>
            <a:r>
              <a:rPr lang="en-US" altLang="zh-CN" sz="3200" spc="-2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</a:t>
            </a:r>
            <a:r>
              <a:rPr lang="en-US" altLang="zh-CN" sz="3200" spc="-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computer.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31" name="Text Box31"/>
          <p:cNvSpPr txBox="1"/>
          <p:nvPr/>
        </p:nvSpPr>
        <p:spPr>
          <a:xfrm>
            <a:off x="323532" y="2852928"/>
            <a:ext cx="8463090" cy="2286000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</p:txBody>
      </p:sp>
      <p:graphicFrame>
        <p:nvGraphicFramePr>
          <p:cNvPr id="32" name="Table32"/>
          <p:cNvGraphicFramePr>
            <a:graphicFrameLocks noGrp="1"/>
          </p:cNvGraphicFramePr>
          <p:nvPr/>
        </p:nvGraphicFramePr>
        <p:xfrm>
          <a:off x="323532" y="2852928"/>
          <a:ext cx="8424990" cy="228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12527"/>
                <a:gridCol w="4212463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1250125" algn="l" rtl="0">
                        <a:lnSpc>
                          <a:spcPts val="2400"/>
                        </a:lnSpc>
                      </a:pPr>
                      <a:r>
                        <a:rPr lang="en-US" altLang="zh-CN" sz="2400" b="1" spc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Manual</a:t>
                      </a:r>
                      <a:r>
                        <a:rPr lang="en-US" altLang="zh-CN" sz="2400" b="1" spc="-19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b="1" spc="-4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1076833" algn="l" rtl="0">
                        <a:lnSpc>
                          <a:spcPts val="2400"/>
                        </a:lnSpc>
                      </a:pPr>
                      <a:r>
                        <a:rPr lang="en-US" altLang="zh-CN" sz="2400" b="1" spc="-6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Automatic</a:t>
                      </a:r>
                      <a:r>
                        <a:rPr lang="en-US" altLang="zh-CN" sz="2400" b="1" spc="-13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b="1" spc="-4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Input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1521397" algn="l" rtl="0">
                        <a:lnSpc>
                          <a:spcPts val="2400"/>
                        </a:lnSpc>
                      </a:pPr>
                      <a:r>
                        <a:rPr lang="en-US" altLang="zh-CN" sz="2400" spc="-1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Keyboard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1157859" algn="l" rtl="0">
                        <a:lnSpc>
                          <a:spcPts val="2400"/>
                        </a:lnSpc>
                      </a:pPr>
                      <a:r>
                        <a:rPr lang="en-US" altLang="zh-CN" sz="2400" spc="-7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Barcode</a:t>
                      </a:r>
                      <a:r>
                        <a:rPr lang="en-US" altLang="zh-CN" sz="24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reader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679893" algn="l" rtl="0">
                        <a:lnSpc>
                          <a:spcPts val="2400"/>
                        </a:lnSpc>
                      </a:pPr>
                      <a:r>
                        <a:rPr lang="en-US" altLang="zh-CN" sz="2400" spc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Mouse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688211" algn="l" rtl="0">
                        <a:lnSpc>
                          <a:spcPts val="2400"/>
                        </a:lnSpc>
                      </a:pPr>
                      <a:r>
                        <a:rPr lang="en-US" altLang="zh-CN" sz="2400" spc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Sensor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349185" algn="l" rtl="0">
                        <a:lnSpc>
                          <a:spcPts val="2400"/>
                        </a:lnSpc>
                      </a:pPr>
                      <a:r>
                        <a:rPr lang="en-US" altLang="zh-CN" sz="2400" spc="-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Microphone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695833" algn="l" rtl="0">
                        <a:lnSpc>
                          <a:spcPts val="2400"/>
                        </a:lnSpc>
                      </a:pPr>
                      <a:r>
                        <a:rPr lang="en-US" altLang="zh-CN" sz="2400" spc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Magnetic</a:t>
                      </a:r>
                      <a:r>
                        <a:rPr lang="en-US" altLang="zh-CN" sz="2400" spc="-4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stripe</a:t>
                      </a:r>
                      <a:r>
                        <a:rPr lang="en-US" altLang="zh-CN" sz="2400" spc="-12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reader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609789" algn="l" rtl="0">
                        <a:lnSpc>
                          <a:spcPts val="2400"/>
                        </a:lnSpc>
                      </a:pPr>
                      <a:r>
                        <a:rPr lang="en-US" altLang="zh-CN" sz="2400" spc="-2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Scanner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433705" algn="l" rtl="0">
                        <a:lnSpc>
                          <a:spcPts val="2400"/>
                        </a:lnSpc>
                      </a:pPr>
                      <a:r>
                        <a:rPr lang="en-US" altLang="zh-CN" sz="24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Optical</a:t>
                      </a:r>
                      <a:r>
                        <a:rPr lang="en-US" altLang="zh-CN" sz="2400" spc="-2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mark</a:t>
                      </a:r>
                      <a:r>
                        <a:rPr lang="en-US" altLang="zh-CN" sz="24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reader</a:t>
                      </a:r>
                      <a:r>
                        <a:rPr lang="en-US" altLang="zh-CN" sz="2400" spc="6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(OMR)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2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5736" y="1051890"/>
            <a:ext cx="310311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330" dirty="0">
                <a:latin typeface="Times New Roman"/>
                <a:cs typeface="Times New Roman"/>
              </a:rPr>
              <a:t>K</a:t>
            </a:r>
            <a:r>
              <a:rPr sz="4000" b="1" spc="-70" dirty="0">
                <a:latin typeface="Times New Roman"/>
                <a:cs typeface="Times New Roman"/>
              </a:rPr>
              <a:t>eyboard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537" y="1700809"/>
            <a:ext cx="3528391" cy="49609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SzPct val="56250"/>
              <a:buFont typeface="Wingdings"/>
              <a:buChar char=""/>
              <a:tabLst>
                <a:tab pos="354965" algn="l"/>
                <a:tab pos="355600" algn="l"/>
              </a:tabLst>
            </a:pPr>
            <a:r>
              <a:rPr dirty="0"/>
              <a:t>	</a:t>
            </a:r>
            <a:r>
              <a:rPr sz="3200" spc="-210" dirty="0">
                <a:latin typeface="Georgia"/>
                <a:cs typeface="Georgia"/>
              </a:rPr>
              <a:t>Used </a:t>
            </a:r>
            <a:r>
              <a:rPr sz="3200" spc="-135" dirty="0">
                <a:latin typeface="Georgia"/>
                <a:cs typeface="Georgia"/>
              </a:rPr>
              <a:t>to </a:t>
            </a:r>
            <a:r>
              <a:rPr sz="3200" spc="-225" dirty="0">
                <a:latin typeface="Georgia"/>
                <a:cs typeface="Georgia"/>
              </a:rPr>
              <a:t>enter  </a:t>
            </a:r>
            <a:r>
              <a:rPr sz="3200" spc="-190" dirty="0">
                <a:latin typeface="Georgia"/>
                <a:cs typeface="Georgia"/>
              </a:rPr>
              <a:t>information </a:t>
            </a:r>
            <a:r>
              <a:rPr sz="3200" spc="-180" dirty="0">
                <a:latin typeface="Georgia"/>
                <a:cs typeface="Georgia"/>
              </a:rPr>
              <a:t>into </a:t>
            </a:r>
            <a:r>
              <a:rPr sz="3200" spc="-204" dirty="0">
                <a:latin typeface="Georgia"/>
                <a:cs typeface="Georgia"/>
              </a:rPr>
              <a:t>the  </a:t>
            </a:r>
            <a:r>
              <a:rPr sz="3200" spc="-210" dirty="0">
                <a:latin typeface="Georgia"/>
                <a:cs typeface="Georgia"/>
              </a:rPr>
              <a:t>computer </a:t>
            </a:r>
            <a:r>
              <a:rPr sz="3200" spc="-275" dirty="0">
                <a:latin typeface="Georgia"/>
                <a:cs typeface="Georgia"/>
              </a:rPr>
              <a:t>and </a:t>
            </a:r>
            <a:r>
              <a:rPr sz="3200" spc="-114" dirty="0">
                <a:latin typeface="Georgia"/>
                <a:cs typeface="Georgia"/>
              </a:rPr>
              <a:t>for </a:t>
            </a:r>
            <a:r>
              <a:rPr sz="3200" spc="-200" dirty="0">
                <a:latin typeface="Georgia"/>
                <a:cs typeface="Georgia"/>
              </a:rPr>
              <a:t>giving  </a:t>
            </a:r>
            <a:r>
              <a:rPr sz="3200" spc="-250" dirty="0">
                <a:latin typeface="Georgia"/>
                <a:cs typeface="Georgia"/>
              </a:rPr>
              <a:t>commands.</a:t>
            </a:r>
            <a:endParaRPr sz="32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"/>
            </a:pPr>
            <a:endParaRPr sz="3350" dirty="0">
              <a:latin typeface="Georgia"/>
              <a:cs typeface="Georgia"/>
            </a:endParaRPr>
          </a:p>
          <a:p>
            <a:pPr marL="469265" marR="169545" indent="-457200">
              <a:lnSpc>
                <a:spcPct val="100000"/>
              </a:lnSpc>
              <a:buFont typeface="Wingdings"/>
              <a:buChar char=""/>
              <a:tabLst>
                <a:tab pos="469900" algn="l"/>
              </a:tabLst>
            </a:pPr>
            <a:r>
              <a:rPr sz="3200" spc="20" dirty="0">
                <a:latin typeface="Georgia"/>
                <a:cs typeface="Georgia"/>
              </a:rPr>
              <a:t>A </a:t>
            </a:r>
            <a:r>
              <a:rPr sz="3200" spc="-254" dirty="0">
                <a:latin typeface="Georgia"/>
                <a:cs typeface="Georgia"/>
              </a:rPr>
              <a:t>standard </a:t>
            </a:r>
            <a:r>
              <a:rPr sz="3200" spc="-210" dirty="0">
                <a:latin typeface="Georgia"/>
                <a:cs typeface="Georgia"/>
              </a:rPr>
              <a:t>computer  </a:t>
            </a:r>
            <a:r>
              <a:rPr sz="3200" spc="-225" dirty="0">
                <a:latin typeface="Georgia"/>
                <a:cs typeface="Georgia"/>
              </a:rPr>
              <a:t>keyboard </a:t>
            </a:r>
            <a:r>
              <a:rPr sz="3200" spc="-210" dirty="0">
                <a:latin typeface="Georgia"/>
                <a:cs typeface="Georgia"/>
              </a:rPr>
              <a:t>is called </a:t>
            </a:r>
            <a:r>
              <a:rPr sz="3200" spc="-315" dirty="0">
                <a:latin typeface="Georgia"/>
                <a:cs typeface="Georgia"/>
              </a:rPr>
              <a:t>a  </a:t>
            </a:r>
            <a:r>
              <a:rPr sz="3200" b="1" spc="-70" dirty="0">
                <a:latin typeface="Times New Roman"/>
                <a:cs typeface="Times New Roman"/>
              </a:rPr>
              <a:t>QWERTY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spc="-65" dirty="0">
                <a:latin typeface="Times New Roman"/>
                <a:cs typeface="Times New Roman"/>
              </a:rPr>
              <a:t>keyboard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93109" y="2563368"/>
            <a:ext cx="3725036" cy="2266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324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52" y="260648"/>
            <a:ext cx="8263047" cy="6140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264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1681" y="966024"/>
            <a:ext cx="410171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60" dirty="0">
                <a:latin typeface="Times New Roman"/>
                <a:cs typeface="Times New Roman"/>
              </a:rPr>
              <a:t>Ball</a:t>
            </a:r>
            <a:r>
              <a:rPr sz="4800" b="1" spc="-80" dirty="0">
                <a:latin typeface="Times New Roman"/>
                <a:cs typeface="Times New Roman"/>
              </a:rPr>
              <a:t> </a:t>
            </a:r>
            <a:r>
              <a:rPr sz="4800" b="1" spc="40" dirty="0">
                <a:latin typeface="Times New Roman"/>
                <a:cs typeface="Times New Roman"/>
              </a:rPr>
              <a:t>Mouse</a:t>
            </a:r>
            <a:endParaRPr sz="4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08142" y="2176272"/>
            <a:ext cx="2308859" cy="3168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5536" y="1809750"/>
            <a:ext cx="4896544" cy="39530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36880" algn="l"/>
                <a:tab pos="2319655" algn="l"/>
              </a:tabLst>
            </a:pPr>
            <a:r>
              <a:rPr sz="3200" spc="-120" dirty="0">
                <a:latin typeface="Georgia"/>
                <a:cs typeface="Georgia"/>
              </a:rPr>
              <a:t>An </a:t>
            </a:r>
            <a:r>
              <a:rPr sz="3200" spc="-220" dirty="0">
                <a:latin typeface="Georgia"/>
                <a:cs typeface="Georgia"/>
              </a:rPr>
              <a:t>input </a:t>
            </a:r>
            <a:r>
              <a:rPr sz="3200" spc="-180" dirty="0">
                <a:latin typeface="Georgia"/>
                <a:cs typeface="Georgia"/>
              </a:rPr>
              <a:t>device </a:t>
            </a:r>
            <a:r>
              <a:rPr sz="3200" spc="-215" dirty="0">
                <a:latin typeface="Georgia"/>
                <a:cs typeface="Georgia"/>
              </a:rPr>
              <a:t>operated  </a:t>
            </a:r>
            <a:r>
              <a:rPr sz="3200" spc="-220" dirty="0">
                <a:latin typeface="Georgia"/>
                <a:cs typeface="Georgia"/>
              </a:rPr>
              <a:t>by </a:t>
            </a:r>
            <a:r>
              <a:rPr sz="3200" spc="-200" dirty="0">
                <a:latin typeface="Georgia"/>
                <a:cs typeface="Georgia"/>
              </a:rPr>
              <a:t>rolling </a:t>
            </a:r>
            <a:r>
              <a:rPr lang="en-US" sz="3200" spc="-200" dirty="0" smtClean="0">
                <a:latin typeface="Georgia"/>
                <a:cs typeface="Georgia"/>
              </a:rPr>
              <a:t> </a:t>
            </a:r>
            <a:r>
              <a:rPr sz="3200" spc="-200" dirty="0" smtClean="0">
                <a:latin typeface="Georgia"/>
                <a:cs typeface="Georgia"/>
              </a:rPr>
              <a:t>its </a:t>
            </a:r>
            <a:r>
              <a:rPr lang="en-US" sz="3200" spc="-200" dirty="0" smtClean="0">
                <a:latin typeface="Georgia"/>
                <a:cs typeface="Georgia"/>
              </a:rPr>
              <a:t> </a:t>
            </a:r>
            <a:r>
              <a:rPr sz="3200" spc="-215" dirty="0" smtClean="0">
                <a:latin typeface="Georgia"/>
                <a:cs typeface="Georgia"/>
              </a:rPr>
              <a:t>ball </a:t>
            </a:r>
            <a:r>
              <a:rPr lang="en-US" sz="3200" spc="-215" dirty="0" smtClean="0">
                <a:latin typeface="Georgia"/>
                <a:cs typeface="Georgia"/>
              </a:rPr>
              <a:t> </a:t>
            </a:r>
            <a:r>
              <a:rPr sz="3200" spc="-204" dirty="0" smtClean="0">
                <a:latin typeface="Georgia"/>
                <a:cs typeface="Georgia"/>
              </a:rPr>
              <a:t>across </a:t>
            </a:r>
            <a:r>
              <a:rPr lang="en-US" sz="3200" spc="-204" dirty="0" smtClean="0">
                <a:latin typeface="Georgia"/>
                <a:cs typeface="Georgia"/>
              </a:rPr>
              <a:t> </a:t>
            </a:r>
            <a:r>
              <a:rPr sz="3200" spc="-310" dirty="0" smtClean="0">
                <a:latin typeface="Georgia"/>
                <a:cs typeface="Georgia"/>
              </a:rPr>
              <a:t>a  </a:t>
            </a:r>
            <a:r>
              <a:rPr sz="3200" spc="-155" dirty="0">
                <a:latin typeface="Georgia"/>
                <a:cs typeface="Georgia"/>
              </a:rPr>
              <a:t>flat</a:t>
            </a:r>
            <a:r>
              <a:rPr sz="3200" spc="40" dirty="0">
                <a:latin typeface="Georgia"/>
                <a:cs typeface="Georgia"/>
              </a:rPr>
              <a:t> </a:t>
            </a:r>
            <a:r>
              <a:rPr sz="3200" spc="-204" dirty="0" err="1" smtClean="0">
                <a:latin typeface="Georgia"/>
                <a:cs typeface="Georgia"/>
              </a:rPr>
              <a:t>surface.</a:t>
            </a:r>
            <a:r>
              <a:rPr sz="3200" spc="-140" dirty="0" err="1" smtClean="0">
                <a:latin typeface="Georgia"/>
                <a:cs typeface="Georgia"/>
              </a:rPr>
              <a:t>The</a:t>
            </a:r>
            <a:r>
              <a:rPr sz="3200" spc="-140" dirty="0" smtClean="0">
                <a:latin typeface="Georgia"/>
                <a:cs typeface="Georgia"/>
              </a:rPr>
              <a:t> </a:t>
            </a:r>
            <a:r>
              <a:rPr sz="3200" spc="-229" dirty="0">
                <a:latin typeface="Georgia"/>
                <a:cs typeface="Georgia"/>
              </a:rPr>
              <a:t>mouse </a:t>
            </a:r>
            <a:r>
              <a:rPr sz="3200" spc="-210" dirty="0">
                <a:latin typeface="Georgia"/>
                <a:cs typeface="Georgia"/>
              </a:rPr>
              <a:t>is  </a:t>
            </a:r>
            <a:r>
              <a:rPr sz="3200" spc="-235" dirty="0">
                <a:latin typeface="Georgia"/>
                <a:cs typeface="Georgia"/>
              </a:rPr>
              <a:t>used </a:t>
            </a:r>
            <a:r>
              <a:rPr sz="3200" spc="-135" dirty="0">
                <a:latin typeface="Georgia"/>
                <a:cs typeface="Georgia"/>
              </a:rPr>
              <a:t>to </a:t>
            </a:r>
            <a:r>
              <a:rPr sz="3200" spc="-165" dirty="0">
                <a:latin typeface="Georgia"/>
                <a:cs typeface="Georgia"/>
              </a:rPr>
              <a:t>control </a:t>
            </a:r>
            <a:r>
              <a:rPr sz="3200" spc="-204" dirty="0">
                <a:latin typeface="Georgia"/>
                <a:cs typeface="Georgia"/>
              </a:rPr>
              <a:t>the </a:t>
            </a:r>
            <a:r>
              <a:rPr sz="3200" spc="-200" dirty="0">
                <a:latin typeface="Georgia"/>
                <a:cs typeface="Georgia"/>
              </a:rPr>
              <a:t>on-  </a:t>
            </a:r>
            <a:r>
              <a:rPr sz="3200" spc="-215" dirty="0">
                <a:latin typeface="Georgia"/>
                <a:cs typeface="Georgia"/>
              </a:rPr>
              <a:t>screen </a:t>
            </a:r>
            <a:r>
              <a:rPr sz="3200" spc="-200" dirty="0">
                <a:latin typeface="Georgia"/>
                <a:cs typeface="Georgia"/>
              </a:rPr>
              <a:t>pointer </a:t>
            </a:r>
            <a:r>
              <a:rPr lang="en-US" sz="3200" spc="-200" dirty="0" smtClean="0">
                <a:latin typeface="Georgia"/>
                <a:cs typeface="Georgia"/>
              </a:rPr>
              <a:t> </a:t>
            </a:r>
            <a:r>
              <a:rPr sz="3200" spc="-220" dirty="0" smtClean="0">
                <a:latin typeface="Georgia"/>
                <a:cs typeface="Georgia"/>
              </a:rPr>
              <a:t>by </a:t>
            </a:r>
            <a:r>
              <a:rPr lang="en-US" sz="3200" spc="-220" dirty="0" smtClean="0">
                <a:latin typeface="Georgia"/>
                <a:cs typeface="Georgia"/>
              </a:rPr>
              <a:t> </a:t>
            </a:r>
            <a:r>
              <a:rPr sz="3200" spc="-204" dirty="0" smtClean="0">
                <a:latin typeface="Georgia"/>
                <a:cs typeface="Georgia"/>
              </a:rPr>
              <a:t>pointing  </a:t>
            </a:r>
            <a:r>
              <a:rPr sz="3200" spc="-275" dirty="0">
                <a:latin typeface="Georgia"/>
                <a:cs typeface="Georgia"/>
              </a:rPr>
              <a:t>and </a:t>
            </a:r>
            <a:r>
              <a:rPr sz="3200" spc="-190" dirty="0">
                <a:latin typeface="Georgia"/>
                <a:cs typeface="Georgia"/>
              </a:rPr>
              <a:t>clicking, </a:t>
            </a:r>
            <a:r>
              <a:rPr sz="3200" spc="-195" dirty="0">
                <a:latin typeface="Georgia"/>
                <a:cs typeface="Georgia"/>
              </a:rPr>
              <a:t>double-  </a:t>
            </a:r>
            <a:r>
              <a:rPr sz="3200" spc="-190" dirty="0">
                <a:latin typeface="Georgia"/>
                <a:cs typeface="Georgia"/>
              </a:rPr>
              <a:t>clicking, </a:t>
            </a:r>
            <a:r>
              <a:rPr sz="3200" spc="-170" dirty="0">
                <a:latin typeface="Georgia"/>
                <a:cs typeface="Georgia"/>
              </a:rPr>
              <a:t>or </a:t>
            </a:r>
            <a:r>
              <a:rPr sz="3200" spc="-215" dirty="0">
                <a:latin typeface="Georgia"/>
                <a:cs typeface="Georgia"/>
              </a:rPr>
              <a:t>dragging </a:t>
            </a:r>
            <a:r>
              <a:rPr lang="en-US" sz="3200" spc="-215" dirty="0" smtClean="0">
                <a:latin typeface="Georgia"/>
                <a:cs typeface="Georgia"/>
              </a:rPr>
              <a:t> </a:t>
            </a:r>
            <a:r>
              <a:rPr sz="3200" spc="-175" dirty="0" smtClean="0">
                <a:latin typeface="Georgia"/>
                <a:cs typeface="Georgia"/>
              </a:rPr>
              <a:t>objects  </a:t>
            </a:r>
            <a:r>
              <a:rPr sz="3200" spc="-175" dirty="0">
                <a:latin typeface="Georgia"/>
                <a:cs typeface="Georgia"/>
              </a:rPr>
              <a:t>on </a:t>
            </a:r>
            <a:r>
              <a:rPr sz="3200" spc="-204" dirty="0">
                <a:latin typeface="Georgia"/>
                <a:cs typeface="Georgia"/>
              </a:rPr>
              <a:t>the</a:t>
            </a:r>
            <a:r>
              <a:rPr sz="3200" spc="220" dirty="0">
                <a:latin typeface="Georgia"/>
                <a:cs typeface="Georgia"/>
              </a:rPr>
              <a:t> </a:t>
            </a:r>
            <a:r>
              <a:rPr sz="3200" spc="-210" dirty="0">
                <a:latin typeface="Georgia"/>
                <a:cs typeface="Georgia"/>
              </a:rPr>
              <a:t>screen.</a:t>
            </a:r>
            <a:endParaRPr sz="32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504083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1166" y="596693"/>
            <a:ext cx="2888933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5" dirty="0">
                <a:latin typeface="Times New Roman"/>
                <a:cs typeface="Times New Roman"/>
              </a:rPr>
              <a:t>Optical</a:t>
            </a:r>
            <a:r>
              <a:rPr sz="4800" b="1" spc="-85" dirty="0">
                <a:latin typeface="Times New Roman"/>
                <a:cs typeface="Times New Roman"/>
              </a:rPr>
              <a:t> </a:t>
            </a:r>
            <a:r>
              <a:rPr sz="4800" b="1" spc="40" dirty="0">
                <a:latin typeface="Times New Roman"/>
                <a:cs typeface="Times New Roman"/>
              </a:rPr>
              <a:t>Mouse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85867" y="2176272"/>
            <a:ext cx="2308859" cy="3168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89787" y="2228468"/>
            <a:ext cx="4654868" cy="43358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marR="657860" indent="-457834">
              <a:lnSpc>
                <a:spcPts val="3479"/>
              </a:lnSpc>
              <a:spcBef>
                <a:spcPts val="110"/>
              </a:spcBef>
              <a:buSzPct val="114285"/>
              <a:buFont typeface="Wingdings"/>
              <a:buChar char=""/>
              <a:tabLst>
                <a:tab pos="572135" algn="l"/>
                <a:tab pos="572770" algn="l"/>
              </a:tabLst>
            </a:pPr>
            <a:r>
              <a:rPr dirty="0"/>
              <a:t>	</a:t>
            </a:r>
            <a:r>
              <a:rPr sz="2800" spc="-130" dirty="0">
                <a:latin typeface="Georgia"/>
                <a:cs typeface="Georgia"/>
              </a:rPr>
              <a:t>It </a:t>
            </a:r>
            <a:r>
              <a:rPr sz="2800" spc="-190" dirty="0">
                <a:latin typeface="Georgia"/>
                <a:cs typeface="Georgia"/>
              </a:rPr>
              <a:t>is </a:t>
            </a:r>
            <a:r>
              <a:rPr sz="2800" spc="-254" dirty="0">
                <a:latin typeface="Georgia"/>
                <a:cs typeface="Georgia"/>
              </a:rPr>
              <a:t>an </a:t>
            </a:r>
            <a:r>
              <a:rPr sz="2800" spc="-210" dirty="0">
                <a:latin typeface="Georgia"/>
                <a:cs typeface="Georgia"/>
              </a:rPr>
              <a:t>advanced </a:t>
            </a:r>
            <a:r>
              <a:rPr sz="2800" spc="-185" dirty="0">
                <a:latin typeface="Georgia"/>
                <a:cs typeface="Georgia"/>
              </a:rPr>
              <a:t>computer </a:t>
            </a:r>
            <a:r>
              <a:rPr sz="2800" spc="-180" dirty="0">
                <a:latin typeface="Georgia"/>
                <a:cs typeface="Georgia"/>
              </a:rPr>
              <a:t>pointing  </a:t>
            </a:r>
            <a:r>
              <a:rPr sz="2800" spc="-170" dirty="0">
                <a:latin typeface="Georgia"/>
                <a:cs typeface="Georgia"/>
              </a:rPr>
              <a:t>device.</a:t>
            </a:r>
            <a:endParaRPr sz="2800">
              <a:latin typeface="Georgia"/>
              <a:cs typeface="Georgia"/>
            </a:endParaRPr>
          </a:p>
          <a:p>
            <a:pPr marL="469900" indent="-457834">
              <a:lnSpc>
                <a:spcPts val="3225"/>
              </a:lnSpc>
              <a:buFont typeface="Wingdings"/>
              <a:buChar char=""/>
              <a:tabLst>
                <a:tab pos="469900" algn="l"/>
                <a:tab pos="470534" algn="l"/>
              </a:tabLst>
            </a:pPr>
            <a:r>
              <a:rPr sz="2800" spc="-130" dirty="0">
                <a:latin typeface="Georgia"/>
                <a:cs typeface="Georgia"/>
              </a:rPr>
              <a:t>It </a:t>
            </a:r>
            <a:r>
              <a:rPr sz="2800" spc="-204" dirty="0">
                <a:latin typeface="Georgia"/>
                <a:cs typeface="Georgia"/>
              </a:rPr>
              <a:t>uses </a:t>
            </a:r>
            <a:r>
              <a:rPr sz="2800" spc="-175" dirty="0">
                <a:latin typeface="Georgia"/>
                <a:cs typeface="Georgia"/>
              </a:rPr>
              <a:t>Light-Emitting </a:t>
            </a:r>
            <a:r>
              <a:rPr sz="2800" spc="-110" dirty="0">
                <a:latin typeface="Georgia"/>
                <a:cs typeface="Georgia"/>
              </a:rPr>
              <a:t>Diode(LED)</a:t>
            </a:r>
            <a:r>
              <a:rPr sz="2800" spc="-395" dirty="0">
                <a:latin typeface="Georgia"/>
                <a:cs typeface="Georgia"/>
              </a:rPr>
              <a:t> </a:t>
            </a:r>
            <a:r>
              <a:rPr sz="2800" spc="-204" dirty="0">
                <a:latin typeface="Georgia"/>
                <a:cs typeface="Georgia"/>
              </a:rPr>
              <a:t>in</a:t>
            </a:r>
            <a:endParaRPr sz="2800">
              <a:latin typeface="Georgia"/>
              <a:cs typeface="Georgia"/>
            </a:endParaRPr>
          </a:p>
          <a:p>
            <a:pPr marL="469900">
              <a:lnSpc>
                <a:spcPct val="100000"/>
              </a:lnSpc>
              <a:tabLst>
                <a:tab pos="1689100" algn="l"/>
              </a:tabLst>
            </a:pPr>
            <a:r>
              <a:rPr sz="2800" spc="-185" dirty="0">
                <a:latin typeface="Georgia"/>
                <a:cs typeface="Georgia"/>
              </a:rPr>
              <a:t>place</a:t>
            </a:r>
            <a:r>
              <a:rPr sz="2800" spc="1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185" dirty="0">
                <a:latin typeface="Georgia"/>
                <a:cs typeface="Georgia"/>
              </a:rPr>
              <a:t>the </a:t>
            </a:r>
            <a:r>
              <a:rPr sz="2800" spc="-195" dirty="0">
                <a:latin typeface="Georgia"/>
                <a:cs typeface="Georgia"/>
              </a:rPr>
              <a:t>traditional </a:t>
            </a:r>
            <a:r>
              <a:rPr sz="2800" spc="-204" dirty="0">
                <a:latin typeface="Georgia"/>
                <a:cs typeface="Georgia"/>
              </a:rPr>
              <a:t>mouse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180" dirty="0">
                <a:latin typeface="Georgia"/>
                <a:cs typeface="Georgia"/>
              </a:rPr>
              <a:t>ball.</a:t>
            </a:r>
            <a:endParaRPr sz="2800">
              <a:latin typeface="Georgia"/>
              <a:cs typeface="Georgia"/>
            </a:endParaRPr>
          </a:p>
          <a:p>
            <a:pPr marL="469900" marR="5080" indent="-457834">
              <a:lnSpc>
                <a:spcPct val="100000"/>
              </a:lnSpc>
              <a:spcBef>
                <a:spcPts val="5"/>
              </a:spcBef>
              <a:buFont typeface="Wingdings"/>
              <a:buChar char=""/>
              <a:tabLst>
                <a:tab pos="469900" algn="l"/>
                <a:tab pos="470534" algn="l"/>
              </a:tabLst>
            </a:pPr>
            <a:r>
              <a:rPr sz="2800" spc="-200" dirty="0">
                <a:latin typeface="Georgia"/>
                <a:cs typeface="Georgia"/>
              </a:rPr>
              <a:t>Movement </a:t>
            </a:r>
            <a:r>
              <a:rPr sz="2800" spc="-190" dirty="0">
                <a:latin typeface="Georgia"/>
                <a:cs typeface="Georgia"/>
              </a:rPr>
              <a:t>is </a:t>
            </a:r>
            <a:r>
              <a:rPr sz="2800" spc="-180" dirty="0">
                <a:latin typeface="Georgia"/>
                <a:cs typeface="Georgia"/>
              </a:rPr>
              <a:t>detected </a:t>
            </a:r>
            <a:r>
              <a:rPr sz="2800" spc="-195" dirty="0">
                <a:latin typeface="Georgia"/>
                <a:cs typeface="Georgia"/>
              </a:rPr>
              <a:t>by </a:t>
            </a:r>
            <a:r>
              <a:rPr sz="2800" spc="-200" dirty="0">
                <a:latin typeface="Georgia"/>
                <a:cs typeface="Georgia"/>
              </a:rPr>
              <a:t>sensing changes  </a:t>
            </a:r>
            <a:r>
              <a:rPr sz="2800" spc="-204" dirty="0">
                <a:latin typeface="Georgia"/>
                <a:cs typeface="Georgia"/>
              </a:rPr>
              <a:t>in </a:t>
            </a:r>
            <a:r>
              <a:rPr sz="2800" spc="-160" dirty="0">
                <a:latin typeface="Georgia"/>
                <a:cs typeface="Georgia"/>
              </a:rPr>
              <a:t>reflected</a:t>
            </a:r>
            <a:r>
              <a:rPr sz="2800" spc="-225" dirty="0">
                <a:latin typeface="Georgia"/>
                <a:cs typeface="Georgia"/>
              </a:rPr>
              <a:t> </a:t>
            </a:r>
            <a:r>
              <a:rPr sz="2800" spc="-175" dirty="0">
                <a:latin typeface="Georgia"/>
                <a:cs typeface="Georgia"/>
              </a:rPr>
              <a:t>light.</a:t>
            </a:r>
            <a:endParaRPr sz="28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97698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624" y="1025677"/>
            <a:ext cx="458938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285" dirty="0"/>
              <a:t>2. </a:t>
            </a:r>
            <a:r>
              <a:rPr lang="en-US" sz="4000" u="none" spc="-285" dirty="0" smtClean="0"/>
              <a:t> </a:t>
            </a:r>
            <a:r>
              <a:rPr sz="4000" u="none" spc="-210" dirty="0" smtClean="0"/>
              <a:t>Output</a:t>
            </a:r>
            <a:r>
              <a:rPr sz="4000" u="none" spc="-385" dirty="0" smtClean="0"/>
              <a:t> </a:t>
            </a:r>
            <a:r>
              <a:rPr lang="en-US" sz="4000" u="none" spc="-385" dirty="0" smtClean="0"/>
              <a:t> </a:t>
            </a:r>
            <a:r>
              <a:rPr sz="4000" u="none" spc="-250" dirty="0" smtClean="0"/>
              <a:t>Unit</a:t>
            </a:r>
            <a:endParaRPr sz="4000" dirty="0"/>
          </a:p>
        </p:txBody>
      </p:sp>
      <p:grpSp>
        <p:nvGrpSpPr>
          <p:cNvPr id="3" name="object 3"/>
          <p:cNvGrpSpPr/>
          <p:nvPr/>
        </p:nvGrpSpPr>
        <p:grpSpPr>
          <a:xfrm>
            <a:off x="2305430" y="4594859"/>
            <a:ext cx="4902518" cy="1292860"/>
            <a:chOff x="3073907" y="4594859"/>
            <a:chExt cx="6536690" cy="1292860"/>
          </a:xfrm>
        </p:grpSpPr>
        <p:sp>
          <p:nvSpPr>
            <p:cNvPr id="4" name="object 4"/>
            <p:cNvSpPr/>
            <p:nvPr/>
          </p:nvSpPr>
          <p:spPr>
            <a:xfrm>
              <a:off x="3073907" y="4594859"/>
              <a:ext cx="3909060" cy="86563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37375" y="4594859"/>
              <a:ext cx="3172968" cy="8656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822191" y="5021579"/>
              <a:ext cx="1648967" cy="8656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25567" y="5021579"/>
              <a:ext cx="3848099" cy="8656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15617" y="1906270"/>
            <a:ext cx="6580298" cy="306622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9085" marR="5080" indent="-287020">
              <a:lnSpc>
                <a:spcPts val="3479"/>
              </a:lnSpc>
              <a:spcBef>
                <a:spcPts val="110"/>
              </a:spcBef>
              <a:buSzPct val="114285"/>
              <a:buFont typeface="Wingdings"/>
              <a:buChar char=""/>
              <a:tabLst>
                <a:tab pos="477520" algn="l"/>
                <a:tab pos="2080895" algn="l"/>
                <a:tab pos="6601459" algn="l"/>
                <a:tab pos="7654290" algn="l"/>
              </a:tabLst>
            </a:pPr>
            <a:r>
              <a:rPr sz="2800" spc="25" dirty="0">
                <a:latin typeface="Georgia"/>
                <a:cs typeface="Georgia"/>
              </a:rPr>
              <a:t>T</a:t>
            </a:r>
            <a:r>
              <a:rPr sz="2800" spc="-220" dirty="0">
                <a:latin typeface="Georgia"/>
                <a:cs typeface="Georgia"/>
              </a:rPr>
              <a:t>h</a:t>
            </a:r>
            <a:r>
              <a:rPr sz="2800" spc="-180" dirty="0">
                <a:latin typeface="Georgia"/>
                <a:cs typeface="Georgia"/>
              </a:rPr>
              <a:t>e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135" dirty="0">
                <a:latin typeface="Georgia"/>
                <a:cs typeface="Georgia"/>
              </a:rPr>
              <a:t>job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65" dirty="0">
                <a:latin typeface="Georgia"/>
                <a:cs typeface="Georgia"/>
              </a:rPr>
              <a:t>o</a:t>
            </a:r>
            <a:r>
              <a:rPr sz="2800" spc="-35" dirty="0">
                <a:latin typeface="Georgia"/>
                <a:cs typeface="Georgia"/>
              </a:rPr>
              <a:t>f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190" dirty="0">
                <a:latin typeface="Georgia"/>
                <a:cs typeface="Georgia"/>
              </a:rPr>
              <a:t>outpu</a:t>
            </a:r>
            <a:r>
              <a:rPr sz="2800" spc="-125" dirty="0">
                <a:latin typeface="Georgia"/>
                <a:cs typeface="Georgia"/>
              </a:rPr>
              <a:t>t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254" dirty="0">
                <a:latin typeface="Georgia"/>
                <a:cs typeface="Georgia"/>
              </a:rPr>
              <a:t>u</a:t>
            </a:r>
            <a:r>
              <a:rPr sz="2800" spc="-210" dirty="0">
                <a:latin typeface="Georgia"/>
                <a:cs typeface="Georgia"/>
              </a:rPr>
              <a:t>ni</a:t>
            </a:r>
            <a:r>
              <a:rPr sz="2800" spc="-160" dirty="0">
                <a:latin typeface="Georgia"/>
                <a:cs typeface="Georgia"/>
              </a:rPr>
              <a:t>t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195" dirty="0">
                <a:latin typeface="Georgia"/>
                <a:cs typeface="Georgia"/>
              </a:rPr>
              <a:t>is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-190" dirty="0">
                <a:latin typeface="Georgia"/>
                <a:cs typeface="Georgia"/>
              </a:rPr>
              <a:t>just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185" dirty="0">
                <a:latin typeface="Georgia"/>
                <a:cs typeface="Georgia"/>
              </a:rPr>
              <a:t>the</a:t>
            </a:r>
            <a:r>
              <a:rPr sz="2800" spc="25" dirty="0">
                <a:latin typeface="Georgia"/>
                <a:cs typeface="Georgia"/>
              </a:rPr>
              <a:t> </a:t>
            </a:r>
            <a:r>
              <a:rPr sz="2800" spc="-165" dirty="0">
                <a:latin typeface="Georgia"/>
                <a:cs typeface="Georgia"/>
              </a:rPr>
              <a:t>re</a:t>
            </a:r>
            <a:r>
              <a:rPr sz="2800" spc="-229" dirty="0">
                <a:latin typeface="Georgia"/>
                <a:cs typeface="Georgia"/>
              </a:rPr>
              <a:t>v</a:t>
            </a:r>
            <a:r>
              <a:rPr sz="2800" spc="-200" dirty="0">
                <a:latin typeface="Georgia"/>
                <a:cs typeface="Georgia"/>
              </a:rPr>
              <a:t>erse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-65" dirty="0" smtClean="0">
                <a:latin typeface="Georgia"/>
                <a:cs typeface="Georgia"/>
              </a:rPr>
              <a:t>o</a:t>
            </a:r>
            <a:r>
              <a:rPr sz="2800" spc="-35" dirty="0" smtClean="0">
                <a:latin typeface="Georgia"/>
                <a:cs typeface="Georgia"/>
              </a:rPr>
              <a:t>f</a:t>
            </a:r>
            <a:r>
              <a:rPr lang="en-US" sz="2800" dirty="0">
                <a:latin typeface="Georgia"/>
                <a:cs typeface="Georgia"/>
              </a:rPr>
              <a:t> </a:t>
            </a:r>
            <a:r>
              <a:rPr sz="2800" spc="-200" dirty="0" smtClean="0">
                <a:latin typeface="Georgia"/>
                <a:cs typeface="Georgia"/>
              </a:rPr>
              <a:t>that</a:t>
            </a:r>
            <a:r>
              <a:rPr sz="2800" spc="25" dirty="0" smtClean="0">
                <a:latin typeface="Georgia"/>
                <a:cs typeface="Georgia"/>
              </a:rPr>
              <a:t> </a:t>
            </a:r>
            <a:r>
              <a:rPr sz="2800" spc="-65" dirty="0" smtClean="0">
                <a:latin typeface="Georgia"/>
                <a:cs typeface="Georgia"/>
              </a:rPr>
              <a:t>o</a:t>
            </a:r>
            <a:r>
              <a:rPr sz="2800" spc="-35" dirty="0" smtClean="0">
                <a:latin typeface="Georgia"/>
                <a:cs typeface="Georgia"/>
              </a:rPr>
              <a:t>f</a:t>
            </a:r>
            <a:r>
              <a:rPr lang="en-US" sz="2800" dirty="0">
                <a:latin typeface="Georgia"/>
                <a:cs typeface="Georgia"/>
              </a:rPr>
              <a:t> </a:t>
            </a:r>
            <a:r>
              <a:rPr sz="2800" spc="-190" dirty="0" smtClean="0">
                <a:latin typeface="Georgia"/>
                <a:cs typeface="Georgia"/>
              </a:rPr>
              <a:t>an  </a:t>
            </a:r>
            <a:r>
              <a:rPr sz="2800" spc="-180" dirty="0">
                <a:latin typeface="Georgia"/>
                <a:cs typeface="Georgia"/>
              </a:rPr>
              <a:t>Input</a:t>
            </a:r>
            <a:r>
              <a:rPr sz="2800" spc="10" dirty="0">
                <a:latin typeface="Georgia"/>
                <a:cs typeface="Georgia"/>
              </a:rPr>
              <a:t> </a:t>
            </a:r>
            <a:r>
              <a:rPr sz="2800" spc="-175" dirty="0">
                <a:latin typeface="Georgia"/>
                <a:cs typeface="Georgia"/>
              </a:rPr>
              <a:t>Unit.</a:t>
            </a:r>
            <a:endParaRPr sz="2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"/>
            </a:pPr>
            <a:endParaRPr sz="2800" dirty="0">
              <a:latin typeface="Georgia"/>
              <a:cs typeface="Georgia"/>
            </a:endParaRPr>
          </a:p>
          <a:p>
            <a:pPr marL="299085" marR="273050" indent="-287020">
              <a:lnSpc>
                <a:spcPct val="100000"/>
              </a:lnSpc>
              <a:buSzPct val="96428"/>
              <a:buFont typeface="Wingdings"/>
              <a:buChar char=""/>
              <a:tabLst>
                <a:tab pos="330200" algn="l"/>
                <a:tab pos="5581650" algn="l"/>
              </a:tabLst>
            </a:pPr>
            <a:r>
              <a:rPr sz="2800" spc="-130" dirty="0">
                <a:latin typeface="Georgia"/>
                <a:cs typeface="Georgia"/>
              </a:rPr>
              <a:t>It </a:t>
            </a:r>
            <a:r>
              <a:rPr sz="2800" spc="-190" dirty="0">
                <a:latin typeface="Georgia"/>
                <a:cs typeface="Georgia"/>
              </a:rPr>
              <a:t>supplies  </a:t>
            </a:r>
            <a:r>
              <a:rPr sz="2800" spc="-170" dirty="0">
                <a:latin typeface="Georgia"/>
                <a:cs typeface="Georgia"/>
              </a:rPr>
              <a:t>information  </a:t>
            </a:r>
            <a:r>
              <a:rPr sz="2800" spc="-245" dirty="0">
                <a:latin typeface="Georgia"/>
                <a:cs typeface="Georgia"/>
              </a:rPr>
              <a:t>and</a:t>
            </a:r>
            <a:r>
              <a:rPr sz="2800" spc="-340" dirty="0">
                <a:latin typeface="Georgia"/>
                <a:cs typeface="Georgia"/>
              </a:rPr>
              <a:t> </a:t>
            </a:r>
            <a:r>
              <a:rPr sz="2800" spc="-200" dirty="0">
                <a:latin typeface="Georgia"/>
                <a:cs typeface="Georgia"/>
              </a:rPr>
              <a:t>results</a:t>
            </a:r>
            <a:r>
              <a:rPr sz="2800" spc="5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185" dirty="0">
                <a:latin typeface="Georgia"/>
                <a:cs typeface="Georgia"/>
              </a:rPr>
              <a:t>computation </a:t>
            </a:r>
            <a:r>
              <a:rPr sz="2800" spc="-120" dirty="0">
                <a:latin typeface="Georgia"/>
                <a:cs typeface="Georgia"/>
              </a:rPr>
              <a:t>to  </a:t>
            </a:r>
            <a:r>
              <a:rPr sz="2800" spc="-185" dirty="0">
                <a:latin typeface="Georgia"/>
                <a:cs typeface="Georgia"/>
              </a:rPr>
              <a:t>the outside</a:t>
            </a:r>
            <a:r>
              <a:rPr sz="2800" spc="-265" dirty="0">
                <a:latin typeface="Georgia"/>
                <a:cs typeface="Georgia"/>
              </a:rPr>
              <a:t> </a:t>
            </a:r>
            <a:r>
              <a:rPr sz="2800" spc="-185" dirty="0" smtClean="0">
                <a:latin typeface="Georgia"/>
                <a:cs typeface="Georgia"/>
              </a:rPr>
              <a:t>world.</a:t>
            </a:r>
            <a:endParaRPr lang="en-US" sz="2800" dirty="0">
              <a:latin typeface="Georgia"/>
              <a:cs typeface="Georgia"/>
            </a:endParaRPr>
          </a:p>
          <a:p>
            <a:pPr marL="299085" marR="273050" indent="-287020">
              <a:lnSpc>
                <a:spcPct val="100000"/>
              </a:lnSpc>
              <a:buSzPct val="96428"/>
              <a:buFont typeface="Wingdings"/>
              <a:buChar char=""/>
              <a:tabLst>
                <a:tab pos="330200" algn="l"/>
                <a:tab pos="5581650" algn="l"/>
              </a:tabLst>
            </a:pPr>
            <a:r>
              <a:rPr sz="2800" spc="-175" dirty="0" smtClean="0">
                <a:latin typeface="Georgia"/>
                <a:cs typeface="Georgia"/>
              </a:rPr>
              <a:t>Monitor </a:t>
            </a:r>
            <a:r>
              <a:rPr sz="2800" spc="-240" dirty="0">
                <a:latin typeface="Georgia"/>
                <a:cs typeface="Georgia"/>
              </a:rPr>
              <a:t>and </a:t>
            </a:r>
            <a:r>
              <a:rPr sz="2800" spc="-190" dirty="0">
                <a:latin typeface="Georgia"/>
                <a:cs typeface="Georgia"/>
              </a:rPr>
              <a:t>Printer </a:t>
            </a:r>
            <a:r>
              <a:rPr sz="2800" spc="-225" dirty="0">
                <a:latin typeface="Georgia"/>
                <a:cs typeface="Georgia"/>
              </a:rPr>
              <a:t>are </a:t>
            </a:r>
            <a:r>
              <a:rPr sz="2800" spc="-185" dirty="0">
                <a:latin typeface="Georgia"/>
                <a:cs typeface="Georgia"/>
              </a:rPr>
              <a:t>the most </a:t>
            </a:r>
            <a:r>
              <a:rPr sz="2800" spc="-190" dirty="0">
                <a:latin typeface="Georgia"/>
                <a:cs typeface="Georgia"/>
              </a:rPr>
              <a:t>common  </a:t>
            </a:r>
            <a:r>
              <a:rPr sz="2800" spc="-150" dirty="0">
                <a:latin typeface="Georgia"/>
                <a:cs typeface="Georgia"/>
              </a:rPr>
              <a:t>Output </a:t>
            </a:r>
            <a:r>
              <a:rPr sz="2800" spc="-130" dirty="0">
                <a:latin typeface="Georgia"/>
                <a:cs typeface="Georgia"/>
              </a:rPr>
              <a:t>Devices </a:t>
            </a:r>
            <a:r>
              <a:rPr sz="2800" spc="-190" dirty="0">
                <a:latin typeface="Georgia"/>
                <a:cs typeface="Georgia"/>
              </a:rPr>
              <a:t>which </a:t>
            </a:r>
            <a:r>
              <a:rPr sz="2800" spc="-229" dirty="0">
                <a:latin typeface="Georgia"/>
                <a:cs typeface="Georgia"/>
              </a:rPr>
              <a:t>are</a:t>
            </a:r>
            <a:r>
              <a:rPr sz="2800" spc="-440" dirty="0">
                <a:latin typeface="Georgia"/>
                <a:cs typeface="Georgia"/>
              </a:rPr>
              <a:t> </a:t>
            </a:r>
            <a:r>
              <a:rPr sz="2800" spc="-200" dirty="0">
                <a:latin typeface="Georgia"/>
                <a:cs typeface="Georgia"/>
              </a:rPr>
              <a:t>used.</a:t>
            </a:r>
            <a:endParaRPr sz="28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29767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842" y="0"/>
            <a:ext cx="9144000" cy="6858000"/>
          </a:xfrm>
          <a:prstGeom prst="rect">
            <a:avLst/>
          </a:prstGeom>
          <a:noFill/>
        </p:spPr>
      </p:pic>
      <p:pic>
        <p:nvPicPr>
          <p:cNvPr id="88" name="Image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320" y="949452"/>
            <a:ext cx="4783837" cy="851916"/>
          </a:xfrm>
          <a:prstGeom prst="rect">
            <a:avLst/>
          </a:prstGeom>
          <a:noFill/>
        </p:spPr>
      </p:pic>
      <p:grpSp>
        <p:nvGrpSpPr>
          <p:cNvPr id="89" name="Group89"/>
          <p:cNvGrpSpPr/>
          <p:nvPr/>
        </p:nvGrpSpPr>
        <p:grpSpPr>
          <a:xfrm>
            <a:off x="5122672" y="4467221"/>
            <a:ext cx="4007486" cy="2378202"/>
            <a:chOff x="5122672" y="4467221"/>
            <a:chExt cx="4007486" cy="2378202"/>
          </a:xfrm>
        </p:grpSpPr>
        <p:pic>
          <p:nvPicPr>
            <p:cNvPr id="90" name="Image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8072" y="4467221"/>
              <a:ext cx="3982086" cy="2378202"/>
            </a:xfrm>
            <a:prstGeom prst="rect">
              <a:avLst/>
            </a:prstGeom>
            <a:noFill/>
          </p:spPr>
        </p:pic>
        <p:sp>
          <p:nvSpPr>
            <p:cNvPr id="91" name="Path91"/>
            <p:cNvSpPr/>
            <p:nvPr/>
          </p:nvSpPr>
          <p:spPr>
            <a:xfrm>
              <a:off x="5148072" y="6453331"/>
              <a:ext cx="1368171" cy="360046"/>
            </a:xfrm>
            <a:custGeom>
              <a:avLst/>
              <a:gdLst/>
              <a:ahLst/>
              <a:cxnLst/>
              <a:rect l="l" t="t" r="r" b="b"/>
              <a:pathLst>
                <a:path w="1368171" h="360046">
                  <a:moveTo>
                    <a:pt x="0" y="360045"/>
                  </a:moveTo>
                  <a:lnTo>
                    <a:pt x="1368171" y="360045"/>
                  </a:lnTo>
                  <a:lnTo>
                    <a:pt x="1368171" y="0"/>
                  </a:lnTo>
                  <a:lnTo>
                    <a:pt x="0" y="0"/>
                  </a:lnTo>
                  <a:lnTo>
                    <a:pt x="0" y="360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  <p:sp>
          <p:nvSpPr>
            <p:cNvPr id="92" name="Path92"/>
            <p:cNvSpPr/>
            <p:nvPr/>
          </p:nvSpPr>
          <p:spPr>
            <a:xfrm>
              <a:off x="5122672" y="6427931"/>
              <a:ext cx="1418971" cy="410846"/>
            </a:xfrm>
            <a:custGeom>
              <a:avLst/>
              <a:gdLst/>
              <a:ahLst/>
              <a:cxnLst/>
              <a:rect l="l" t="t" r="r" b="b"/>
              <a:pathLst>
                <a:path w="1418971" h="410846">
                  <a:moveTo>
                    <a:pt x="25400" y="385445"/>
                  </a:moveTo>
                  <a:lnTo>
                    <a:pt x="1393571" y="385445"/>
                  </a:lnTo>
                  <a:lnTo>
                    <a:pt x="1393571" y="25400"/>
                  </a:lnTo>
                  <a:lnTo>
                    <a:pt x="25400" y="25400"/>
                  </a:lnTo>
                  <a:lnTo>
                    <a:pt x="25400" y="38544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25400" cap="sq">
              <a:solidFill>
                <a:srgbClr val="FFFFFF"/>
              </a:solidFill>
              <a:prstDash val="solid"/>
            </a:ln>
          </p:spPr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93" name="Text Box93"/>
          <p:cNvSpPr txBox="1"/>
          <p:nvPr/>
        </p:nvSpPr>
        <p:spPr>
          <a:xfrm>
            <a:off x="2523109" y="548793"/>
            <a:ext cx="4141181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</a:t>
            </a:r>
            <a:r>
              <a:rPr lang="en-US" altLang="zh-CN" sz="4400" b="1" spc="-1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Devices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94" name="Text Box94"/>
          <p:cNvSpPr txBox="1"/>
          <p:nvPr/>
        </p:nvSpPr>
        <p:spPr>
          <a:xfrm>
            <a:off x="548640" y="1672638"/>
            <a:ext cx="7659903" cy="191712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774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</a:t>
            </a:r>
            <a:r>
              <a:rPr lang="en-US" altLang="zh-CN" sz="3200" spc="-3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</a:t>
            </a:r>
            <a:r>
              <a:rPr lang="en-US" altLang="zh-CN" sz="3200" spc="-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</a:t>
            </a:r>
            <a:r>
              <a:rPr lang="en-US" altLang="zh-CN" sz="3200" spc="-2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1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obtained</a:t>
            </a:r>
            <a:r>
              <a:rPr lang="en-US" altLang="zh-CN" sz="3200" spc="-2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</a:t>
            </a:r>
            <a:r>
              <a:rPr lang="en-US" altLang="zh-CN" sz="32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processing</a:t>
            </a:r>
            <a:r>
              <a:rPr lang="en-US" altLang="zh-CN" sz="3200" spc="-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3200" spc="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presented</a:t>
            </a:r>
            <a:r>
              <a:rPr lang="en-US" altLang="zh-CN" sz="3200" spc="-4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</a:t>
            </a:r>
            <a:r>
              <a:rPr lang="en-US" altLang="zh-CN" sz="3200" spc="-3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suitable</a:t>
            </a:r>
            <a:r>
              <a:rPr lang="en-US" altLang="zh-CN" sz="32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format.</a:t>
            </a:r>
            <a:r>
              <a:rPr lang="en-US" altLang="zh-CN" sz="3200" spc="-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</a:t>
            </a:r>
            <a:r>
              <a:rPr lang="en-US" altLang="zh-CN" sz="3200" spc="8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include;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95" name="Text Box95"/>
          <p:cNvSpPr txBox="1"/>
          <p:nvPr/>
        </p:nvSpPr>
        <p:spPr>
          <a:xfrm>
            <a:off x="548640" y="3691741"/>
            <a:ext cx="3850652" cy="34019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2679"/>
              </a:lnSpc>
            </a:pP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2400" spc="119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400" spc="-15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printout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-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</a:t>
            </a:r>
            <a:r>
              <a:rPr lang="en-US" altLang="zh-CN" sz="2400" spc="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grades</a:t>
            </a:r>
            <a:endParaRPr lang="en-US" altLang="zh-CN" sz="2400">
              <a:latin typeface="Arial"/>
              <a:ea typeface="Arial"/>
              <a:cs typeface="Arial"/>
            </a:endParaRPr>
          </a:p>
        </p:txBody>
      </p:sp>
      <p:sp>
        <p:nvSpPr>
          <p:cNvPr id="96" name="Text Box96"/>
          <p:cNvSpPr txBox="1"/>
          <p:nvPr/>
        </p:nvSpPr>
        <p:spPr>
          <a:xfrm>
            <a:off x="548640" y="4130929"/>
            <a:ext cx="4854244" cy="33985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2676"/>
              </a:lnSpc>
            </a:pP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2400" spc="119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400" spc="-15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digital</a:t>
            </a:r>
            <a:r>
              <a:rPr lang="en-US" altLang="zh-CN" sz="2400" spc="2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display</a:t>
            </a:r>
            <a:r>
              <a:rPr lang="en-US" altLang="zh-CN" sz="2400" spc="2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petrol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pump</a:t>
            </a:r>
            <a:endParaRPr lang="en-US" altLang="zh-CN" sz="2400">
              <a:latin typeface="Arial"/>
              <a:ea typeface="Arial"/>
              <a:cs typeface="Arial"/>
            </a:endParaRPr>
          </a:p>
        </p:txBody>
      </p:sp>
      <p:sp>
        <p:nvSpPr>
          <p:cNvPr id="97" name="Text Box97"/>
          <p:cNvSpPr txBox="1"/>
          <p:nvPr/>
        </p:nvSpPr>
        <p:spPr>
          <a:xfrm>
            <a:off x="548640" y="4569841"/>
            <a:ext cx="4256837" cy="33985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2676"/>
              </a:lnSpc>
            </a:pP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2400" spc="119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400" spc="-15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sound</a:t>
            </a:r>
            <a:r>
              <a:rPr lang="en-US" altLang="zh-CN" sz="2400" spc="2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</a:t>
            </a:r>
            <a:r>
              <a:rPr lang="en-US" altLang="zh-CN" sz="2400" spc="-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4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smoke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4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alarm</a:t>
            </a:r>
            <a:endParaRPr lang="en-US" altLang="zh-CN" sz="24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279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42" name="Image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320" y="949452"/>
            <a:ext cx="4783837" cy="851916"/>
          </a:xfrm>
          <a:prstGeom prst="rect">
            <a:avLst/>
          </a:prstGeom>
          <a:noFill/>
        </p:spPr>
      </p:pic>
      <p:sp>
        <p:nvSpPr>
          <p:cNvPr id="43" name="Text Box43"/>
          <p:cNvSpPr txBox="1"/>
          <p:nvPr/>
        </p:nvSpPr>
        <p:spPr>
          <a:xfrm>
            <a:off x="2523109" y="548793"/>
            <a:ext cx="4141181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</a:t>
            </a:r>
            <a:r>
              <a:rPr lang="en-US" altLang="zh-CN" sz="4400" b="1" spc="-1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Devices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44" name="Text Box44"/>
          <p:cNvSpPr txBox="1"/>
          <p:nvPr/>
        </p:nvSpPr>
        <p:spPr>
          <a:xfrm>
            <a:off x="548640" y="1672638"/>
            <a:ext cx="7729773" cy="191712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774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spc="-19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32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</a:t>
            </a:r>
            <a:r>
              <a:rPr lang="en-US" altLang="zh-CN" sz="32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3200" spc="-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hardware</a:t>
            </a:r>
            <a:r>
              <a:rPr lang="en-US" altLang="zh-CN" sz="3200" spc="-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</a:t>
            </a:r>
            <a:r>
              <a:rPr lang="en-US" altLang="zh-CN" sz="3200" spc="-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allows</a:t>
            </a:r>
            <a:r>
              <a:rPr lang="en-US" altLang="zh-CN" sz="3200" spc="8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</a:t>
            </a:r>
            <a:r>
              <a:rPr lang="en-US" altLang="zh-CN" sz="3200" spc="-2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3200" spc="-2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</a:t>
            </a:r>
            <a:r>
              <a:rPr lang="en-US" altLang="zh-CN" sz="32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saved,</a:t>
            </a:r>
            <a:r>
              <a:rPr lang="en-US" altLang="zh-CN" sz="32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long-term,</a:t>
            </a:r>
            <a:r>
              <a:rPr lang="en-US" altLang="zh-CN" sz="3200" spc="-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after</a:t>
            </a:r>
            <a:r>
              <a:rPr lang="en-US" altLang="zh-CN" sz="32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</a:t>
            </a:r>
            <a:r>
              <a:rPr lang="en-US" altLang="zh-CN" sz="3200" spc="8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been</a:t>
            </a:r>
            <a:r>
              <a:rPr lang="en-US" altLang="zh-CN" sz="3200" spc="-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inputted</a:t>
            </a:r>
            <a:r>
              <a:rPr lang="en-US" altLang="zh-CN" sz="3200" spc="-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2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computer.</a:t>
            </a:r>
            <a:r>
              <a:rPr lang="en-US" altLang="zh-CN" sz="3200" spc="-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include;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45" name="Text Box45"/>
          <p:cNvSpPr txBox="1"/>
          <p:nvPr/>
        </p:nvSpPr>
        <p:spPr>
          <a:xfrm>
            <a:off x="548640" y="3721254"/>
            <a:ext cx="1734575" cy="45404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5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3200" spc="6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46" name="Text Box46"/>
          <p:cNvSpPr txBox="1"/>
          <p:nvPr/>
        </p:nvSpPr>
        <p:spPr>
          <a:xfrm>
            <a:off x="548640" y="4306746"/>
            <a:ext cx="1577717" cy="45370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3200" spc="6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Printer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47" name="Text Box47"/>
          <p:cNvSpPr txBox="1"/>
          <p:nvPr/>
        </p:nvSpPr>
        <p:spPr>
          <a:xfrm>
            <a:off x="548640" y="4891961"/>
            <a:ext cx="2007411" cy="45370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3200" spc="6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Projector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48" name="Text Box48"/>
          <p:cNvSpPr txBox="1"/>
          <p:nvPr/>
        </p:nvSpPr>
        <p:spPr>
          <a:xfrm>
            <a:off x="548640" y="5477232"/>
            <a:ext cx="2099031" cy="45404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5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3200" spc="6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Speakers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887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5736" y="982436"/>
            <a:ext cx="266429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none" spc="-275" dirty="0"/>
              <a:t>Monitor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5389244" y="1658111"/>
            <a:ext cx="3178683" cy="4236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47298" y="2122170"/>
            <a:ext cx="3489960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SzPct val="97222"/>
              <a:buFont typeface="Wingdings"/>
              <a:buChar char=""/>
              <a:tabLst>
                <a:tab pos="372745" algn="l"/>
                <a:tab pos="2016760" algn="l"/>
              </a:tabLst>
            </a:pPr>
            <a:r>
              <a:rPr sz="3600" spc="20" dirty="0">
                <a:latin typeface="Georgia"/>
                <a:cs typeface="Georgia"/>
              </a:rPr>
              <a:t>A </a:t>
            </a:r>
            <a:r>
              <a:rPr sz="3600" spc="-265" dirty="0">
                <a:latin typeface="Georgia"/>
                <a:cs typeface="Georgia"/>
              </a:rPr>
              <a:t>display </a:t>
            </a:r>
            <a:r>
              <a:rPr sz="3600" spc="-240" dirty="0">
                <a:latin typeface="Georgia"/>
                <a:cs typeface="Georgia"/>
              </a:rPr>
              <a:t>screen is </a:t>
            </a:r>
            <a:r>
              <a:rPr sz="3600" spc="-265" dirty="0">
                <a:latin typeface="Georgia"/>
                <a:cs typeface="Georgia"/>
              </a:rPr>
              <a:t>used  </a:t>
            </a:r>
            <a:r>
              <a:rPr sz="3600" spc="-150" dirty="0">
                <a:latin typeface="Georgia"/>
                <a:cs typeface="Georgia"/>
              </a:rPr>
              <a:t>to </a:t>
            </a:r>
            <a:r>
              <a:rPr sz="3600" spc="-215" dirty="0">
                <a:latin typeface="Georgia"/>
                <a:cs typeface="Georgia"/>
              </a:rPr>
              <a:t>provide </a:t>
            </a:r>
            <a:r>
              <a:rPr sz="3600" spc="-140" dirty="0">
                <a:latin typeface="Georgia"/>
                <a:cs typeface="Georgia"/>
              </a:rPr>
              <a:t>“output” </a:t>
            </a:r>
            <a:r>
              <a:rPr sz="3600" spc="-150" dirty="0">
                <a:latin typeface="Georgia"/>
                <a:cs typeface="Georgia"/>
              </a:rPr>
              <a:t>to  </a:t>
            </a:r>
            <a:r>
              <a:rPr sz="3600" spc="-229" dirty="0">
                <a:latin typeface="Georgia"/>
                <a:cs typeface="Georgia"/>
              </a:rPr>
              <a:t>the</a:t>
            </a:r>
            <a:r>
              <a:rPr sz="3600" spc="35" dirty="0">
                <a:latin typeface="Georgia"/>
                <a:cs typeface="Georgia"/>
              </a:rPr>
              <a:t> </a:t>
            </a:r>
            <a:r>
              <a:rPr sz="3600" spc="-280" dirty="0">
                <a:latin typeface="Georgia"/>
                <a:cs typeface="Georgia"/>
              </a:rPr>
              <a:t>user.	</a:t>
            </a:r>
            <a:r>
              <a:rPr sz="3600" spc="-170" dirty="0">
                <a:latin typeface="Georgia"/>
                <a:cs typeface="Georgia"/>
              </a:rPr>
              <a:t>It </a:t>
            </a:r>
            <a:r>
              <a:rPr sz="3600" spc="-240" dirty="0">
                <a:latin typeface="Georgia"/>
                <a:cs typeface="Georgia"/>
              </a:rPr>
              <a:t>is </a:t>
            </a:r>
            <a:r>
              <a:rPr sz="3600" spc="-254" dirty="0">
                <a:latin typeface="Georgia"/>
                <a:cs typeface="Georgia"/>
              </a:rPr>
              <a:t>where you  </a:t>
            </a:r>
            <a:r>
              <a:rPr sz="3600" spc="-260" dirty="0">
                <a:latin typeface="Georgia"/>
                <a:cs typeface="Georgia"/>
              </a:rPr>
              <a:t>can </a:t>
            </a:r>
            <a:r>
              <a:rPr sz="3600" spc="-210" dirty="0" smtClean="0">
                <a:latin typeface="Georgia"/>
                <a:cs typeface="Georgia"/>
              </a:rPr>
              <a:t>view</a:t>
            </a:r>
            <a:r>
              <a:rPr lang="en-US" sz="3600" spc="-210" dirty="0" smtClean="0">
                <a:latin typeface="Georgia"/>
                <a:cs typeface="Georgia"/>
              </a:rPr>
              <a:t> </a:t>
            </a:r>
            <a:r>
              <a:rPr sz="3600" spc="-210" dirty="0" smtClean="0">
                <a:latin typeface="Georgia"/>
                <a:cs typeface="Georgia"/>
              </a:rPr>
              <a:t> </a:t>
            </a:r>
            <a:r>
              <a:rPr sz="3600" spc="-235" dirty="0">
                <a:latin typeface="Georgia"/>
                <a:cs typeface="Georgia"/>
              </a:rPr>
              <a:t>the  </a:t>
            </a:r>
            <a:r>
              <a:rPr sz="3600" spc="-215" dirty="0">
                <a:latin typeface="Georgia"/>
                <a:cs typeface="Georgia"/>
              </a:rPr>
              <a:t>information </a:t>
            </a:r>
            <a:r>
              <a:rPr sz="3600" spc="-250" dirty="0">
                <a:latin typeface="Georgia"/>
                <a:cs typeface="Georgia"/>
              </a:rPr>
              <a:t>you </a:t>
            </a:r>
            <a:r>
              <a:rPr sz="3600" spc="-295" dirty="0">
                <a:latin typeface="Georgia"/>
                <a:cs typeface="Georgia"/>
              </a:rPr>
              <a:t>are  </a:t>
            </a:r>
            <a:r>
              <a:rPr sz="3600" spc="-250" dirty="0">
                <a:latin typeface="Georgia"/>
                <a:cs typeface="Georgia"/>
              </a:rPr>
              <a:t>working</a:t>
            </a:r>
            <a:r>
              <a:rPr sz="3600" spc="25" dirty="0">
                <a:latin typeface="Georgia"/>
                <a:cs typeface="Georgia"/>
              </a:rPr>
              <a:t> </a:t>
            </a:r>
            <a:r>
              <a:rPr sz="3600" spc="-200" dirty="0">
                <a:latin typeface="Georgia"/>
                <a:cs typeface="Georgia"/>
              </a:rPr>
              <a:t>on.</a:t>
            </a:r>
            <a:endParaRPr sz="36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0665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760" y="904965"/>
            <a:ext cx="270021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u="none" spc="-300" dirty="0"/>
              <a:t>Prin</a:t>
            </a:r>
            <a:r>
              <a:rPr sz="4400" u="none" spc="-235" dirty="0"/>
              <a:t>t</a:t>
            </a:r>
            <a:r>
              <a:rPr sz="4400" u="none" spc="-315" dirty="0"/>
              <a:t>er</a:t>
            </a:r>
            <a:endParaRPr sz="4400" dirty="0"/>
          </a:p>
        </p:txBody>
      </p:sp>
      <p:sp>
        <p:nvSpPr>
          <p:cNvPr id="3" name="object 3"/>
          <p:cNvSpPr/>
          <p:nvPr/>
        </p:nvSpPr>
        <p:spPr>
          <a:xfrm>
            <a:off x="5557267" y="1877568"/>
            <a:ext cx="2817494" cy="3982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3568" y="2295906"/>
            <a:ext cx="4392487" cy="27956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SzPct val="97222"/>
              <a:buFont typeface="Wingdings"/>
              <a:buChar char=""/>
              <a:tabLst>
                <a:tab pos="377190" algn="l"/>
                <a:tab pos="3801745" algn="l"/>
              </a:tabLst>
            </a:pPr>
            <a:r>
              <a:rPr sz="3600" spc="-140" dirty="0">
                <a:latin typeface="Georgia"/>
                <a:cs typeface="Georgia"/>
              </a:rPr>
              <a:t>An </a:t>
            </a:r>
            <a:r>
              <a:rPr sz="3600" spc="-229" dirty="0">
                <a:latin typeface="Georgia"/>
                <a:cs typeface="Georgia"/>
              </a:rPr>
              <a:t>output </a:t>
            </a:r>
            <a:r>
              <a:rPr sz="3600" spc="-204" dirty="0">
                <a:latin typeface="Georgia"/>
                <a:cs typeface="Georgia"/>
              </a:rPr>
              <a:t>device </a:t>
            </a:r>
            <a:r>
              <a:rPr sz="3600" spc="-250" dirty="0">
                <a:latin typeface="Georgia"/>
                <a:cs typeface="Georgia"/>
              </a:rPr>
              <a:t>that  </a:t>
            </a:r>
            <a:r>
              <a:rPr sz="3600" spc="-229" dirty="0">
                <a:latin typeface="Georgia"/>
                <a:cs typeface="Georgia"/>
              </a:rPr>
              <a:t>produces  </a:t>
            </a:r>
            <a:r>
              <a:rPr sz="3600" spc="-355" dirty="0">
                <a:latin typeface="Georgia"/>
                <a:cs typeface="Georgia"/>
              </a:rPr>
              <a:t>a</a:t>
            </a:r>
            <a:r>
              <a:rPr sz="3600" spc="-340" dirty="0">
                <a:latin typeface="Georgia"/>
                <a:cs typeface="Georgia"/>
              </a:rPr>
              <a:t> </a:t>
            </a:r>
            <a:r>
              <a:rPr sz="3600" spc="-295" dirty="0" smtClean="0">
                <a:latin typeface="Georgia"/>
                <a:cs typeface="Georgia"/>
              </a:rPr>
              <a:t>hard</a:t>
            </a:r>
            <a:r>
              <a:rPr lang="en-US" sz="3600" spc="55" dirty="0" smtClean="0">
                <a:latin typeface="Georgia"/>
                <a:cs typeface="Georgia"/>
              </a:rPr>
              <a:t>copy </a:t>
            </a:r>
            <a:r>
              <a:rPr sz="3600" spc="-60" dirty="0" smtClean="0">
                <a:latin typeface="Georgia"/>
                <a:cs typeface="Georgia"/>
              </a:rPr>
              <a:t>of</a:t>
            </a:r>
            <a:r>
              <a:rPr lang="en-US" sz="3600" spc="-60" dirty="0" smtClean="0">
                <a:latin typeface="Georgia"/>
                <a:cs typeface="Georgia"/>
              </a:rPr>
              <a:t> </a:t>
            </a:r>
            <a:r>
              <a:rPr sz="3600" spc="-235" dirty="0" smtClean="0">
                <a:latin typeface="Georgia"/>
                <a:cs typeface="Georgia"/>
              </a:rPr>
              <a:t>the  </a:t>
            </a:r>
            <a:r>
              <a:rPr sz="3600" spc="-215" dirty="0">
                <a:latin typeface="Georgia"/>
                <a:cs typeface="Georgia"/>
              </a:rPr>
              <a:t>information. </a:t>
            </a:r>
            <a:endParaRPr lang="en-US" sz="3600" spc="-215" dirty="0" smtClean="0">
              <a:latin typeface="Georgia"/>
              <a:cs typeface="Georgia"/>
            </a:endParaRPr>
          </a:p>
          <a:p>
            <a:pPr marL="299085" marR="5080" indent="-287020">
              <a:lnSpc>
                <a:spcPct val="100000"/>
              </a:lnSpc>
              <a:spcBef>
                <a:spcPts val="100"/>
              </a:spcBef>
              <a:buSzPct val="97222"/>
              <a:buFont typeface="Wingdings"/>
              <a:buChar char=""/>
              <a:tabLst>
                <a:tab pos="377190" algn="l"/>
                <a:tab pos="3801745" algn="l"/>
              </a:tabLst>
            </a:pPr>
            <a:r>
              <a:rPr sz="3600" spc="-215" dirty="0" smtClean="0">
                <a:latin typeface="Georgia"/>
                <a:cs typeface="Georgia"/>
              </a:rPr>
              <a:t> </a:t>
            </a:r>
            <a:r>
              <a:rPr sz="3600" spc="-204" dirty="0">
                <a:latin typeface="Georgia"/>
                <a:cs typeface="Georgia"/>
              </a:rPr>
              <a:t>Information </a:t>
            </a:r>
            <a:r>
              <a:rPr sz="3600" spc="-150" dirty="0">
                <a:latin typeface="Georgia"/>
                <a:cs typeface="Georgia"/>
              </a:rPr>
              <a:t>to </a:t>
            </a:r>
            <a:r>
              <a:rPr sz="3600" spc="-235" dirty="0">
                <a:latin typeface="Georgia"/>
                <a:cs typeface="Georgia"/>
              </a:rPr>
              <a:t>the </a:t>
            </a:r>
            <a:r>
              <a:rPr sz="3600" spc="-270" dirty="0">
                <a:latin typeface="Georgia"/>
                <a:cs typeface="Georgia"/>
              </a:rPr>
              <a:t>user  </a:t>
            </a:r>
            <a:r>
              <a:rPr sz="3600" spc="-240" dirty="0">
                <a:latin typeface="Georgia"/>
                <a:cs typeface="Georgia"/>
              </a:rPr>
              <a:t>is </a:t>
            </a:r>
            <a:r>
              <a:rPr sz="3600" spc="-260" dirty="0">
                <a:latin typeface="Georgia"/>
                <a:cs typeface="Georgia"/>
              </a:rPr>
              <a:t>in </a:t>
            </a:r>
            <a:r>
              <a:rPr sz="3600" spc="-250" dirty="0">
                <a:latin typeface="Georgia"/>
                <a:cs typeface="Georgia"/>
              </a:rPr>
              <a:t>printed</a:t>
            </a:r>
            <a:r>
              <a:rPr sz="3600" spc="-50" dirty="0">
                <a:latin typeface="Georgia"/>
                <a:cs typeface="Georgia"/>
              </a:rPr>
              <a:t> </a:t>
            </a:r>
            <a:r>
              <a:rPr sz="3600" spc="-170" dirty="0">
                <a:latin typeface="Georgia"/>
                <a:cs typeface="Georgia"/>
              </a:rPr>
              <a:t>form.</a:t>
            </a:r>
            <a:endParaRPr sz="36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4956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3688" y="1303620"/>
            <a:ext cx="554461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18870" marR="5080" indent="-1106805">
              <a:lnSpc>
                <a:spcPct val="100000"/>
              </a:lnSpc>
              <a:spcBef>
                <a:spcPts val="105"/>
              </a:spcBef>
            </a:pPr>
            <a:r>
              <a:rPr sz="3200" spc="-215" dirty="0"/>
              <a:t>3. </a:t>
            </a:r>
            <a:r>
              <a:rPr sz="3200" b="1" spc="-35" dirty="0">
                <a:latin typeface="Times New Roman"/>
                <a:cs typeface="Times New Roman"/>
              </a:rPr>
              <a:t>Memory </a:t>
            </a:r>
            <a:r>
              <a:rPr sz="3200" b="1" spc="880" dirty="0">
                <a:latin typeface="Times New Roman"/>
                <a:cs typeface="Times New Roman"/>
              </a:rPr>
              <a:t>/</a:t>
            </a:r>
            <a:r>
              <a:rPr sz="3200" b="1" spc="-385" dirty="0">
                <a:latin typeface="Times New Roman"/>
                <a:cs typeface="Times New Roman"/>
              </a:rPr>
              <a:t> </a:t>
            </a:r>
            <a:r>
              <a:rPr sz="3200" b="1" spc="-40" dirty="0">
                <a:latin typeface="Times New Roman"/>
                <a:cs typeface="Times New Roman"/>
              </a:rPr>
              <a:t>Storage  </a:t>
            </a:r>
            <a:r>
              <a:rPr sz="3200" b="1" spc="50" dirty="0">
                <a:latin typeface="Times New Roman"/>
                <a:cs typeface="Times New Roman"/>
              </a:rPr>
              <a:t>Devices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6563" y="5081015"/>
            <a:ext cx="4710303" cy="865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75816" y="2275409"/>
            <a:ext cx="5517832" cy="46217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75000"/>
              <a:buFont typeface="Wingdings"/>
              <a:buChar char=""/>
              <a:tabLst>
                <a:tab pos="354965" algn="l"/>
                <a:tab pos="355600" algn="l"/>
              </a:tabLst>
            </a:pPr>
            <a:r>
              <a:rPr sz="2400" spc="-90" dirty="0">
                <a:latin typeface="Georgia"/>
                <a:cs typeface="Georgia"/>
              </a:rPr>
              <a:t>All </a:t>
            </a:r>
            <a:r>
              <a:rPr sz="2400" spc="-160" dirty="0">
                <a:latin typeface="Georgia"/>
                <a:cs typeface="Georgia"/>
              </a:rPr>
              <a:t>computer </a:t>
            </a:r>
            <a:r>
              <a:rPr sz="2400" spc="-180" dirty="0">
                <a:latin typeface="Georgia"/>
                <a:cs typeface="Georgia"/>
              </a:rPr>
              <a:t>need </a:t>
            </a:r>
            <a:r>
              <a:rPr sz="2400" spc="-105" dirty="0">
                <a:latin typeface="Georgia"/>
                <a:cs typeface="Georgia"/>
              </a:rPr>
              <a:t>to </a:t>
            </a:r>
            <a:r>
              <a:rPr sz="2400" spc="-145" dirty="0">
                <a:latin typeface="Georgia"/>
                <a:cs typeface="Georgia"/>
              </a:rPr>
              <a:t>store</a:t>
            </a:r>
            <a:r>
              <a:rPr sz="2400" spc="-175" dirty="0">
                <a:latin typeface="Georgia"/>
                <a:cs typeface="Georgia"/>
              </a:rPr>
              <a:t> </a:t>
            </a:r>
            <a:r>
              <a:rPr sz="2400" spc="-185" dirty="0">
                <a:latin typeface="Georgia"/>
                <a:cs typeface="Georgia"/>
              </a:rPr>
              <a:t>data.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"/>
            </a:pPr>
            <a:endParaRPr sz="250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299720" algn="l"/>
              </a:tabLst>
            </a:pPr>
            <a:r>
              <a:rPr sz="2400" spc="-140" dirty="0">
                <a:latin typeface="Georgia"/>
                <a:cs typeface="Georgia"/>
              </a:rPr>
              <a:t>Data</a:t>
            </a:r>
            <a:r>
              <a:rPr sz="2400" spc="25" dirty="0">
                <a:latin typeface="Georgia"/>
                <a:cs typeface="Georgia"/>
              </a:rPr>
              <a:t> </a:t>
            </a:r>
            <a:r>
              <a:rPr sz="2400" spc="-160" dirty="0">
                <a:latin typeface="Georgia"/>
                <a:cs typeface="Georgia"/>
              </a:rPr>
              <a:t>is</a:t>
            </a:r>
            <a:r>
              <a:rPr sz="2400" spc="20" dirty="0">
                <a:latin typeface="Georgia"/>
                <a:cs typeface="Georgia"/>
              </a:rPr>
              <a:t> </a:t>
            </a:r>
            <a:r>
              <a:rPr sz="2400" spc="-150" dirty="0">
                <a:latin typeface="Georgia"/>
                <a:cs typeface="Georgia"/>
              </a:rPr>
              <a:t>stored</a:t>
            </a:r>
            <a:r>
              <a:rPr sz="2400" spc="20" dirty="0">
                <a:latin typeface="Georgia"/>
                <a:cs typeface="Georgia"/>
              </a:rPr>
              <a:t> </a:t>
            </a:r>
            <a:r>
              <a:rPr sz="2400" spc="-170" dirty="0">
                <a:latin typeface="Georgia"/>
                <a:cs typeface="Georgia"/>
              </a:rPr>
              <a:t>temporally</a:t>
            </a:r>
            <a:r>
              <a:rPr sz="2400" spc="20" dirty="0">
                <a:latin typeface="Georgia"/>
                <a:cs typeface="Georgia"/>
              </a:rPr>
              <a:t> </a:t>
            </a:r>
            <a:r>
              <a:rPr sz="2400" spc="-160" dirty="0">
                <a:latin typeface="Georgia"/>
                <a:cs typeface="Georgia"/>
              </a:rPr>
              <a:t>while</a:t>
            </a:r>
            <a:r>
              <a:rPr sz="2400" spc="25" dirty="0">
                <a:latin typeface="Georgia"/>
                <a:cs typeface="Georgia"/>
              </a:rPr>
              <a:t> </a:t>
            </a:r>
            <a:r>
              <a:rPr sz="2400" spc="-175" dirty="0">
                <a:latin typeface="Georgia"/>
                <a:cs typeface="Georgia"/>
              </a:rPr>
              <a:t>program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spc="-160" dirty="0">
                <a:latin typeface="Georgia"/>
                <a:cs typeface="Georgia"/>
              </a:rPr>
              <a:t>is</a:t>
            </a:r>
            <a:r>
              <a:rPr sz="2400" spc="20" dirty="0">
                <a:latin typeface="Georgia"/>
                <a:cs typeface="Georgia"/>
              </a:rPr>
              <a:t> </a:t>
            </a:r>
            <a:r>
              <a:rPr sz="2400" spc="-175" dirty="0">
                <a:latin typeface="Georgia"/>
                <a:cs typeface="Georgia"/>
              </a:rPr>
              <a:t>running</a:t>
            </a:r>
            <a:endParaRPr sz="2400">
              <a:latin typeface="Georgia"/>
              <a:cs typeface="Georgia"/>
            </a:endParaRPr>
          </a:p>
          <a:p>
            <a:pPr marL="1079500">
              <a:lnSpc>
                <a:spcPct val="100000"/>
              </a:lnSpc>
            </a:pPr>
            <a:r>
              <a:rPr sz="2400" spc="-345" dirty="0">
                <a:latin typeface="Georgia"/>
                <a:cs typeface="Georgia"/>
              </a:rPr>
              <a:t>– </a:t>
            </a:r>
            <a:r>
              <a:rPr sz="2400" spc="-210" dirty="0">
                <a:latin typeface="Georgia"/>
                <a:cs typeface="Georgia"/>
              </a:rPr>
              <a:t>Main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95" dirty="0">
                <a:latin typeface="Georgia"/>
                <a:cs typeface="Georgia"/>
              </a:rPr>
              <a:t>Memory.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299720" algn="l"/>
                <a:tab pos="3747770" algn="l"/>
              </a:tabLst>
            </a:pPr>
            <a:r>
              <a:rPr sz="2400" spc="-135" dirty="0">
                <a:latin typeface="Georgia"/>
                <a:cs typeface="Georgia"/>
              </a:rPr>
              <a:t>To </a:t>
            </a:r>
            <a:r>
              <a:rPr sz="2400" spc="-145" dirty="0">
                <a:latin typeface="Georgia"/>
                <a:cs typeface="Georgia"/>
              </a:rPr>
              <a:t>store </a:t>
            </a:r>
            <a:r>
              <a:rPr sz="2400" spc="-200" dirty="0">
                <a:latin typeface="Georgia"/>
                <a:cs typeface="Georgia"/>
              </a:rPr>
              <a:t>data 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spc="-85" dirty="0">
                <a:latin typeface="Georgia"/>
                <a:cs typeface="Georgia"/>
              </a:rPr>
              <a:t>for</a:t>
            </a:r>
            <a:r>
              <a:rPr sz="2400" spc="30" dirty="0">
                <a:latin typeface="Georgia"/>
                <a:cs typeface="Georgia"/>
              </a:rPr>
              <a:t> </a:t>
            </a:r>
            <a:r>
              <a:rPr sz="2400" spc="-150" dirty="0">
                <a:latin typeface="Georgia"/>
                <a:cs typeface="Georgia"/>
              </a:rPr>
              <a:t>long-term,	</a:t>
            </a:r>
            <a:r>
              <a:rPr sz="2400" spc="-105" dirty="0">
                <a:latin typeface="Georgia"/>
                <a:cs typeface="Georgia"/>
              </a:rPr>
              <a:t>to </a:t>
            </a:r>
            <a:r>
              <a:rPr sz="2400" spc="-150" dirty="0">
                <a:latin typeface="Georgia"/>
                <a:cs typeface="Georgia"/>
              </a:rPr>
              <a:t>preserve </a:t>
            </a:r>
            <a:r>
              <a:rPr sz="2400" spc="-170" dirty="0">
                <a:latin typeface="Georgia"/>
                <a:cs typeface="Georgia"/>
              </a:rPr>
              <a:t>programs </a:t>
            </a:r>
            <a:r>
              <a:rPr sz="2400" spc="-204" dirty="0">
                <a:latin typeface="Georgia"/>
                <a:cs typeface="Georgia"/>
              </a:rPr>
              <a:t>and</a:t>
            </a:r>
            <a:r>
              <a:rPr sz="2400" spc="40" dirty="0">
                <a:latin typeface="Georgia"/>
                <a:cs typeface="Georgia"/>
              </a:rPr>
              <a:t> </a:t>
            </a:r>
            <a:r>
              <a:rPr sz="2400" spc="-195" dirty="0">
                <a:latin typeface="Georgia"/>
                <a:cs typeface="Georgia"/>
              </a:rPr>
              <a:t>data</a:t>
            </a:r>
            <a:endParaRPr sz="2400">
              <a:latin typeface="Georgia"/>
              <a:cs typeface="Georgia"/>
            </a:endParaRPr>
          </a:p>
          <a:p>
            <a:pPr marL="299085">
              <a:lnSpc>
                <a:spcPct val="100000"/>
              </a:lnSpc>
            </a:pPr>
            <a:r>
              <a:rPr sz="2400" spc="-160" dirty="0">
                <a:latin typeface="Georgia"/>
                <a:cs typeface="Georgia"/>
              </a:rPr>
              <a:t>while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spc="-135" dirty="0">
                <a:latin typeface="Georgia"/>
                <a:cs typeface="Georgia"/>
              </a:rPr>
              <a:t>not</a:t>
            </a:r>
            <a:r>
              <a:rPr sz="2400" spc="20" dirty="0">
                <a:latin typeface="Georgia"/>
                <a:cs typeface="Georgia"/>
              </a:rPr>
              <a:t> </a:t>
            </a:r>
            <a:r>
              <a:rPr sz="2400" spc="-175" dirty="0">
                <a:latin typeface="Georgia"/>
                <a:cs typeface="Georgia"/>
              </a:rPr>
              <a:t>in</a:t>
            </a:r>
            <a:r>
              <a:rPr sz="2400" spc="20" dirty="0">
                <a:latin typeface="Georgia"/>
                <a:cs typeface="Georgia"/>
              </a:rPr>
              <a:t> </a:t>
            </a:r>
            <a:r>
              <a:rPr sz="2400" spc="-180" dirty="0">
                <a:latin typeface="Georgia"/>
                <a:cs typeface="Georgia"/>
              </a:rPr>
              <a:t>use</a:t>
            </a:r>
            <a:r>
              <a:rPr sz="2400" spc="10" dirty="0">
                <a:latin typeface="Georgia"/>
                <a:cs typeface="Georgia"/>
              </a:rPr>
              <a:t> </a:t>
            </a:r>
            <a:r>
              <a:rPr sz="2400" spc="-345" dirty="0">
                <a:latin typeface="Georgia"/>
                <a:cs typeface="Georgia"/>
              </a:rPr>
              <a:t>–</a:t>
            </a:r>
            <a:r>
              <a:rPr sz="2400" spc="-215" dirty="0">
                <a:latin typeface="Georgia"/>
                <a:cs typeface="Georgia"/>
              </a:rPr>
              <a:t> </a:t>
            </a:r>
            <a:r>
              <a:rPr sz="2400" spc="-160" dirty="0">
                <a:latin typeface="Georgia"/>
                <a:cs typeface="Georgia"/>
              </a:rPr>
              <a:t>Backing</a:t>
            </a:r>
            <a:r>
              <a:rPr sz="2400" spc="20" dirty="0">
                <a:latin typeface="Georgia"/>
                <a:cs typeface="Georgia"/>
              </a:rPr>
              <a:t> </a:t>
            </a:r>
            <a:r>
              <a:rPr sz="2400" spc="-160" dirty="0">
                <a:latin typeface="Georgia"/>
                <a:cs typeface="Georgia"/>
              </a:rPr>
              <a:t>Storage.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Georgia"/>
              <a:cs typeface="Georgia"/>
            </a:endParaRPr>
          </a:p>
          <a:p>
            <a:pPr marL="657860" algn="ctr">
              <a:lnSpc>
                <a:spcPct val="100000"/>
              </a:lnSpc>
            </a:pPr>
            <a:r>
              <a:rPr sz="2800" spc="-210" dirty="0">
                <a:latin typeface="Georgia"/>
                <a:cs typeface="Georgia"/>
              </a:rPr>
              <a:t>Primary </a:t>
            </a:r>
            <a:r>
              <a:rPr sz="2800" spc="-204" dirty="0">
                <a:latin typeface="Georgia"/>
                <a:cs typeface="Georgia"/>
              </a:rPr>
              <a:t>Memory </a:t>
            </a:r>
            <a:r>
              <a:rPr sz="2800" spc="-245" dirty="0">
                <a:latin typeface="Georgia"/>
                <a:cs typeface="Georgia"/>
              </a:rPr>
              <a:t>and </a:t>
            </a:r>
            <a:r>
              <a:rPr sz="2800" spc="-185" dirty="0">
                <a:latin typeface="Georgia"/>
                <a:cs typeface="Georgia"/>
              </a:rPr>
              <a:t>Secondary</a:t>
            </a:r>
            <a:r>
              <a:rPr sz="2800" spc="290" dirty="0">
                <a:latin typeface="Georgia"/>
                <a:cs typeface="Georgia"/>
              </a:rPr>
              <a:t> </a:t>
            </a:r>
            <a:r>
              <a:rPr sz="2800" spc="-204" dirty="0">
                <a:latin typeface="Georgia"/>
                <a:cs typeface="Georgia"/>
              </a:rPr>
              <a:t>Memory</a:t>
            </a:r>
            <a:endParaRPr sz="28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543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1872" y="813561"/>
            <a:ext cx="2045018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40" dirty="0"/>
              <a:t>Primary</a:t>
            </a:r>
            <a:r>
              <a:rPr sz="3200" spc="-35" dirty="0"/>
              <a:t> </a:t>
            </a:r>
            <a:r>
              <a:rPr sz="3200" spc="-229" dirty="0"/>
              <a:t>Memory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719197" y="3991355"/>
            <a:ext cx="3928586" cy="1719580"/>
            <a:chOff x="3625596" y="3991355"/>
            <a:chExt cx="5238115" cy="1719580"/>
          </a:xfrm>
        </p:grpSpPr>
        <p:sp>
          <p:nvSpPr>
            <p:cNvPr id="4" name="object 4"/>
            <p:cNvSpPr/>
            <p:nvPr/>
          </p:nvSpPr>
          <p:spPr>
            <a:xfrm>
              <a:off x="3625596" y="3991355"/>
              <a:ext cx="1731264" cy="8656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11268" y="3991355"/>
              <a:ext cx="4052316" cy="86563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39312" y="4445507"/>
              <a:ext cx="762000" cy="81838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23588" y="4418075"/>
              <a:ext cx="1655064" cy="8656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39312" y="4872227"/>
              <a:ext cx="762000" cy="81838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23588" y="4844795"/>
              <a:ext cx="1331976" cy="86563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83183" y="1812164"/>
            <a:ext cx="5369719" cy="3983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75920" algn="l"/>
              </a:tabLst>
            </a:pPr>
            <a:r>
              <a:rPr sz="2400" spc="-170" dirty="0">
                <a:latin typeface="Georgia"/>
                <a:cs typeface="Georgia"/>
              </a:rPr>
              <a:t>Temporary </a:t>
            </a:r>
            <a:r>
              <a:rPr sz="2400" spc="-210" dirty="0">
                <a:latin typeface="Georgia"/>
                <a:cs typeface="Georgia"/>
              </a:rPr>
              <a:t>area </a:t>
            </a:r>
            <a:r>
              <a:rPr sz="2400" spc="-90" dirty="0">
                <a:latin typeface="Georgia"/>
                <a:cs typeface="Georgia"/>
              </a:rPr>
              <a:t>for </a:t>
            </a:r>
            <a:r>
              <a:rPr sz="2400" spc="-155" dirty="0">
                <a:latin typeface="Georgia"/>
                <a:cs typeface="Georgia"/>
              </a:rPr>
              <a:t>holding</a:t>
            </a:r>
            <a:r>
              <a:rPr sz="2400" spc="-240" dirty="0">
                <a:latin typeface="Georgia"/>
                <a:cs typeface="Georgia"/>
              </a:rPr>
              <a:t> </a:t>
            </a:r>
            <a:r>
              <a:rPr sz="2400" spc="-185" dirty="0">
                <a:latin typeface="Georgia"/>
                <a:cs typeface="Georgia"/>
              </a:rPr>
              <a:t>data.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"/>
            </a:pPr>
            <a:endParaRPr sz="25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99720" algn="l"/>
              </a:tabLst>
            </a:pPr>
            <a:r>
              <a:rPr sz="2400" spc="-135" dirty="0">
                <a:latin typeface="Georgia"/>
                <a:cs typeface="Georgia"/>
              </a:rPr>
              <a:t>To </a:t>
            </a:r>
            <a:r>
              <a:rPr sz="2400" spc="-145" dirty="0">
                <a:latin typeface="Georgia"/>
                <a:cs typeface="Georgia"/>
              </a:rPr>
              <a:t>store </a:t>
            </a:r>
            <a:r>
              <a:rPr sz="2400" spc="-160" dirty="0">
                <a:latin typeface="Georgia"/>
                <a:cs typeface="Georgia"/>
              </a:rPr>
              <a:t>the </a:t>
            </a:r>
            <a:r>
              <a:rPr sz="2400" spc="-170" dirty="0">
                <a:latin typeface="Georgia"/>
                <a:cs typeface="Georgia"/>
              </a:rPr>
              <a:t>program </a:t>
            </a:r>
            <a:r>
              <a:rPr sz="2400" spc="-160" dirty="0">
                <a:latin typeface="Georgia"/>
                <a:cs typeface="Georgia"/>
              </a:rPr>
              <a:t>currently being</a:t>
            </a:r>
            <a:r>
              <a:rPr sz="2400" spc="-370" dirty="0">
                <a:latin typeface="Georgia"/>
                <a:cs typeface="Georgia"/>
              </a:rPr>
              <a:t> </a:t>
            </a:r>
            <a:r>
              <a:rPr sz="2400" spc="-160" dirty="0">
                <a:latin typeface="Georgia"/>
                <a:cs typeface="Georgia"/>
              </a:rPr>
              <a:t>executed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"/>
            </a:pPr>
            <a:endParaRPr sz="25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"/>
              <a:tabLst>
                <a:tab pos="299720" algn="l"/>
              </a:tabLst>
            </a:pPr>
            <a:r>
              <a:rPr sz="2400" spc="-130" dirty="0">
                <a:latin typeface="Georgia"/>
                <a:cs typeface="Georgia"/>
              </a:rPr>
              <a:t>To </a:t>
            </a:r>
            <a:r>
              <a:rPr sz="2400" spc="-145" dirty="0">
                <a:latin typeface="Georgia"/>
                <a:cs typeface="Georgia"/>
              </a:rPr>
              <a:t>hold </a:t>
            </a:r>
            <a:r>
              <a:rPr sz="2400" spc="-195" dirty="0">
                <a:latin typeface="Georgia"/>
                <a:cs typeface="Georgia"/>
              </a:rPr>
              <a:t>data </a:t>
            </a:r>
            <a:r>
              <a:rPr sz="2400" spc="-160" dirty="0">
                <a:latin typeface="Georgia"/>
                <a:cs typeface="Georgia"/>
              </a:rPr>
              <a:t>produced while </a:t>
            </a:r>
            <a:r>
              <a:rPr sz="2400" spc="-155" dirty="0">
                <a:latin typeface="Georgia"/>
                <a:cs typeface="Georgia"/>
              </a:rPr>
              <a:t>the </a:t>
            </a:r>
            <a:r>
              <a:rPr sz="2400" spc="-170" dirty="0">
                <a:latin typeface="Georgia"/>
                <a:cs typeface="Georgia"/>
              </a:rPr>
              <a:t>programe </a:t>
            </a:r>
            <a:r>
              <a:rPr sz="2400" spc="-160" dirty="0">
                <a:latin typeface="Georgia"/>
                <a:cs typeface="Georgia"/>
              </a:rPr>
              <a:t>is</a:t>
            </a:r>
            <a:r>
              <a:rPr sz="2400" spc="-375" dirty="0">
                <a:latin typeface="Georgia"/>
                <a:cs typeface="Georgia"/>
              </a:rPr>
              <a:t> </a:t>
            </a:r>
            <a:r>
              <a:rPr sz="2400" spc="-180" dirty="0" err="1" smtClean="0">
                <a:latin typeface="Georgia"/>
                <a:cs typeface="Georgia"/>
              </a:rPr>
              <a:t>running.</a:t>
            </a:r>
            <a:r>
              <a:rPr sz="2800" spc="-210" dirty="0" err="1" smtClean="0">
                <a:latin typeface="Georgia"/>
                <a:cs typeface="Georgia"/>
              </a:rPr>
              <a:t>Primary</a:t>
            </a:r>
            <a:r>
              <a:rPr sz="2800" spc="-210" dirty="0" smtClean="0">
                <a:latin typeface="Georgia"/>
                <a:cs typeface="Georgia"/>
              </a:rPr>
              <a:t>  </a:t>
            </a:r>
            <a:r>
              <a:rPr sz="2800" spc="-204" dirty="0">
                <a:latin typeface="Georgia"/>
                <a:cs typeface="Georgia"/>
              </a:rPr>
              <a:t>Memory</a:t>
            </a:r>
            <a:r>
              <a:rPr sz="2800" spc="-195" dirty="0">
                <a:latin typeface="Georgia"/>
                <a:cs typeface="Georgia"/>
              </a:rPr>
              <a:t> </a:t>
            </a:r>
            <a:r>
              <a:rPr sz="2800" spc="-229" dirty="0">
                <a:latin typeface="Georgia"/>
                <a:cs typeface="Georgia"/>
              </a:rPr>
              <a:t>are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175" dirty="0">
                <a:latin typeface="Georgia"/>
                <a:cs typeface="Georgia"/>
              </a:rPr>
              <a:t>two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spc="-185" dirty="0">
                <a:latin typeface="Georgia"/>
                <a:cs typeface="Georgia"/>
              </a:rPr>
              <a:t>types</a:t>
            </a:r>
            <a:endParaRPr sz="2800" dirty="0">
              <a:latin typeface="Georgia"/>
              <a:cs typeface="Georgia"/>
            </a:endParaRPr>
          </a:p>
          <a:p>
            <a:pPr marL="3153410" lvl="1" indent="-698500">
              <a:lnSpc>
                <a:spcPct val="100000"/>
              </a:lnSpc>
              <a:buAutoNum type="arabicPeriod"/>
              <a:tabLst>
                <a:tab pos="3152775" algn="l"/>
                <a:tab pos="3153410" algn="l"/>
              </a:tabLst>
            </a:pPr>
            <a:r>
              <a:rPr sz="2800" spc="-160" dirty="0">
                <a:latin typeface="Georgia"/>
                <a:cs typeface="Georgia"/>
              </a:rPr>
              <a:t>RAM</a:t>
            </a:r>
            <a:r>
              <a:rPr sz="2800" spc="40" dirty="0">
                <a:latin typeface="Georgia"/>
                <a:cs typeface="Georgia"/>
              </a:rPr>
              <a:t> </a:t>
            </a:r>
            <a:r>
              <a:rPr sz="2800" spc="45" dirty="0">
                <a:latin typeface="Georgia"/>
                <a:cs typeface="Georgia"/>
              </a:rPr>
              <a:t>&amp;</a:t>
            </a:r>
            <a:endParaRPr sz="2800" dirty="0">
              <a:latin typeface="Georgia"/>
              <a:cs typeface="Georgia"/>
            </a:endParaRPr>
          </a:p>
          <a:p>
            <a:pPr marL="3153410" lvl="1" indent="-698500">
              <a:lnSpc>
                <a:spcPct val="100000"/>
              </a:lnSpc>
              <a:buAutoNum type="arabicPeriod"/>
              <a:tabLst>
                <a:tab pos="3152775" algn="l"/>
                <a:tab pos="3153410" algn="l"/>
              </a:tabLst>
            </a:pPr>
            <a:r>
              <a:rPr sz="2800" spc="-155" dirty="0">
                <a:latin typeface="Georgia"/>
                <a:cs typeface="Georgia"/>
              </a:rPr>
              <a:t>ROM</a:t>
            </a:r>
            <a:endParaRPr sz="28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80733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0621" y="1072610"/>
            <a:ext cx="5691378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95" dirty="0"/>
              <a:t>1.RAM(Random </a:t>
            </a:r>
            <a:r>
              <a:rPr sz="3200" spc="-150" dirty="0"/>
              <a:t>Access</a:t>
            </a:r>
            <a:r>
              <a:rPr sz="3200" spc="190" dirty="0"/>
              <a:t> </a:t>
            </a:r>
            <a:r>
              <a:rPr sz="3200" spc="-235" dirty="0"/>
              <a:t>Memory)</a:t>
            </a:r>
            <a:endParaRPr sz="3200" dirty="0"/>
          </a:p>
        </p:txBody>
      </p:sp>
      <p:sp>
        <p:nvSpPr>
          <p:cNvPr id="3" name="object 3"/>
          <p:cNvSpPr/>
          <p:nvPr/>
        </p:nvSpPr>
        <p:spPr>
          <a:xfrm>
            <a:off x="1861946" y="4853940"/>
            <a:ext cx="3510153" cy="865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0620" y="2068957"/>
            <a:ext cx="4666774" cy="4154984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540"/>
              </a:spcBef>
              <a:buFont typeface="Wingdings"/>
              <a:buChar char=""/>
              <a:tabLst>
                <a:tab pos="299720" algn="l"/>
              </a:tabLst>
            </a:pPr>
            <a:r>
              <a:rPr sz="2400" spc="-180" dirty="0">
                <a:latin typeface="Georgia"/>
                <a:cs typeface="Georgia"/>
              </a:rPr>
              <a:t>Major </a:t>
            </a:r>
            <a:r>
              <a:rPr sz="2400" spc="-130" dirty="0">
                <a:latin typeface="Georgia"/>
                <a:cs typeface="Georgia"/>
              </a:rPr>
              <a:t>portion </a:t>
            </a:r>
            <a:r>
              <a:rPr sz="2400" spc="-40" dirty="0">
                <a:latin typeface="Georgia"/>
                <a:cs typeface="Georgia"/>
              </a:rPr>
              <a:t>of </a:t>
            </a:r>
            <a:r>
              <a:rPr sz="2400" spc="-155" dirty="0">
                <a:latin typeface="Georgia"/>
                <a:cs typeface="Georgia"/>
              </a:rPr>
              <a:t>the </a:t>
            </a:r>
            <a:r>
              <a:rPr sz="2400" spc="-180" dirty="0">
                <a:latin typeface="Georgia"/>
                <a:cs typeface="Georgia"/>
              </a:rPr>
              <a:t>Primary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spc="-170" dirty="0">
                <a:latin typeface="Georgia"/>
                <a:cs typeface="Georgia"/>
              </a:rPr>
              <a:t>Memory</a:t>
            </a:r>
            <a:endParaRPr sz="240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spcBef>
                <a:spcPts val="1445"/>
              </a:spcBef>
              <a:buFont typeface="Wingdings"/>
              <a:buChar char=""/>
              <a:tabLst>
                <a:tab pos="299720" algn="l"/>
              </a:tabLst>
            </a:pPr>
            <a:r>
              <a:rPr sz="2400" spc="-170" dirty="0">
                <a:latin typeface="Georgia"/>
                <a:cs typeface="Georgia"/>
              </a:rPr>
              <a:t>Memory that </a:t>
            </a:r>
            <a:r>
              <a:rPr sz="2400" spc="-160" dirty="0">
                <a:latin typeface="Georgia"/>
                <a:cs typeface="Georgia"/>
              </a:rPr>
              <a:t>is </a:t>
            </a:r>
            <a:r>
              <a:rPr sz="2400" spc="-180" dirty="0">
                <a:latin typeface="Georgia"/>
                <a:cs typeface="Georgia"/>
              </a:rPr>
              <a:t>used </a:t>
            </a:r>
            <a:r>
              <a:rPr sz="2400" spc="-170" dirty="0">
                <a:latin typeface="Georgia"/>
                <a:cs typeface="Georgia"/>
              </a:rPr>
              <a:t>by </a:t>
            </a:r>
            <a:r>
              <a:rPr sz="2400" spc="-155" dirty="0">
                <a:latin typeface="Georgia"/>
                <a:cs typeface="Georgia"/>
              </a:rPr>
              <a:t>the </a:t>
            </a:r>
            <a:r>
              <a:rPr sz="2400" spc="-170" dirty="0">
                <a:latin typeface="Georgia"/>
                <a:cs typeface="Georgia"/>
              </a:rPr>
              <a:t>program </a:t>
            </a:r>
            <a:r>
              <a:rPr sz="2400" spc="-175" dirty="0">
                <a:latin typeface="Georgia"/>
                <a:cs typeface="Georgia"/>
              </a:rPr>
              <a:t>in</a:t>
            </a:r>
            <a:r>
              <a:rPr sz="2400" spc="160" dirty="0">
                <a:latin typeface="Georgia"/>
                <a:cs typeface="Georgia"/>
              </a:rPr>
              <a:t> </a:t>
            </a:r>
            <a:r>
              <a:rPr sz="2400" spc="-150" dirty="0">
                <a:latin typeface="Georgia"/>
                <a:cs typeface="Georgia"/>
              </a:rPr>
              <a:t>execution</a:t>
            </a:r>
            <a:endParaRPr sz="2400">
              <a:latin typeface="Georgia"/>
              <a:cs typeface="Georgia"/>
            </a:endParaRPr>
          </a:p>
          <a:p>
            <a:pPr marL="299085" marR="5080" indent="-287020">
              <a:lnSpc>
                <a:spcPct val="150000"/>
              </a:lnSpc>
              <a:buFont typeface="Wingdings"/>
              <a:buChar char=""/>
              <a:tabLst>
                <a:tab pos="299720" algn="l"/>
              </a:tabLst>
            </a:pPr>
            <a:r>
              <a:rPr sz="2400" spc="-50" dirty="0">
                <a:latin typeface="Georgia"/>
                <a:cs typeface="Georgia"/>
              </a:rPr>
              <a:t>If </a:t>
            </a:r>
            <a:r>
              <a:rPr sz="2400" spc="-155" dirty="0">
                <a:latin typeface="Georgia"/>
                <a:cs typeface="Georgia"/>
              </a:rPr>
              <a:t>the </a:t>
            </a:r>
            <a:r>
              <a:rPr sz="2400" spc="-160" dirty="0">
                <a:latin typeface="Georgia"/>
                <a:cs typeface="Georgia"/>
              </a:rPr>
              <a:t>computer </a:t>
            </a:r>
            <a:r>
              <a:rPr sz="2400" spc="-140" dirty="0">
                <a:latin typeface="Georgia"/>
                <a:cs typeface="Georgia"/>
              </a:rPr>
              <a:t>gets </a:t>
            </a:r>
            <a:r>
              <a:rPr sz="2400" spc="-170" dirty="0">
                <a:latin typeface="Georgia"/>
                <a:cs typeface="Georgia"/>
              </a:rPr>
              <a:t>turned </a:t>
            </a:r>
            <a:r>
              <a:rPr sz="2400" spc="-60" dirty="0">
                <a:latin typeface="Georgia"/>
                <a:cs typeface="Georgia"/>
              </a:rPr>
              <a:t>off, </a:t>
            </a:r>
            <a:r>
              <a:rPr sz="2400" spc="-135" dirty="0">
                <a:latin typeface="Georgia"/>
                <a:cs typeface="Georgia"/>
              </a:rPr>
              <a:t>RAM </a:t>
            </a:r>
            <a:r>
              <a:rPr sz="2400" spc="-150" dirty="0">
                <a:latin typeface="Georgia"/>
                <a:cs typeface="Georgia"/>
              </a:rPr>
              <a:t>will </a:t>
            </a:r>
            <a:r>
              <a:rPr sz="2400" spc="-135" dirty="0">
                <a:latin typeface="Georgia"/>
                <a:cs typeface="Georgia"/>
              </a:rPr>
              <a:t>lose </a:t>
            </a:r>
            <a:r>
              <a:rPr sz="2400" spc="-175" dirty="0">
                <a:latin typeface="Georgia"/>
                <a:cs typeface="Georgia"/>
              </a:rPr>
              <a:t>all  </a:t>
            </a:r>
            <a:r>
              <a:rPr sz="2400" spc="-155" dirty="0">
                <a:latin typeface="Georgia"/>
                <a:cs typeface="Georgia"/>
              </a:rPr>
              <a:t>the</a:t>
            </a:r>
            <a:r>
              <a:rPr sz="2400" spc="25" dirty="0">
                <a:latin typeface="Georgia"/>
                <a:cs typeface="Georgia"/>
              </a:rPr>
              <a:t> </a:t>
            </a:r>
            <a:r>
              <a:rPr sz="2400" spc="-180" dirty="0">
                <a:latin typeface="Georgia"/>
                <a:cs typeface="Georgia"/>
              </a:rPr>
              <a:t>data.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7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Georgia"/>
              <a:cs typeface="Georgia"/>
            </a:endParaRPr>
          </a:p>
          <a:p>
            <a:pPr marL="356235" algn="ctr">
              <a:lnSpc>
                <a:spcPct val="100000"/>
              </a:lnSpc>
            </a:pPr>
            <a:r>
              <a:rPr sz="2800" spc="-185" dirty="0">
                <a:latin typeface="Georgia"/>
                <a:cs typeface="Georgia"/>
              </a:rPr>
              <a:t>Static </a:t>
            </a:r>
            <a:r>
              <a:rPr sz="2800" spc="-160" dirty="0">
                <a:latin typeface="Georgia"/>
                <a:cs typeface="Georgia"/>
              </a:rPr>
              <a:t>RAM </a:t>
            </a:r>
            <a:r>
              <a:rPr sz="2800" spc="45" dirty="0">
                <a:latin typeface="Georgia"/>
                <a:cs typeface="Georgia"/>
              </a:rPr>
              <a:t>&amp; </a:t>
            </a:r>
            <a:r>
              <a:rPr sz="2800" spc="-180" dirty="0">
                <a:latin typeface="Georgia"/>
                <a:cs typeface="Georgia"/>
              </a:rPr>
              <a:t>Dynamic</a:t>
            </a:r>
            <a:r>
              <a:rPr sz="2800" spc="-140" dirty="0">
                <a:latin typeface="Georgia"/>
                <a:cs typeface="Georgia"/>
              </a:rPr>
              <a:t> </a:t>
            </a:r>
            <a:r>
              <a:rPr sz="2800" spc="-155" dirty="0">
                <a:latin typeface="Georgia"/>
                <a:cs typeface="Georgia"/>
              </a:rPr>
              <a:t>RAM</a:t>
            </a:r>
            <a:endParaRPr sz="28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93178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3688" y="940886"/>
            <a:ext cx="4968552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Static</a:t>
            </a:r>
            <a:r>
              <a:rPr spc="-45" dirty="0"/>
              <a:t> </a:t>
            </a:r>
            <a:r>
              <a:rPr spc="-200" dirty="0"/>
              <a:t>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591" y="2323923"/>
            <a:ext cx="4970621" cy="26436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125" dirty="0">
                <a:latin typeface="Georgia"/>
                <a:cs typeface="Georgia"/>
              </a:rPr>
              <a:t>The </a:t>
            </a:r>
            <a:r>
              <a:rPr sz="2800" spc="-210" dirty="0">
                <a:latin typeface="Georgia"/>
                <a:cs typeface="Georgia"/>
              </a:rPr>
              <a:t>memory retains </a:t>
            </a:r>
            <a:r>
              <a:rPr sz="2800" spc="-235" dirty="0">
                <a:latin typeface="Georgia"/>
                <a:cs typeface="Georgia"/>
              </a:rPr>
              <a:t>as </a:t>
            </a:r>
            <a:r>
              <a:rPr sz="2800" spc="-165" dirty="0">
                <a:latin typeface="Georgia"/>
                <a:cs typeface="Georgia"/>
              </a:rPr>
              <a:t>long </a:t>
            </a:r>
            <a:r>
              <a:rPr sz="2800" spc="-235" dirty="0">
                <a:latin typeface="Georgia"/>
                <a:cs typeface="Georgia"/>
              </a:rPr>
              <a:t>as </a:t>
            </a:r>
            <a:r>
              <a:rPr sz="2800" spc="-190" dirty="0">
                <a:latin typeface="Georgia"/>
                <a:cs typeface="Georgia"/>
              </a:rPr>
              <a:t>power </a:t>
            </a:r>
            <a:r>
              <a:rPr sz="2800" spc="-235" dirty="0">
                <a:latin typeface="Georgia"/>
                <a:cs typeface="Georgia"/>
              </a:rPr>
              <a:t>remains  </a:t>
            </a:r>
            <a:r>
              <a:rPr sz="2800" spc="-195" dirty="0">
                <a:latin typeface="Georgia"/>
                <a:cs typeface="Georgia"/>
              </a:rPr>
              <a:t>applied.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295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185" dirty="0">
                <a:latin typeface="Georgia"/>
                <a:cs typeface="Georgia"/>
              </a:rPr>
              <a:t>Uses </a:t>
            </a:r>
            <a:r>
              <a:rPr sz="2800" spc="-160" dirty="0">
                <a:latin typeface="Georgia"/>
                <a:cs typeface="Georgia"/>
              </a:rPr>
              <a:t>Flip </a:t>
            </a:r>
            <a:r>
              <a:rPr sz="2800" spc="-135" dirty="0">
                <a:latin typeface="Georgia"/>
                <a:cs typeface="Georgia"/>
              </a:rPr>
              <a:t>Flop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185" dirty="0">
                <a:latin typeface="Georgia"/>
                <a:cs typeface="Georgia"/>
              </a:rPr>
              <a:t>circuitory.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Wingdings"/>
              <a:buChar char=""/>
            </a:pPr>
            <a:endParaRPr sz="295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150" dirty="0">
                <a:latin typeface="Georgia"/>
                <a:cs typeface="Georgia"/>
              </a:rPr>
              <a:t>Is </a:t>
            </a:r>
            <a:r>
              <a:rPr sz="2800" spc="-200" dirty="0">
                <a:latin typeface="Georgia"/>
                <a:cs typeface="Georgia"/>
              </a:rPr>
              <a:t>more</a:t>
            </a:r>
            <a:r>
              <a:rPr sz="2800" spc="185" dirty="0">
                <a:latin typeface="Georgia"/>
                <a:cs typeface="Georgia"/>
              </a:rPr>
              <a:t> </a:t>
            </a:r>
            <a:r>
              <a:rPr sz="2800" spc="-185" dirty="0">
                <a:latin typeface="Georgia"/>
                <a:cs typeface="Georgia"/>
              </a:rPr>
              <a:t>faster.</a:t>
            </a:r>
            <a:endParaRPr sz="28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2617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1720" y="1188445"/>
            <a:ext cx="3577841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4" dirty="0"/>
              <a:t>Dynamic</a:t>
            </a:r>
            <a:r>
              <a:rPr sz="3200" spc="-30" dirty="0"/>
              <a:t> </a:t>
            </a:r>
            <a:r>
              <a:rPr sz="3200" spc="-175" dirty="0"/>
              <a:t>RAM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1527334" y="2249805"/>
            <a:ext cx="4030504" cy="31418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389255" indent="-287020">
              <a:lnSpc>
                <a:spcPct val="150000"/>
              </a:lnSpc>
              <a:spcBef>
                <a:spcPts val="100"/>
              </a:spcBef>
              <a:buFont typeface="Wingdings"/>
              <a:buChar char=""/>
              <a:tabLst>
                <a:tab pos="299720" algn="l"/>
              </a:tabLst>
            </a:pPr>
            <a:r>
              <a:rPr sz="2400" spc="-125" dirty="0">
                <a:latin typeface="Georgia"/>
                <a:cs typeface="Georgia"/>
              </a:rPr>
              <a:t>Need </a:t>
            </a:r>
            <a:r>
              <a:rPr sz="2400" spc="-155" dirty="0">
                <a:latin typeface="Georgia"/>
                <a:cs typeface="Georgia"/>
              </a:rPr>
              <a:t>continues </a:t>
            </a:r>
            <a:r>
              <a:rPr lang="en-US" sz="2400" spc="-155" dirty="0" smtClean="0">
                <a:latin typeface="Georgia"/>
                <a:cs typeface="Georgia"/>
              </a:rPr>
              <a:t> </a:t>
            </a:r>
            <a:r>
              <a:rPr sz="2400" b="1" spc="-15" dirty="0" smtClean="0">
                <a:latin typeface="Times New Roman"/>
                <a:cs typeface="Times New Roman"/>
              </a:rPr>
              <a:t>Refreshing </a:t>
            </a:r>
            <a:r>
              <a:rPr sz="2400" spc="-175" dirty="0">
                <a:latin typeface="Georgia"/>
                <a:cs typeface="Georgia"/>
              </a:rPr>
              <a:t>in </a:t>
            </a:r>
            <a:r>
              <a:rPr sz="2400" spc="-160" dirty="0">
                <a:latin typeface="Georgia"/>
                <a:cs typeface="Georgia"/>
              </a:rPr>
              <a:t>order </a:t>
            </a:r>
            <a:r>
              <a:rPr sz="2400" spc="-100" dirty="0">
                <a:latin typeface="Georgia"/>
                <a:cs typeface="Georgia"/>
              </a:rPr>
              <a:t>to  </a:t>
            </a:r>
            <a:r>
              <a:rPr sz="2400" spc="-200" dirty="0">
                <a:latin typeface="Georgia"/>
                <a:cs typeface="Georgia"/>
              </a:rPr>
              <a:t>maintain </a:t>
            </a:r>
            <a:r>
              <a:rPr sz="2400" spc="-155" dirty="0">
                <a:latin typeface="Georgia"/>
                <a:cs typeface="Georgia"/>
              </a:rPr>
              <a:t>the</a:t>
            </a:r>
            <a:r>
              <a:rPr sz="2400" spc="-140" dirty="0">
                <a:latin typeface="Georgia"/>
                <a:cs typeface="Georgia"/>
              </a:rPr>
              <a:t> </a:t>
            </a:r>
            <a:r>
              <a:rPr sz="2400" spc="-185" dirty="0">
                <a:latin typeface="Georgia"/>
                <a:cs typeface="Georgia"/>
              </a:rPr>
              <a:t>data.</a:t>
            </a:r>
            <a:endParaRPr sz="24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299720" algn="l"/>
              </a:tabLst>
            </a:pPr>
            <a:r>
              <a:rPr sz="2400" spc="-110" dirty="0">
                <a:latin typeface="Georgia"/>
                <a:cs typeface="Georgia"/>
              </a:rPr>
              <a:t>It </a:t>
            </a:r>
            <a:r>
              <a:rPr sz="2400" spc="-175" dirty="0">
                <a:latin typeface="Georgia"/>
                <a:cs typeface="Georgia"/>
              </a:rPr>
              <a:t>uses </a:t>
            </a:r>
            <a:r>
              <a:rPr sz="2400" spc="-160" dirty="0">
                <a:latin typeface="Georgia"/>
                <a:cs typeface="Georgia"/>
              </a:rPr>
              <a:t>transistors </a:t>
            </a:r>
            <a:r>
              <a:rPr sz="2400" spc="-210" dirty="0">
                <a:latin typeface="Georgia"/>
                <a:cs typeface="Georgia"/>
              </a:rPr>
              <a:t>and </a:t>
            </a:r>
            <a:r>
              <a:rPr sz="2400" spc="-155" dirty="0">
                <a:latin typeface="Georgia"/>
                <a:cs typeface="Georgia"/>
              </a:rPr>
              <a:t>capacitors </a:t>
            </a:r>
            <a:r>
              <a:rPr sz="2400" spc="-175" dirty="0">
                <a:latin typeface="Georgia"/>
                <a:cs typeface="Georgia"/>
              </a:rPr>
              <a:t>in</a:t>
            </a:r>
            <a:r>
              <a:rPr sz="2400" spc="140" dirty="0">
                <a:latin typeface="Georgia"/>
                <a:cs typeface="Georgia"/>
              </a:rPr>
              <a:t> </a:t>
            </a:r>
            <a:r>
              <a:rPr sz="2400" spc="-150" dirty="0">
                <a:latin typeface="Georgia"/>
                <a:cs typeface="Georgia"/>
              </a:rPr>
              <a:t>circuits</a:t>
            </a:r>
            <a:endParaRPr sz="24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spcBef>
                <a:spcPts val="1440"/>
              </a:spcBef>
              <a:buFont typeface="Wingdings"/>
              <a:buChar char=""/>
              <a:tabLst>
                <a:tab pos="299720" algn="l"/>
              </a:tabLst>
            </a:pPr>
            <a:r>
              <a:rPr sz="2400" spc="-155" dirty="0">
                <a:latin typeface="Georgia"/>
                <a:cs typeface="Georgia"/>
              </a:rPr>
              <a:t>Slow </a:t>
            </a:r>
            <a:r>
              <a:rPr sz="2400" spc="-210" dirty="0">
                <a:latin typeface="Georgia"/>
                <a:cs typeface="Georgia"/>
              </a:rPr>
              <a:t>and </a:t>
            </a:r>
            <a:r>
              <a:rPr sz="2400" spc="-165" dirty="0">
                <a:latin typeface="Georgia"/>
                <a:cs typeface="Georgia"/>
              </a:rPr>
              <a:t>consumes </a:t>
            </a:r>
            <a:r>
              <a:rPr sz="2400" spc="-170" dirty="0">
                <a:latin typeface="Georgia"/>
                <a:cs typeface="Georgia"/>
              </a:rPr>
              <a:t>more</a:t>
            </a:r>
            <a:r>
              <a:rPr sz="2400" spc="-185" dirty="0">
                <a:latin typeface="Georgia"/>
                <a:cs typeface="Georgia"/>
              </a:rPr>
              <a:t> </a:t>
            </a:r>
            <a:r>
              <a:rPr sz="2400" spc="-165" dirty="0">
                <a:latin typeface="Georgia"/>
                <a:cs typeface="Georgia"/>
              </a:rPr>
              <a:t>power</a:t>
            </a:r>
            <a:endParaRPr sz="24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54822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9672" y="976329"/>
            <a:ext cx="511256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75" dirty="0"/>
              <a:t>2.ROM </a:t>
            </a:r>
            <a:r>
              <a:rPr sz="2800" spc="-240" dirty="0"/>
              <a:t>(Read </a:t>
            </a:r>
            <a:r>
              <a:rPr sz="2800" spc="-130" dirty="0"/>
              <a:t>Only</a:t>
            </a:r>
            <a:r>
              <a:rPr sz="2800" spc="10" dirty="0"/>
              <a:t> </a:t>
            </a:r>
            <a:r>
              <a:rPr sz="2800" spc="-210" dirty="0"/>
              <a:t>Memory)</a:t>
            </a:r>
            <a:endParaRPr sz="2800" dirty="0"/>
          </a:p>
        </p:txBody>
      </p:sp>
      <p:sp>
        <p:nvSpPr>
          <p:cNvPr id="15" name="object 15"/>
          <p:cNvSpPr txBox="1">
            <a:spLocks noGrp="1"/>
          </p:cNvSpPr>
          <p:nvPr>
            <p:ph idx="1"/>
          </p:nvPr>
        </p:nvSpPr>
        <p:spPr>
          <a:xfrm>
            <a:off x="827584" y="1772816"/>
            <a:ext cx="7200800" cy="32598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5335" indent="-28702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775970" algn="l"/>
              </a:tabLst>
            </a:pPr>
            <a:r>
              <a:rPr spc="-175" dirty="0"/>
              <a:t>Memory </a:t>
            </a:r>
            <a:r>
              <a:rPr spc="-165" dirty="0"/>
              <a:t>which </a:t>
            </a:r>
            <a:r>
              <a:rPr spc="-190" dirty="0"/>
              <a:t>we </a:t>
            </a:r>
            <a:r>
              <a:rPr spc="-175" dirty="0"/>
              <a:t>can </a:t>
            </a:r>
            <a:r>
              <a:rPr spc="-150" dirty="0"/>
              <a:t>only </a:t>
            </a:r>
            <a:r>
              <a:rPr spc="-195" dirty="0"/>
              <a:t>read </a:t>
            </a:r>
            <a:r>
              <a:rPr spc="-155" dirty="0"/>
              <a:t>but</a:t>
            </a:r>
            <a:r>
              <a:rPr spc="-15" dirty="0"/>
              <a:t> </a:t>
            </a:r>
            <a:r>
              <a:rPr spc="-160" dirty="0" smtClean="0"/>
              <a:t>cannot</a:t>
            </a:r>
            <a:r>
              <a:rPr lang="en-US" spc="-160" dirty="0" smtClean="0"/>
              <a:t> </a:t>
            </a:r>
            <a:r>
              <a:rPr spc="-160" dirty="0" smtClean="0"/>
              <a:t>write</a:t>
            </a:r>
            <a:r>
              <a:rPr spc="10" dirty="0" smtClean="0"/>
              <a:t> </a:t>
            </a:r>
            <a:r>
              <a:rPr spc="-135" dirty="0"/>
              <a:t>on.</a:t>
            </a:r>
          </a:p>
          <a:p>
            <a:pPr marL="775335" indent="-287020">
              <a:lnSpc>
                <a:spcPct val="100000"/>
              </a:lnSpc>
              <a:buFont typeface="Wingdings"/>
              <a:buChar char=""/>
              <a:tabLst>
                <a:tab pos="775970" algn="l"/>
              </a:tabLst>
            </a:pPr>
            <a:r>
              <a:rPr spc="-135" dirty="0"/>
              <a:t>Non-volatile.</a:t>
            </a:r>
          </a:p>
          <a:p>
            <a:pPr marL="775335" indent="-287020">
              <a:lnSpc>
                <a:spcPct val="100000"/>
              </a:lnSpc>
              <a:buFont typeface="Wingdings"/>
              <a:buChar char=""/>
              <a:tabLst>
                <a:tab pos="775970" algn="l"/>
              </a:tabLst>
            </a:pPr>
            <a:r>
              <a:rPr spc="-160" dirty="0"/>
              <a:t>Used </a:t>
            </a:r>
            <a:r>
              <a:rPr spc="-100" dirty="0"/>
              <a:t>to </a:t>
            </a:r>
            <a:r>
              <a:rPr spc="-145" dirty="0"/>
              <a:t>store </a:t>
            </a:r>
            <a:r>
              <a:rPr spc="-165" dirty="0"/>
              <a:t>some firmware</a:t>
            </a:r>
            <a:r>
              <a:rPr spc="-175" dirty="0"/>
              <a:t> </a:t>
            </a:r>
            <a:r>
              <a:rPr spc="-180" dirty="0"/>
              <a:t>programs.</a:t>
            </a:r>
          </a:p>
          <a:p>
            <a:pPr marL="476250">
              <a:lnSpc>
                <a:spcPct val="100000"/>
              </a:lnSpc>
              <a:spcBef>
                <a:spcPts val="25"/>
              </a:spcBef>
            </a:pPr>
            <a:endParaRPr sz="3500" dirty="0"/>
          </a:p>
          <a:p>
            <a:pPr marL="1081405">
              <a:lnSpc>
                <a:spcPct val="100000"/>
              </a:lnSpc>
            </a:pPr>
            <a:r>
              <a:rPr spc="-125" dirty="0"/>
              <a:t>PROM </a:t>
            </a:r>
            <a:r>
              <a:rPr spc="-345" dirty="0"/>
              <a:t>– </a:t>
            </a:r>
            <a:r>
              <a:rPr spc="-175" dirty="0"/>
              <a:t>Programmable </a:t>
            </a:r>
            <a:r>
              <a:rPr spc="-204" dirty="0"/>
              <a:t>Read </a:t>
            </a:r>
            <a:r>
              <a:rPr spc="-110" dirty="0"/>
              <a:t>Only</a:t>
            </a:r>
            <a:r>
              <a:rPr spc="-335" dirty="0"/>
              <a:t> </a:t>
            </a:r>
            <a:r>
              <a:rPr spc="-175" dirty="0"/>
              <a:t>Memory</a:t>
            </a:r>
          </a:p>
          <a:p>
            <a:pPr marL="1081405">
              <a:lnSpc>
                <a:spcPct val="100000"/>
              </a:lnSpc>
            </a:pPr>
            <a:r>
              <a:rPr spc="-105" dirty="0"/>
              <a:t>EPROM </a:t>
            </a:r>
            <a:r>
              <a:rPr spc="-345" dirty="0"/>
              <a:t>– </a:t>
            </a:r>
            <a:r>
              <a:rPr spc="-160" dirty="0"/>
              <a:t>Erasable </a:t>
            </a:r>
            <a:r>
              <a:rPr spc="-210" dirty="0"/>
              <a:t>and </a:t>
            </a:r>
            <a:r>
              <a:rPr spc="-175" dirty="0"/>
              <a:t>Programmable </a:t>
            </a:r>
            <a:r>
              <a:rPr spc="-195" dirty="0"/>
              <a:t>read </a:t>
            </a:r>
            <a:r>
              <a:rPr spc="-110" dirty="0"/>
              <a:t>Only</a:t>
            </a:r>
            <a:r>
              <a:rPr spc="85" dirty="0"/>
              <a:t> </a:t>
            </a:r>
            <a:r>
              <a:rPr spc="-195" dirty="0"/>
              <a:t>Memory.</a:t>
            </a:r>
          </a:p>
          <a:p>
            <a:pPr marL="1081405">
              <a:lnSpc>
                <a:spcPct val="100000"/>
              </a:lnSpc>
            </a:pPr>
            <a:r>
              <a:rPr spc="-85" dirty="0"/>
              <a:t>EEPROM </a:t>
            </a:r>
            <a:r>
              <a:rPr spc="-345" dirty="0"/>
              <a:t>– </a:t>
            </a:r>
            <a:r>
              <a:rPr spc="-145" dirty="0"/>
              <a:t>Electrically </a:t>
            </a:r>
            <a:r>
              <a:rPr spc="-160" dirty="0"/>
              <a:t>Erasable </a:t>
            </a:r>
            <a:r>
              <a:rPr spc="-204" dirty="0"/>
              <a:t>and </a:t>
            </a:r>
            <a:r>
              <a:rPr spc="-175" dirty="0"/>
              <a:t>Programmable </a:t>
            </a:r>
            <a:r>
              <a:rPr spc="-195" dirty="0"/>
              <a:t>read </a:t>
            </a:r>
            <a:r>
              <a:rPr spc="-110" dirty="0"/>
              <a:t>Only</a:t>
            </a:r>
            <a:r>
              <a:rPr spc="285" dirty="0"/>
              <a:t> </a:t>
            </a:r>
            <a:r>
              <a:rPr spc="-190" dirty="0"/>
              <a:t>Memory.</a:t>
            </a:r>
          </a:p>
        </p:txBody>
      </p:sp>
    </p:spTree>
    <p:extLst>
      <p:ext uri="{BB962C8B-B14F-4D97-AF65-F5344CB8AC3E}">
        <p14:creationId xmlns:p14="http://schemas.microsoft.com/office/powerpoint/2010/main" val="366796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34" name="Image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684" y="949452"/>
            <a:ext cx="2767584" cy="851916"/>
          </a:xfrm>
          <a:prstGeom prst="rect">
            <a:avLst/>
          </a:prstGeom>
          <a:noFill/>
        </p:spPr>
      </p:pic>
      <p:sp>
        <p:nvSpPr>
          <p:cNvPr id="35" name="Text Box35"/>
          <p:cNvSpPr txBox="1"/>
          <p:nvPr/>
        </p:nvSpPr>
        <p:spPr>
          <a:xfrm>
            <a:off x="3530854" y="548793"/>
            <a:ext cx="2121538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36" name="Text Box36"/>
          <p:cNvSpPr txBox="1"/>
          <p:nvPr/>
        </p:nvSpPr>
        <p:spPr>
          <a:xfrm>
            <a:off x="548640" y="1672638"/>
            <a:ext cx="7729773" cy="191712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774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spc="-19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32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</a:t>
            </a:r>
            <a:r>
              <a:rPr lang="en-US" altLang="zh-CN" sz="32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3200" spc="-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hardware</a:t>
            </a:r>
            <a:r>
              <a:rPr lang="en-US" altLang="zh-CN" sz="3200" spc="-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</a:t>
            </a:r>
            <a:r>
              <a:rPr lang="en-US" altLang="zh-CN" sz="3200" spc="-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allows</a:t>
            </a:r>
            <a:r>
              <a:rPr lang="en-US" altLang="zh-CN" sz="3200" spc="8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</a:t>
            </a:r>
            <a:r>
              <a:rPr lang="en-US" altLang="zh-CN" sz="3200" spc="-2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3200" spc="-2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</a:t>
            </a:r>
            <a:r>
              <a:rPr lang="en-US" altLang="zh-CN" sz="32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saved,</a:t>
            </a:r>
            <a:r>
              <a:rPr lang="en-US" altLang="zh-CN" sz="32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long-term,</a:t>
            </a:r>
            <a:r>
              <a:rPr lang="en-US" altLang="zh-CN" sz="3200" spc="-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after</a:t>
            </a:r>
            <a:r>
              <a:rPr lang="en-US" altLang="zh-CN" sz="32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</a:t>
            </a:r>
            <a:r>
              <a:rPr lang="en-US" altLang="zh-CN" sz="3200" spc="8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been</a:t>
            </a:r>
            <a:r>
              <a:rPr lang="en-US" altLang="zh-CN" sz="3200" spc="-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inputted</a:t>
            </a:r>
            <a:r>
              <a:rPr lang="en-US" altLang="zh-CN" sz="3200" spc="-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2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computer.</a:t>
            </a:r>
            <a:r>
              <a:rPr lang="en-US" altLang="zh-CN" sz="3200" spc="-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include;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37" name="Text Box37"/>
          <p:cNvSpPr txBox="1"/>
          <p:nvPr/>
        </p:nvSpPr>
        <p:spPr>
          <a:xfrm>
            <a:off x="548640" y="3721254"/>
            <a:ext cx="2252550" cy="45404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5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3200" spc="6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</a:t>
            </a:r>
            <a:r>
              <a:rPr lang="en-US" altLang="zh-CN" sz="3200" spc="-4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38" name="Text Box38"/>
          <p:cNvSpPr txBox="1"/>
          <p:nvPr/>
        </p:nvSpPr>
        <p:spPr>
          <a:xfrm>
            <a:off x="548640" y="4306746"/>
            <a:ext cx="1239983" cy="45370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3200" spc="6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DVD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39" name="Text Box39"/>
          <p:cNvSpPr txBox="1"/>
          <p:nvPr/>
        </p:nvSpPr>
        <p:spPr>
          <a:xfrm>
            <a:off x="548640" y="4891961"/>
            <a:ext cx="968919" cy="45370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2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3200" spc="6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CD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40" name="Text Box40"/>
          <p:cNvSpPr txBox="1"/>
          <p:nvPr/>
        </p:nvSpPr>
        <p:spPr>
          <a:xfrm>
            <a:off x="548640" y="5477232"/>
            <a:ext cx="4170523" cy="45404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575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3200" spc="6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Flash</a:t>
            </a:r>
            <a:r>
              <a:rPr lang="en-US" altLang="zh-CN" sz="3200" spc="-2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memory</a:t>
            </a:r>
            <a:r>
              <a:rPr lang="en-US" altLang="zh-CN" sz="3200" spc="-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(USB)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388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80" name="Image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949452"/>
            <a:ext cx="5035296" cy="851916"/>
          </a:xfrm>
          <a:prstGeom prst="rect">
            <a:avLst/>
          </a:prstGeom>
          <a:noFill/>
        </p:spPr>
      </p:pic>
      <p:sp>
        <p:nvSpPr>
          <p:cNvPr id="81" name="Text Box81"/>
          <p:cNvSpPr txBox="1"/>
          <p:nvPr/>
        </p:nvSpPr>
        <p:spPr>
          <a:xfrm>
            <a:off x="2396617" y="548793"/>
            <a:ext cx="4392447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4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400" b="1" spc="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Devices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82" name="Text Box82"/>
          <p:cNvSpPr txBox="1"/>
          <p:nvPr/>
        </p:nvSpPr>
        <p:spPr>
          <a:xfrm>
            <a:off x="548640" y="1668447"/>
            <a:ext cx="7973426" cy="1563723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078"/>
              </a:lnSpc>
            </a:pP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2600" spc="-2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purpose</a:t>
            </a:r>
            <a:r>
              <a:rPr lang="en-US" altLang="zh-CN" sz="26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2600" spc="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2600" spc="-1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</a:t>
            </a:r>
            <a:r>
              <a:rPr lang="en-US" altLang="zh-CN" sz="2600" spc="-1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2600" spc="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store</a:t>
            </a:r>
            <a:r>
              <a:rPr lang="en-US" altLang="zh-CN" sz="26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  <a:r>
              <a:rPr lang="en-US" altLang="zh-CN" sz="2600" spc="7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software</a:t>
            </a:r>
            <a:r>
              <a:rPr lang="en-US" altLang="zh-CN" sz="2600" spc="-2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later</a:t>
            </a:r>
            <a:r>
              <a:rPr lang="en-US" altLang="zh-CN" sz="26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use.</a:t>
            </a:r>
            <a:r>
              <a:rPr lang="en-US" altLang="zh-CN" sz="2600" spc="-6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2600" spc="-1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</a:t>
            </a:r>
            <a:r>
              <a:rPr lang="en-US" altLang="zh-CN" sz="2600" spc="-2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will</a:t>
            </a:r>
            <a:r>
              <a:rPr lang="en-US" altLang="zh-CN" sz="26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make</a:t>
            </a:r>
            <a:r>
              <a:rPr lang="en-US" altLang="zh-CN" sz="2600" spc="7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</a:t>
            </a:r>
            <a:r>
              <a:rPr lang="en-US" altLang="zh-CN" sz="2600" spc="-2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</a:t>
            </a:r>
            <a:r>
              <a:rPr lang="en-US" altLang="zh-CN" sz="26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2600" spc="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</a:t>
            </a:r>
            <a:r>
              <a:rPr lang="en-US" altLang="zh-CN" sz="2600" spc="-4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-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effect</a:t>
            </a:r>
            <a:r>
              <a:rPr lang="en-US" altLang="zh-CN" sz="2600" spc="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2600" spc="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</a:t>
            </a:r>
            <a:r>
              <a:rPr lang="en-US" altLang="zh-CN" sz="2600" spc="-2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data.</a:t>
            </a:r>
            <a:r>
              <a:rPr lang="en-US" altLang="zh-CN" sz="2600" spc="7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2200" spc="13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CD,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DVD,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Blu-Ray</a:t>
            </a:r>
            <a:r>
              <a:rPr lang="en-US" altLang="zh-CN" sz="2200" spc="1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200" spc="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laser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burns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dark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pits</a:t>
            </a:r>
            <a:r>
              <a:rPr lang="en-US" altLang="zh-CN" sz="2200" spc="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onto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medium.</a:t>
            </a:r>
            <a:endParaRPr lang="en-US" altLang="zh-CN" sz="2200">
              <a:latin typeface="Arial"/>
              <a:ea typeface="Arial"/>
              <a:cs typeface="Arial"/>
            </a:endParaRPr>
          </a:p>
        </p:txBody>
      </p:sp>
      <p:sp>
        <p:nvSpPr>
          <p:cNvPr id="83" name="Text Box83"/>
          <p:cNvSpPr txBox="1"/>
          <p:nvPr/>
        </p:nvSpPr>
        <p:spPr>
          <a:xfrm>
            <a:off x="891540" y="3256485"/>
            <a:ext cx="3064636" cy="31096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2449"/>
              </a:lnSpc>
            </a:pP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</a:t>
            </a:r>
            <a:r>
              <a:rPr lang="en-US" altLang="zh-CN" sz="22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pit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binary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digit.</a:t>
            </a:r>
            <a:endParaRPr lang="en-US" altLang="zh-CN" sz="2200">
              <a:latin typeface="Arial"/>
              <a:ea typeface="Arial"/>
              <a:cs typeface="Arial"/>
            </a:endParaRPr>
          </a:p>
        </p:txBody>
      </p:sp>
      <p:sp>
        <p:nvSpPr>
          <p:cNvPr id="84" name="Text Box84"/>
          <p:cNvSpPr txBox="1"/>
          <p:nvPr/>
        </p:nvSpPr>
        <p:spPr>
          <a:xfrm>
            <a:off x="548640" y="3659076"/>
            <a:ext cx="7372264" cy="64624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marL="342900" indent="-342900" algn="l" rtl="0">
              <a:lnSpc>
                <a:spcPts val="2544"/>
              </a:lnSpc>
            </a:pP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2200" spc="13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drives</a:t>
            </a:r>
            <a:r>
              <a:rPr lang="en-US" altLang="zh-CN" sz="2200" spc="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magnetic</a:t>
            </a:r>
            <a:r>
              <a:rPr lang="en-US" altLang="zh-CN" sz="2200" spc="1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tape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magnetic</a:t>
            </a:r>
            <a:r>
              <a:rPr lang="en-US" altLang="zh-CN" sz="2200" spc="1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domains</a:t>
            </a:r>
            <a:r>
              <a:rPr lang="en-US" altLang="zh-CN" sz="2200" spc="1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</a:t>
            </a:r>
            <a:r>
              <a:rPr lang="en-US" altLang="zh-CN" sz="2200" spc="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data.</a:t>
            </a:r>
            <a:endParaRPr lang="en-US" altLang="zh-CN" sz="2200">
              <a:latin typeface="Arial"/>
              <a:ea typeface="Arial"/>
              <a:cs typeface="Arial"/>
            </a:endParaRPr>
          </a:p>
        </p:txBody>
      </p:sp>
      <p:sp>
        <p:nvSpPr>
          <p:cNvPr id="85" name="Text Box85"/>
          <p:cNvSpPr txBox="1"/>
          <p:nvPr/>
        </p:nvSpPr>
        <p:spPr>
          <a:xfrm>
            <a:off x="548640" y="4396692"/>
            <a:ext cx="6267295" cy="31096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2449"/>
              </a:lnSpc>
            </a:pP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  <a:r>
              <a:rPr lang="en-US" altLang="zh-CN" sz="2200" spc="13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Flash</a:t>
            </a:r>
            <a:r>
              <a:rPr lang="en-US" altLang="zh-CN" sz="2200" spc="-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drive</a:t>
            </a:r>
            <a:r>
              <a:rPr lang="en-US" altLang="zh-CN" sz="2200" spc="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electric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charge</a:t>
            </a:r>
            <a:r>
              <a:rPr lang="en-US" altLang="zh-CN" sz="2200" spc="1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store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</a:t>
            </a:r>
            <a:endParaRPr lang="en-US" altLang="zh-CN" sz="2200">
              <a:latin typeface="Arial"/>
              <a:ea typeface="Arial"/>
              <a:cs typeface="Arial"/>
            </a:endParaRPr>
          </a:p>
        </p:txBody>
      </p:sp>
      <p:sp>
        <p:nvSpPr>
          <p:cNvPr id="86" name="Text Box86"/>
          <p:cNvSpPr txBox="1"/>
          <p:nvPr/>
        </p:nvSpPr>
        <p:spPr>
          <a:xfrm>
            <a:off x="548640" y="5290161"/>
            <a:ext cx="8029740" cy="1161495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just" rtl="0">
              <a:lnSpc>
                <a:spcPts val="3049"/>
              </a:lnSpc>
            </a:pP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600" spc="-15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primary</a:t>
            </a:r>
            <a:r>
              <a:rPr lang="en-US" altLang="zh-CN" sz="2600" spc="-1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2600" spc="-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</a:t>
            </a:r>
            <a:r>
              <a:rPr lang="en-US" altLang="zh-CN" sz="2600" spc="-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2600" spc="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</a:t>
            </a:r>
            <a:r>
              <a:rPr lang="en-US" altLang="zh-CN" sz="2600" spc="-1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</a:t>
            </a:r>
            <a:r>
              <a:rPr lang="en-US" altLang="zh-CN" sz="2600" spc="-3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device,</a:t>
            </a:r>
            <a:r>
              <a:rPr lang="en-US" altLang="zh-CN" sz="2600" spc="-3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secondary</a:t>
            </a:r>
            <a:r>
              <a:rPr lang="en-US" altLang="zh-CN" sz="2600" spc="-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</a:t>
            </a:r>
            <a:r>
              <a:rPr lang="en-US" altLang="zh-CN" sz="2600" spc="-2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</a:t>
            </a:r>
            <a:r>
              <a:rPr lang="en-US" altLang="zh-CN" sz="2600" spc="-1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</a:t>
            </a:r>
            <a:r>
              <a:rPr lang="en-US" altLang="zh-CN" sz="26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</a:t>
            </a:r>
            <a:r>
              <a:rPr lang="en-US" altLang="zh-CN" sz="2600" spc="-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also</a:t>
            </a:r>
            <a:r>
              <a:rPr lang="en-US" altLang="zh-CN" sz="2600" spc="-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files,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</a:t>
            </a:r>
            <a:r>
              <a:rPr lang="en-US" altLang="zh-CN" sz="2600" spc="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is</a:t>
            </a:r>
            <a:r>
              <a:rPr lang="en-US" altLang="zh-CN" sz="2600" spc="-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2600" spc="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main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2600" spc="-1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you</a:t>
            </a:r>
            <a:r>
              <a:rPr lang="en-US" altLang="zh-CN" sz="26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use.</a:t>
            </a:r>
            <a:endParaRPr lang="en-US" altLang="zh-CN" sz="260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9096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1680" y="953600"/>
            <a:ext cx="5544615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0" dirty="0"/>
              <a:t>Secondary</a:t>
            </a:r>
            <a:r>
              <a:rPr spc="-10" dirty="0"/>
              <a:t> </a:t>
            </a:r>
            <a:r>
              <a:rPr spc="-260" dirty="0"/>
              <a:t>Memory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5590" y="2208403"/>
            <a:ext cx="6372753" cy="22281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9720" algn="l"/>
                <a:tab pos="3561079" algn="l"/>
              </a:tabLst>
            </a:pPr>
            <a:r>
              <a:rPr sz="2800" spc="-215" dirty="0">
                <a:latin typeface="Georgia"/>
                <a:cs typeface="Georgia"/>
              </a:rPr>
              <a:t>Permanent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210" dirty="0">
                <a:latin typeface="Georgia"/>
                <a:cs typeface="Georgia"/>
              </a:rPr>
              <a:t>memory</a:t>
            </a:r>
            <a:r>
              <a:rPr sz="2800" spc="4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185" dirty="0">
                <a:latin typeface="Georgia"/>
                <a:cs typeface="Georgia"/>
              </a:rPr>
              <a:t>the</a:t>
            </a:r>
            <a:r>
              <a:rPr sz="2800" spc="15" dirty="0">
                <a:latin typeface="Georgia"/>
                <a:cs typeface="Georgia"/>
              </a:rPr>
              <a:t> </a:t>
            </a:r>
            <a:r>
              <a:rPr sz="2800" spc="-200" dirty="0">
                <a:latin typeface="Georgia"/>
                <a:cs typeface="Georgia"/>
              </a:rPr>
              <a:t>system.</a:t>
            </a:r>
            <a:endParaRPr sz="28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195" dirty="0">
                <a:latin typeface="Georgia"/>
                <a:cs typeface="Georgia"/>
              </a:rPr>
              <a:t>More </a:t>
            </a:r>
            <a:r>
              <a:rPr sz="2800" spc="-180" dirty="0">
                <a:latin typeface="Georgia"/>
                <a:cs typeface="Georgia"/>
              </a:rPr>
              <a:t>storage</a:t>
            </a:r>
            <a:r>
              <a:rPr sz="2800" spc="-245" dirty="0">
                <a:latin typeface="Georgia"/>
                <a:cs typeface="Georgia"/>
              </a:rPr>
              <a:t> </a:t>
            </a:r>
            <a:r>
              <a:rPr sz="2800" spc="-210" dirty="0">
                <a:latin typeface="Georgia"/>
                <a:cs typeface="Georgia"/>
              </a:rPr>
              <a:t>capacity.</a:t>
            </a:r>
            <a:endParaRPr sz="28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130" dirty="0">
                <a:latin typeface="Georgia"/>
                <a:cs typeface="Georgia"/>
              </a:rPr>
              <a:t>It </a:t>
            </a:r>
            <a:r>
              <a:rPr sz="2800" spc="-190" dirty="0">
                <a:latin typeface="Georgia"/>
                <a:cs typeface="Georgia"/>
              </a:rPr>
              <a:t>is </a:t>
            </a:r>
            <a:r>
              <a:rPr sz="2800" spc="-185" dirty="0">
                <a:latin typeface="Georgia"/>
                <a:cs typeface="Georgia"/>
              </a:rPr>
              <a:t>the </a:t>
            </a:r>
            <a:r>
              <a:rPr sz="2800" spc="-190" dirty="0">
                <a:latin typeface="Georgia"/>
                <a:cs typeface="Georgia"/>
              </a:rPr>
              <a:t>Backing</a:t>
            </a:r>
            <a:r>
              <a:rPr sz="2800" spc="-400" dirty="0">
                <a:latin typeface="Georgia"/>
                <a:cs typeface="Georgia"/>
              </a:rPr>
              <a:t> </a:t>
            </a:r>
            <a:r>
              <a:rPr sz="2800" spc="-180" dirty="0" smtClean="0">
                <a:latin typeface="Georgia"/>
                <a:cs typeface="Georgia"/>
              </a:rPr>
              <a:t>Store.</a:t>
            </a:r>
            <a:endParaRPr lang="en-US" sz="2800" dirty="0">
              <a:latin typeface="Georgia"/>
              <a:cs typeface="Georgia"/>
            </a:endParaRPr>
          </a:p>
          <a:p>
            <a:pPr marL="12065">
              <a:lnSpc>
                <a:spcPct val="100000"/>
              </a:lnSpc>
              <a:buSzPct val="96428"/>
              <a:tabLst>
                <a:tab pos="299720" algn="l"/>
              </a:tabLst>
            </a:pPr>
            <a:endParaRPr lang="en-US" sz="2800" spc="-225" dirty="0">
              <a:latin typeface="Georgia"/>
              <a:cs typeface="Georgia"/>
            </a:endParaRPr>
          </a:p>
          <a:p>
            <a:pPr marL="12065">
              <a:lnSpc>
                <a:spcPct val="100000"/>
              </a:lnSpc>
              <a:buSzPct val="96428"/>
              <a:tabLst>
                <a:tab pos="299720" algn="l"/>
              </a:tabLst>
            </a:pPr>
            <a:r>
              <a:rPr lang="en-US" sz="2800" spc="-225" dirty="0">
                <a:latin typeface="Georgia"/>
                <a:cs typeface="Georgia"/>
              </a:rPr>
              <a:t> </a:t>
            </a:r>
            <a:r>
              <a:rPr lang="en-US" sz="2800" spc="-225" dirty="0" smtClean="0">
                <a:latin typeface="Georgia"/>
                <a:cs typeface="Georgia"/>
              </a:rPr>
              <a:t> Ex-</a:t>
            </a:r>
            <a:r>
              <a:rPr sz="3200" spc="-225" dirty="0" smtClean="0">
                <a:latin typeface="Georgia"/>
                <a:cs typeface="Georgia"/>
              </a:rPr>
              <a:t>Magnetic </a:t>
            </a:r>
            <a:r>
              <a:rPr sz="3200" spc="-140" dirty="0">
                <a:latin typeface="Georgia"/>
                <a:cs typeface="Georgia"/>
              </a:rPr>
              <a:t>Disk </a:t>
            </a:r>
            <a:r>
              <a:rPr sz="3200" spc="60" dirty="0">
                <a:latin typeface="Georgia"/>
                <a:cs typeface="Georgia"/>
              </a:rPr>
              <a:t>&amp; </a:t>
            </a:r>
            <a:r>
              <a:rPr sz="3200" spc="-160" dirty="0">
                <a:latin typeface="Georgia"/>
                <a:cs typeface="Georgia"/>
              </a:rPr>
              <a:t>Optical</a:t>
            </a:r>
            <a:r>
              <a:rPr sz="3200" spc="-195" dirty="0">
                <a:latin typeface="Georgia"/>
                <a:cs typeface="Georgia"/>
              </a:rPr>
              <a:t> </a:t>
            </a:r>
            <a:r>
              <a:rPr sz="3200" spc="-140" dirty="0">
                <a:latin typeface="Georgia"/>
                <a:cs typeface="Georgia"/>
              </a:rPr>
              <a:t>Disk</a:t>
            </a:r>
            <a:endParaRPr sz="32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61543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664" y="953600"/>
            <a:ext cx="5328592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Magnetic</a:t>
            </a:r>
            <a:r>
              <a:rPr spc="-40" dirty="0"/>
              <a:t> </a:t>
            </a:r>
            <a:r>
              <a:rPr spc="-135" dirty="0"/>
              <a:t>Disc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9362" y="2517090"/>
            <a:ext cx="5476933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80" dirty="0">
                <a:latin typeface="Georgia"/>
                <a:cs typeface="Georgia"/>
              </a:rPr>
              <a:t>Stored </a:t>
            </a:r>
            <a:r>
              <a:rPr sz="2800" spc="-229" dirty="0">
                <a:latin typeface="Georgia"/>
                <a:cs typeface="Georgia"/>
              </a:rPr>
              <a:t>data </a:t>
            </a:r>
            <a:r>
              <a:rPr sz="2800" spc="-204" dirty="0">
                <a:latin typeface="Georgia"/>
                <a:cs typeface="Georgia"/>
              </a:rPr>
              <a:t>in </a:t>
            </a:r>
            <a:r>
              <a:rPr sz="2800" spc="-190" dirty="0">
                <a:latin typeface="Georgia"/>
                <a:cs typeface="Georgia"/>
              </a:rPr>
              <a:t>the </a:t>
            </a:r>
            <a:r>
              <a:rPr sz="2800" spc="-135" dirty="0">
                <a:latin typeface="Georgia"/>
                <a:cs typeface="Georgia"/>
              </a:rPr>
              <a:t>form </a:t>
            </a:r>
            <a:r>
              <a:rPr sz="2800" spc="-50" dirty="0">
                <a:latin typeface="Georgia"/>
                <a:cs typeface="Georgia"/>
              </a:rPr>
              <a:t>of  </a:t>
            </a:r>
            <a:r>
              <a:rPr sz="2800" spc="-204" dirty="0">
                <a:latin typeface="Georgia"/>
                <a:cs typeface="Georgia"/>
              </a:rPr>
              <a:t>Magnetic</a:t>
            </a:r>
            <a:r>
              <a:rPr sz="2800" dirty="0">
                <a:latin typeface="Georgia"/>
                <a:cs typeface="Georgia"/>
              </a:rPr>
              <a:t> </a:t>
            </a:r>
            <a:r>
              <a:rPr sz="2800" spc="-185" dirty="0">
                <a:latin typeface="Georgia"/>
                <a:cs typeface="Georgia"/>
              </a:rPr>
              <a:t>directions.</a:t>
            </a:r>
            <a:endParaRPr sz="280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7704" y="4005064"/>
            <a:ext cx="446449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45" dirty="0">
                <a:latin typeface="Georgia"/>
                <a:cs typeface="Georgia"/>
              </a:rPr>
              <a:t>Hard </a:t>
            </a:r>
            <a:r>
              <a:rPr sz="3200" spc="-145" dirty="0">
                <a:latin typeface="Georgia"/>
                <a:cs typeface="Georgia"/>
              </a:rPr>
              <a:t>Disk </a:t>
            </a:r>
            <a:r>
              <a:rPr sz="3200" spc="60" dirty="0">
                <a:latin typeface="Georgia"/>
                <a:cs typeface="Georgia"/>
              </a:rPr>
              <a:t>&amp; </a:t>
            </a:r>
            <a:r>
              <a:rPr sz="3200" spc="-170" dirty="0">
                <a:latin typeface="Georgia"/>
                <a:cs typeface="Georgia"/>
              </a:rPr>
              <a:t>Floppy</a:t>
            </a:r>
            <a:r>
              <a:rPr sz="3200" spc="-160" dirty="0">
                <a:latin typeface="Georgia"/>
                <a:cs typeface="Georgia"/>
              </a:rPr>
              <a:t> </a:t>
            </a:r>
            <a:r>
              <a:rPr sz="3200" spc="-140" dirty="0">
                <a:latin typeface="Georgia"/>
                <a:cs typeface="Georgia"/>
              </a:rPr>
              <a:t>Disk</a:t>
            </a:r>
            <a:endParaRPr sz="32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68243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624" y="1069792"/>
            <a:ext cx="3711636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80" dirty="0"/>
              <a:t>Hard</a:t>
            </a:r>
            <a:r>
              <a:rPr spc="-50" dirty="0"/>
              <a:t> </a:t>
            </a:r>
            <a:r>
              <a:rPr spc="-160" dirty="0"/>
              <a:t>Disk</a:t>
            </a:r>
          </a:p>
        </p:txBody>
      </p:sp>
      <p:sp>
        <p:nvSpPr>
          <p:cNvPr id="3" name="object 3"/>
          <p:cNvSpPr/>
          <p:nvPr/>
        </p:nvSpPr>
        <p:spPr>
          <a:xfrm>
            <a:off x="4857750" y="1598675"/>
            <a:ext cx="3350133" cy="4466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9552" y="1798142"/>
            <a:ext cx="4359708" cy="38901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758190" indent="-28702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135" dirty="0">
                <a:latin typeface="Georgia"/>
                <a:cs typeface="Georgia"/>
              </a:rPr>
              <a:t>Access </a:t>
            </a:r>
            <a:r>
              <a:rPr sz="2800" spc="-120" dirty="0">
                <a:latin typeface="Georgia"/>
                <a:cs typeface="Georgia"/>
              </a:rPr>
              <a:t>to </a:t>
            </a:r>
            <a:r>
              <a:rPr sz="2800" spc="-229" dirty="0">
                <a:latin typeface="Georgia"/>
                <a:cs typeface="Georgia"/>
              </a:rPr>
              <a:t>data </a:t>
            </a:r>
            <a:r>
              <a:rPr sz="2800" spc="-185" dirty="0">
                <a:latin typeface="Georgia"/>
                <a:cs typeface="Georgia"/>
              </a:rPr>
              <a:t>is </a:t>
            </a:r>
            <a:r>
              <a:rPr sz="2800" spc="-170" dirty="0">
                <a:latin typeface="Georgia"/>
                <a:cs typeface="Georgia"/>
              </a:rPr>
              <a:t>far </a:t>
            </a:r>
            <a:r>
              <a:rPr sz="2800" spc="-175" dirty="0">
                <a:latin typeface="Georgia"/>
                <a:cs typeface="Georgia"/>
              </a:rPr>
              <a:t>faster </a:t>
            </a:r>
            <a:r>
              <a:rPr sz="2800" spc="-215" dirty="0">
                <a:latin typeface="Georgia"/>
                <a:cs typeface="Georgia"/>
              </a:rPr>
              <a:t>than  </a:t>
            </a:r>
            <a:r>
              <a:rPr sz="2800" spc="-185" dirty="0">
                <a:latin typeface="Georgia"/>
                <a:cs typeface="Georgia"/>
              </a:rPr>
              <a:t>access </a:t>
            </a:r>
            <a:r>
              <a:rPr sz="2800" spc="-120" dirty="0">
                <a:latin typeface="Georgia"/>
                <a:cs typeface="Georgia"/>
              </a:rPr>
              <a:t>to </a:t>
            </a:r>
            <a:r>
              <a:rPr sz="2800" spc="-229" dirty="0">
                <a:latin typeface="Georgia"/>
                <a:cs typeface="Georgia"/>
              </a:rPr>
              <a:t>data </a:t>
            </a:r>
            <a:r>
              <a:rPr sz="2800" spc="-204" dirty="0">
                <a:latin typeface="Georgia"/>
                <a:cs typeface="Georgia"/>
              </a:rPr>
              <a:t>in </a:t>
            </a:r>
            <a:r>
              <a:rPr sz="2800" spc="-130" dirty="0">
                <a:latin typeface="Georgia"/>
                <a:cs typeface="Georgia"/>
              </a:rPr>
              <a:t>floppy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spc="-204" dirty="0">
                <a:latin typeface="Georgia"/>
                <a:cs typeface="Georgia"/>
              </a:rPr>
              <a:t>disks.</a:t>
            </a:r>
            <a:endParaRPr sz="2800" dirty="0">
              <a:latin typeface="Georgia"/>
              <a:cs typeface="Georgia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200" dirty="0">
                <a:latin typeface="Georgia"/>
                <a:cs typeface="Georgia"/>
              </a:rPr>
              <a:t>Read/Write </a:t>
            </a:r>
            <a:r>
              <a:rPr sz="2800" spc="-215" dirty="0">
                <a:latin typeface="Georgia"/>
                <a:cs typeface="Georgia"/>
              </a:rPr>
              <a:t>Head </a:t>
            </a:r>
            <a:r>
              <a:rPr sz="2800" spc="-190" dirty="0">
                <a:latin typeface="Georgia"/>
                <a:cs typeface="Georgia"/>
              </a:rPr>
              <a:t>is </a:t>
            </a:r>
            <a:r>
              <a:rPr sz="2800" spc="-175" dirty="0">
                <a:latin typeface="Georgia"/>
                <a:cs typeface="Georgia"/>
              </a:rPr>
              <a:t>positioned </a:t>
            </a:r>
            <a:r>
              <a:rPr sz="2800" spc="-150" dirty="0">
                <a:latin typeface="Georgia"/>
                <a:cs typeface="Georgia"/>
              </a:rPr>
              <a:t>close  </a:t>
            </a:r>
            <a:r>
              <a:rPr sz="2800" spc="-120" dirty="0">
                <a:latin typeface="Georgia"/>
                <a:cs typeface="Georgia"/>
              </a:rPr>
              <a:t>to </a:t>
            </a:r>
            <a:r>
              <a:rPr sz="2800" spc="-185" dirty="0">
                <a:latin typeface="Georgia"/>
                <a:cs typeface="Georgia"/>
              </a:rPr>
              <a:t>the</a:t>
            </a:r>
            <a:r>
              <a:rPr sz="2800" spc="140" dirty="0">
                <a:latin typeface="Georgia"/>
                <a:cs typeface="Georgia"/>
              </a:rPr>
              <a:t> </a:t>
            </a:r>
            <a:r>
              <a:rPr sz="2800" spc="-185" dirty="0">
                <a:latin typeface="Georgia"/>
                <a:cs typeface="Georgia"/>
              </a:rPr>
              <a:t>disk.</a:t>
            </a:r>
            <a:endParaRPr sz="28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130" dirty="0">
                <a:latin typeface="Georgia"/>
                <a:cs typeface="Georgia"/>
              </a:rPr>
              <a:t>Disk </a:t>
            </a:r>
            <a:r>
              <a:rPr sz="2800" spc="-190" dirty="0">
                <a:latin typeface="Georgia"/>
                <a:cs typeface="Georgia"/>
              </a:rPr>
              <a:t>is </a:t>
            </a:r>
            <a:r>
              <a:rPr sz="2800" spc="-204" dirty="0">
                <a:latin typeface="Georgia"/>
                <a:cs typeface="Georgia"/>
              </a:rPr>
              <a:t>attached </a:t>
            </a:r>
            <a:r>
              <a:rPr sz="2800" spc="-120" dirty="0">
                <a:latin typeface="Georgia"/>
                <a:cs typeface="Georgia"/>
              </a:rPr>
              <a:t>to </a:t>
            </a:r>
            <a:r>
              <a:rPr sz="2800" spc="-280" dirty="0">
                <a:latin typeface="Georgia"/>
                <a:cs typeface="Georgia"/>
              </a:rPr>
              <a:t>a</a:t>
            </a:r>
            <a:r>
              <a:rPr sz="2800" spc="-215" dirty="0">
                <a:latin typeface="Georgia"/>
                <a:cs typeface="Georgia"/>
              </a:rPr>
              <a:t> </a:t>
            </a:r>
            <a:r>
              <a:rPr sz="2800" spc="-195" dirty="0">
                <a:latin typeface="Georgia"/>
                <a:cs typeface="Georgia"/>
              </a:rPr>
              <a:t>spindle.</a:t>
            </a:r>
            <a:endParaRPr sz="28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200" dirty="0">
                <a:latin typeface="Georgia"/>
                <a:cs typeface="Georgia"/>
              </a:rPr>
              <a:t>Spindle </a:t>
            </a:r>
            <a:r>
              <a:rPr sz="2800" spc="-190" dirty="0">
                <a:latin typeface="Georgia"/>
                <a:cs typeface="Georgia"/>
              </a:rPr>
              <a:t>is rotated </a:t>
            </a:r>
            <a:r>
              <a:rPr sz="2800" spc="-195" dirty="0">
                <a:latin typeface="Georgia"/>
                <a:cs typeface="Georgia"/>
              </a:rPr>
              <a:t>by</a:t>
            </a:r>
            <a:r>
              <a:rPr sz="2800" spc="65" dirty="0">
                <a:latin typeface="Georgia"/>
                <a:cs typeface="Georgia"/>
              </a:rPr>
              <a:t> </a:t>
            </a:r>
            <a:r>
              <a:rPr sz="2800" spc="-280" dirty="0">
                <a:latin typeface="Georgia"/>
                <a:cs typeface="Georgia"/>
              </a:rPr>
              <a:t>a </a:t>
            </a:r>
            <a:r>
              <a:rPr sz="2800" spc="-185" dirty="0">
                <a:latin typeface="Georgia"/>
                <a:cs typeface="Georgia"/>
              </a:rPr>
              <a:t>motor.</a:t>
            </a:r>
            <a:endParaRPr sz="2800" dirty="0">
              <a:latin typeface="Georgia"/>
              <a:cs typeface="Georgia"/>
            </a:endParaRPr>
          </a:p>
          <a:p>
            <a:pPr marL="299085" marR="73025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  <a:tab pos="730250" algn="l"/>
                <a:tab pos="1642745" algn="l"/>
              </a:tabLst>
            </a:pPr>
            <a:r>
              <a:rPr sz="2800" spc="-200" dirty="0">
                <a:latin typeface="Georgia"/>
                <a:cs typeface="Georgia"/>
              </a:rPr>
              <a:t>Speed</a:t>
            </a:r>
            <a:r>
              <a:rPr sz="2800" spc="2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195" dirty="0">
                <a:latin typeface="Georgia"/>
                <a:cs typeface="Georgia"/>
              </a:rPr>
              <a:t>disk </a:t>
            </a:r>
            <a:r>
              <a:rPr sz="2800" spc="-200" dirty="0">
                <a:latin typeface="Georgia"/>
                <a:cs typeface="Georgia"/>
              </a:rPr>
              <a:t>depends </a:t>
            </a:r>
            <a:r>
              <a:rPr sz="2800" spc="-160" dirty="0">
                <a:latin typeface="Georgia"/>
                <a:cs typeface="Georgia"/>
              </a:rPr>
              <a:t>on </a:t>
            </a:r>
            <a:r>
              <a:rPr sz="2800" spc="-185" dirty="0">
                <a:latin typeface="Georgia"/>
                <a:cs typeface="Georgia"/>
              </a:rPr>
              <a:t>the </a:t>
            </a:r>
            <a:r>
              <a:rPr sz="2800" spc="-195" dirty="0">
                <a:latin typeface="Georgia"/>
                <a:cs typeface="Georgia"/>
              </a:rPr>
              <a:t>speed 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185" dirty="0">
                <a:latin typeface="Georgia"/>
                <a:cs typeface="Georgia"/>
              </a:rPr>
              <a:t>motor.</a:t>
            </a:r>
            <a:endParaRPr sz="28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07137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279725"/>
            <a:ext cx="7061408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Floppy</a:t>
            </a:r>
            <a:r>
              <a:rPr spc="-20" dirty="0"/>
              <a:t> </a:t>
            </a:r>
            <a:r>
              <a:rPr spc="-165" dirty="0"/>
              <a:t>Disk</a:t>
            </a:r>
          </a:p>
        </p:txBody>
      </p:sp>
      <p:sp>
        <p:nvSpPr>
          <p:cNvPr id="3" name="object 3"/>
          <p:cNvSpPr/>
          <p:nvPr/>
        </p:nvSpPr>
        <p:spPr>
          <a:xfrm>
            <a:off x="6640830" y="1429507"/>
            <a:ext cx="1424245" cy="4584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2350" y="2056892"/>
            <a:ext cx="4997768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140" dirty="0">
                <a:latin typeface="Georgia"/>
                <a:cs typeface="Georgia"/>
              </a:rPr>
              <a:t>Consists </a:t>
            </a:r>
            <a:r>
              <a:rPr sz="2400" spc="-40" dirty="0">
                <a:latin typeface="Georgia"/>
                <a:cs typeface="Georgia"/>
              </a:rPr>
              <a:t>of </a:t>
            </a:r>
            <a:r>
              <a:rPr sz="2400" spc="-235" dirty="0">
                <a:latin typeface="Georgia"/>
                <a:cs typeface="Georgia"/>
              </a:rPr>
              <a:t>a </a:t>
            </a:r>
            <a:r>
              <a:rPr sz="2400" spc="-155" dirty="0">
                <a:latin typeface="Georgia"/>
                <a:cs typeface="Georgia"/>
              </a:rPr>
              <a:t>plastic </a:t>
            </a:r>
            <a:r>
              <a:rPr sz="2400" spc="-165" dirty="0">
                <a:latin typeface="Georgia"/>
                <a:cs typeface="Georgia"/>
              </a:rPr>
              <a:t>disk </a:t>
            </a:r>
            <a:r>
              <a:rPr sz="2400" spc="-150" dirty="0">
                <a:latin typeface="Georgia"/>
                <a:cs typeface="Georgia"/>
              </a:rPr>
              <a:t>coated</a:t>
            </a:r>
            <a:r>
              <a:rPr sz="2400" spc="210" dirty="0">
                <a:latin typeface="Georgia"/>
                <a:cs typeface="Georgia"/>
              </a:rPr>
              <a:t> </a:t>
            </a:r>
            <a:r>
              <a:rPr sz="2400" spc="-160" dirty="0">
                <a:latin typeface="Georgia"/>
                <a:cs typeface="Georgia"/>
              </a:rPr>
              <a:t>with </a:t>
            </a:r>
            <a:r>
              <a:rPr sz="2400" spc="-150" dirty="0">
                <a:latin typeface="Georgia"/>
                <a:cs typeface="Georgia"/>
              </a:rPr>
              <a:t>iron </a:t>
            </a:r>
            <a:r>
              <a:rPr sz="2400" spc="-155" dirty="0">
                <a:latin typeface="Georgia"/>
                <a:cs typeface="Georgia"/>
              </a:rPr>
              <a:t>oxide.</a:t>
            </a:r>
            <a:endParaRPr sz="2400">
              <a:latin typeface="Georgia"/>
              <a:cs typeface="Georgia"/>
            </a:endParaRPr>
          </a:p>
          <a:p>
            <a:pPr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110" dirty="0">
                <a:latin typeface="Georgia"/>
                <a:cs typeface="Georgia"/>
              </a:rPr>
              <a:t>Disk </a:t>
            </a:r>
            <a:r>
              <a:rPr sz="2400" spc="-155" dirty="0">
                <a:latin typeface="Georgia"/>
                <a:cs typeface="Georgia"/>
              </a:rPr>
              <a:t>access </a:t>
            </a:r>
            <a:r>
              <a:rPr sz="2400" spc="-200" dirty="0">
                <a:latin typeface="Georgia"/>
                <a:cs typeface="Georgia"/>
              </a:rPr>
              <a:t>mechanism </a:t>
            </a:r>
            <a:r>
              <a:rPr sz="2400" spc="-160" dirty="0">
                <a:latin typeface="Georgia"/>
                <a:cs typeface="Georgia"/>
              </a:rPr>
              <a:t>is </a:t>
            </a:r>
            <a:r>
              <a:rPr sz="2400" spc="-180" dirty="0">
                <a:latin typeface="Georgia"/>
                <a:cs typeface="Georgia"/>
              </a:rPr>
              <a:t>arranged </a:t>
            </a:r>
            <a:r>
              <a:rPr sz="2400" spc="-204" dirty="0">
                <a:latin typeface="Georgia"/>
                <a:cs typeface="Georgia"/>
              </a:rPr>
              <a:t>as </a:t>
            </a:r>
            <a:r>
              <a:rPr sz="2400" spc="-235" dirty="0">
                <a:latin typeface="Georgia"/>
                <a:cs typeface="Georgia"/>
              </a:rPr>
              <a:t>a </a:t>
            </a:r>
            <a:r>
              <a:rPr sz="2400" spc="-200" dirty="0">
                <a:latin typeface="Georgia"/>
                <a:cs typeface="Georgia"/>
              </a:rPr>
              <a:t>hardware </a:t>
            </a:r>
            <a:r>
              <a:rPr sz="2400" spc="-175" dirty="0">
                <a:latin typeface="Georgia"/>
                <a:cs typeface="Georgia"/>
              </a:rPr>
              <a:t>unit  </a:t>
            </a:r>
            <a:r>
              <a:rPr sz="2400" spc="-160" dirty="0">
                <a:latin typeface="Georgia"/>
                <a:cs typeface="Georgia"/>
              </a:rPr>
              <a:t>called </a:t>
            </a:r>
            <a:r>
              <a:rPr sz="2400" spc="-165" dirty="0">
                <a:latin typeface="Georgia"/>
                <a:cs typeface="Georgia"/>
              </a:rPr>
              <a:t>disk</a:t>
            </a:r>
            <a:r>
              <a:rPr sz="2400" spc="-235" dirty="0">
                <a:latin typeface="Georgia"/>
                <a:cs typeface="Georgia"/>
              </a:rPr>
              <a:t> </a:t>
            </a:r>
            <a:r>
              <a:rPr sz="2400" spc="-170" dirty="0">
                <a:latin typeface="Georgia"/>
                <a:cs typeface="Georgia"/>
              </a:rPr>
              <a:t>drive.</a:t>
            </a:r>
            <a:endParaRPr sz="240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120" dirty="0">
                <a:latin typeface="Georgia"/>
                <a:cs typeface="Georgia"/>
              </a:rPr>
              <a:t>Drive </a:t>
            </a:r>
            <a:r>
              <a:rPr sz="2400" spc="-160" dirty="0">
                <a:latin typeface="Georgia"/>
                <a:cs typeface="Georgia"/>
              </a:rPr>
              <a:t>contains </a:t>
            </a:r>
            <a:r>
              <a:rPr sz="2400" spc="-155" dirty="0">
                <a:latin typeface="Georgia"/>
                <a:cs typeface="Georgia"/>
              </a:rPr>
              <a:t>motor, </a:t>
            </a:r>
            <a:r>
              <a:rPr sz="2400" spc="-175" dirty="0">
                <a:latin typeface="Georgia"/>
                <a:cs typeface="Georgia"/>
              </a:rPr>
              <a:t>Read/Write </a:t>
            </a:r>
            <a:r>
              <a:rPr sz="2400" spc="-185" dirty="0">
                <a:latin typeface="Georgia"/>
                <a:cs typeface="Georgia"/>
              </a:rPr>
              <a:t>Head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45" dirty="0">
                <a:latin typeface="Georgia"/>
                <a:cs typeface="Georgia"/>
              </a:rPr>
              <a:t>etc.</a:t>
            </a:r>
            <a:endParaRPr sz="2400">
              <a:latin typeface="Georgia"/>
              <a:cs typeface="Georgia"/>
            </a:endParaRPr>
          </a:p>
          <a:p>
            <a:pPr marL="299085" marR="1905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185" dirty="0">
                <a:latin typeface="Georgia"/>
                <a:cs typeface="Georgia"/>
              </a:rPr>
              <a:t>Head </a:t>
            </a:r>
            <a:r>
              <a:rPr sz="2400" spc="-155" dirty="0">
                <a:latin typeface="Georgia"/>
                <a:cs typeface="Georgia"/>
              </a:rPr>
              <a:t>comes </a:t>
            </a:r>
            <a:r>
              <a:rPr sz="2400" spc="-175" dirty="0">
                <a:latin typeface="Georgia"/>
                <a:cs typeface="Georgia"/>
              </a:rPr>
              <a:t>in </a:t>
            </a:r>
            <a:r>
              <a:rPr sz="2400" spc="-140" dirty="0">
                <a:latin typeface="Georgia"/>
                <a:cs typeface="Georgia"/>
              </a:rPr>
              <a:t>contact </a:t>
            </a:r>
            <a:r>
              <a:rPr sz="2400" spc="-160" dirty="0">
                <a:latin typeface="Georgia"/>
                <a:cs typeface="Georgia"/>
              </a:rPr>
              <a:t>with </a:t>
            </a:r>
            <a:r>
              <a:rPr sz="2400" spc="-155" dirty="0">
                <a:latin typeface="Georgia"/>
                <a:cs typeface="Georgia"/>
              </a:rPr>
              <a:t>the </a:t>
            </a:r>
            <a:r>
              <a:rPr sz="2400" spc="-165" dirty="0">
                <a:latin typeface="Georgia"/>
                <a:cs typeface="Georgia"/>
              </a:rPr>
              <a:t>disk </a:t>
            </a:r>
            <a:r>
              <a:rPr sz="2400" spc="-160" dirty="0">
                <a:latin typeface="Georgia"/>
                <a:cs typeface="Georgia"/>
              </a:rPr>
              <a:t>through </a:t>
            </a:r>
            <a:r>
              <a:rPr sz="2400" spc="-155" dirty="0">
                <a:latin typeface="Georgia"/>
                <a:cs typeface="Georgia"/>
              </a:rPr>
              <a:t>the </a:t>
            </a:r>
            <a:r>
              <a:rPr sz="2400" spc="-200" dirty="0">
                <a:latin typeface="Georgia"/>
                <a:cs typeface="Georgia"/>
              </a:rPr>
              <a:t>data  </a:t>
            </a:r>
            <a:r>
              <a:rPr sz="2400" spc="-155" dirty="0">
                <a:latin typeface="Georgia"/>
                <a:cs typeface="Georgia"/>
              </a:rPr>
              <a:t>access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spc="-190" dirty="0">
                <a:latin typeface="Georgia"/>
                <a:cs typeface="Georgia"/>
              </a:rPr>
              <a:t>area.</a:t>
            </a:r>
            <a:endParaRPr sz="240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spc="-110" dirty="0">
                <a:latin typeface="Georgia"/>
                <a:cs typeface="Georgia"/>
              </a:rPr>
              <a:t>Disk </a:t>
            </a:r>
            <a:r>
              <a:rPr sz="2400" spc="-160" dirty="0">
                <a:latin typeface="Georgia"/>
                <a:cs typeface="Georgia"/>
              </a:rPr>
              <a:t>is rotated </a:t>
            </a:r>
            <a:r>
              <a:rPr sz="2400" spc="-100" dirty="0">
                <a:latin typeface="Georgia"/>
                <a:cs typeface="Georgia"/>
              </a:rPr>
              <a:t>to </a:t>
            </a:r>
            <a:r>
              <a:rPr sz="2400" spc="-180" dirty="0">
                <a:latin typeface="Georgia"/>
                <a:cs typeface="Georgia"/>
              </a:rPr>
              <a:t>pass </a:t>
            </a:r>
            <a:r>
              <a:rPr sz="2400" spc="-160" dirty="0">
                <a:latin typeface="Georgia"/>
                <a:cs typeface="Georgia"/>
              </a:rPr>
              <a:t>the </a:t>
            </a:r>
            <a:r>
              <a:rPr sz="2400" spc="-140" dirty="0">
                <a:latin typeface="Georgia"/>
                <a:cs typeface="Georgia"/>
              </a:rPr>
              <a:t>sectors </a:t>
            </a:r>
            <a:r>
              <a:rPr sz="2400" spc="-155" dirty="0">
                <a:latin typeface="Georgia"/>
                <a:cs typeface="Georgia"/>
              </a:rPr>
              <a:t>through the</a:t>
            </a:r>
            <a:r>
              <a:rPr sz="2400" spc="60" dirty="0">
                <a:latin typeface="Georgia"/>
                <a:cs typeface="Georgia"/>
              </a:rPr>
              <a:t> </a:t>
            </a:r>
            <a:r>
              <a:rPr sz="2400" spc="-170" dirty="0">
                <a:latin typeface="Georgia"/>
                <a:cs typeface="Georgia"/>
              </a:rPr>
              <a:t>head</a:t>
            </a:r>
            <a:r>
              <a:rPr sz="1800" spc="-170" dirty="0">
                <a:latin typeface="Georgia"/>
                <a:cs typeface="Georgia"/>
              </a:rPr>
              <a:t>.</a:t>
            </a:r>
            <a:endParaRPr sz="18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61439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3596" y="692066"/>
            <a:ext cx="3554312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Optical</a:t>
            </a:r>
            <a:r>
              <a:rPr spc="-30" dirty="0"/>
              <a:t> </a:t>
            </a:r>
            <a:r>
              <a:rPr spc="-245" dirty="0"/>
              <a:t>disk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02586" y="4765548"/>
            <a:ext cx="4589145" cy="1666239"/>
            <a:chOff x="3203448" y="4765547"/>
            <a:chExt cx="6118860" cy="1666239"/>
          </a:xfrm>
        </p:grpSpPr>
        <p:sp>
          <p:nvSpPr>
            <p:cNvPr id="4" name="object 4"/>
            <p:cNvSpPr/>
            <p:nvPr/>
          </p:nvSpPr>
          <p:spPr>
            <a:xfrm>
              <a:off x="3203448" y="4765547"/>
              <a:ext cx="684276" cy="56845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25012" y="4765547"/>
              <a:ext cx="434339" cy="56845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96640" y="4765547"/>
              <a:ext cx="925067" cy="5684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58996" y="4765547"/>
              <a:ext cx="477012" cy="5684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31208" y="4765547"/>
              <a:ext cx="1647443" cy="5684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15940" y="4765547"/>
              <a:ext cx="434339" cy="56845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87568" y="4765547"/>
              <a:ext cx="2148840" cy="56845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3448" y="5039867"/>
              <a:ext cx="740663" cy="5684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81400" y="5039867"/>
              <a:ext cx="477012" cy="5684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52088" y="5039867"/>
              <a:ext cx="563879" cy="56845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53256" y="5039867"/>
              <a:ext cx="477012" cy="5684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23944" y="5039867"/>
              <a:ext cx="1705355" cy="5684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66588" y="5039867"/>
              <a:ext cx="477012" cy="5684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38800" y="5039867"/>
              <a:ext cx="1399031" cy="56845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3448" y="5314187"/>
              <a:ext cx="684276" cy="5684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25012" y="5314187"/>
              <a:ext cx="434339" cy="5684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6640" y="5314187"/>
              <a:ext cx="757427" cy="568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91356" y="5314187"/>
              <a:ext cx="477012" cy="5684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63568" y="5314187"/>
              <a:ext cx="1705356" cy="56845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06212" y="5314187"/>
              <a:ext cx="477012" cy="5684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76900" y="5314187"/>
              <a:ext cx="1298448" cy="56845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203448" y="5588507"/>
              <a:ext cx="920496" cy="56845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61232" y="5588507"/>
              <a:ext cx="477012" cy="5684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33444" y="5588507"/>
              <a:ext cx="926591" cy="568452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97324" y="5588507"/>
              <a:ext cx="477012" cy="5684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68012" y="5588507"/>
              <a:ext cx="2305812" cy="56845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11112" y="5588507"/>
              <a:ext cx="477011" cy="5684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81800" y="5588507"/>
              <a:ext cx="2116836" cy="56845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03448" y="5862827"/>
              <a:ext cx="920496" cy="56845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761232" y="5862827"/>
              <a:ext cx="477012" cy="5684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33444" y="5862827"/>
              <a:ext cx="908303" cy="56845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79036" y="5862827"/>
              <a:ext cx="434339" cy="5684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07052" y="5862827"/>
              <a:ext cx="2305811" cy="56845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50151" y="5862827"/>
              <a:ext cx="477011" cy="56845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20839" y="5862827"/>
              <a:ext cx="2601468" cy="56845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76883" y="1412776"/>
            <a:ext cx="7195517" cy="53982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130" dirty="0">
                <a:latin typeface="Georgia"/>
                <a:cs typeface="Georgia"/>
              </a:rPr>
              <a:t>It </a:t>
            </a:r>
            <a:r>
              <a:rPr sz="2800" spc="-190" dirty="0">
                <a:latin typeface="Georgia"/>
                <a:cs typeface="Georgia"/>
              </a:rPr>
              <a:t>is </a:t>
            </a:r>
            <a:r>
              <a:rPr sz="2800" spc="-254" dirty="0">
                <a:latin typeface="Georgia"/>
                <a:cs typeface="Georgia"/>
              </a:rPr>
              <a:t>an </a:t>
            </a:r>
            <a:r>
              <a:rPr sz="2800" spc="-165" dirty="0">
                <a:latin typeface="Georgia"/>
                <a:cs typeface="Georgia"/>
              </a:rPr>
              <a:t>electronic </a:t>
            </a:r>
            <a:r>
              <a:rPr sz="2800" spc="-180" dirty="0">
                <a:latin typeface="Georgia"/>
                <a:cs typeface="Georgia"/>
              </a:rPr>
              <a:t>storage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229" dirty="0">
                <a:latin typeface="Georgia"/>
                <a:cs typeface="Georgia"/>
              </a:rPr>
              <a:t>medium.</a:t>
            </a:r>
            <a:endParaRPr sz="2800" dirty="0">
              <a:latin typeface="Georgia"/>
              <a:cs typeface="Georgia"/>
            </a:endParaRPr>
          </a:p>
          <a:p>
            <a:pPr marL="299085" marR="1706245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245" dirty="0">
                <a:latin typeface="Georgia"/>
                <a:cs typeface="Georgia"/>
              </a:rPr>
              <a:t>Read </a:t>
            </a:r>
            <a:r>
              <a:rPr sz="2800" spc="-180" dirty="0">
                <a:latin typeface="Georgia"/>
                <a:cs typeface="Georgia"/>
              </a:rPr>
              <a:t>operation </a:t>
            </a:r>
            <a:r>
              <a:rPr sz="2800" spc="-190" dirty="0">
                <a:latin typeface="Georgia"/>
                <a:cs typeface="Georgia"/>
              </a:rPr>
              <a:t>is </a:t>
            </a:r>
            <a:r>
              <a:rPr sz="2800" spc="-180" dirty="0">
                <a:latin typeface="Georgia"/>
                <a:cs typeface="Georgia"/>
              </a:rPr>
              <a:t>done </a:t>
            </a:r>
            <a:r>
              <a:rPr sz="2800" spc="-204" dirty="0">
                <a:latin typeface="Georgia"/>
                <a:cs typeface="Georgia"/>
              </a:rPr>
              <a:t>using </a:t>
            </a:r>
            <a:r>
              <a:rPr sz="2800" spc="-165" dirty="0">
                <a:latin typeface="Georgia"/>
                <a:cs typeface="Georgia"/>
              </a:rPr>
              <a:t>low </a:t>
            </a:r>
            <a:r>
              <a:rPr sz="2800" spc="-195" dirty="0">
                <a:latin typeface="Georgia"/>
                <a:cs typeface="Georgia"/>
              </a:rPr>
              <a:t>powered  </a:t>
            </a:r>
            <a:r>
              <a:rPr sz="2800" spc="-210" dirty="0">
                <a:latin typeface="Georgia"/>
                <a:cs typeface="Georgia"/>
              </a:rPr>
              <a:t>laser</a:t>
            </a:r>
            <a:r>
              <a:rPr sz="2800" spc="25" dirty="0">
                <a:latin typeface="Georgia"/>
                <a:cs typeface="Georgia"/>
              </a:rPr>
              <a:t> </a:t>
            </a:r>
            <a:r>
              <a:rPr sz="2800" spc="-215" dirty="0">
                <a:latin typeface="Georgia"/>
                <a:cs typeface="Georgia"/>
              </a:rPr>
              <a:t>beam.</a:t>
            </a:r>
            <a:endParaRPr sz="2800" dirty="0">
              <a:latin typeface="Georgia"/>
              <a:cs typeface="Georgia"/>
            </a:endParaRPr>
          </a:p>
          <a:p>
            <a:pPr marL="299085" marR="1936750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15" dirty="0">
                <a:latin typeface="Georgia"/>
                <a:cs typeface="Georgia"/>
              </a:rPr>
              <a:t>A </a:t>
            </a:r>
            <a:r>
              <a:rPr sz="2800" spc="-210" dirty="0">
                <a:latin typeface="Georgia"/>
                <a:cs typeface="Georgia"/>
              </a:rPr>
              <a:t>laser </a:t>
            </a:r>
            <a:r>
              <a:rPr sz="2800" spc="-225" dirty="0">
                <a:latin typeface="Georgia"/>
                <a:cs typeface="Georgia"/>
              </a:rPr>
              <a:t>read </a:t>
            </a:r>
            <a:r>
              <a:rPr sz="2800" spc="-185" dirty="0">
                <a:latin typeface="Georgia"/>
                <a:cs typeface="Georgia"/>
              </a:rPr>
              <a:t>the </a:t>
            </a:r>
            <a:r>
              <a:rPr sz="2800" spc="-160" dirty="0">
                <a:latin typeface="Georgia"/>
                <a:cs typeface="Georgia"/>
              </a:rPr>
              <a:t>dots </a:t>
            </a:r>
            <a:r>
              <a:rPr sz="2800" spc="-240" dirty="0">
                <a:latin typeface="Georgia"/>
                <a:cs typeface="Georgia"/>
              </a:rPr>
              <a:t>and </a:t>
            </a:r>
            <a:r>
              <a:rPr sz="2800" spc="-195" dirty="0">
                <a:latin typeface="Georgia"/>
                <a:cs typeface="Georgia"/>
              </a:rPr>
              <a:t>then </a:t>
            </a:r>
            <a:r>
              <a:rPr sz="2800" spc="-185" dirty="0">
                <a:latin typeface="Georgia"/>
                <a:cs typeface="Georgia"/>
              </a:rPr>
              <a:t>the </a:t>
            </a:r>
            <a:r>
              <a:rPr sz="2800" spc="-229" dirty="0">
                <a:latin typeface="Georgia"/>
                <a:cs typeface="Georgia"/>
              </a:rPr>
              <a:t>data </a:t>
            </a:r>
            <a:r>
              <a:rPr sz="2800" spc="-185" dirty="0">
                <a:latin typeface="Georgia"/>
                <a:cs typeface="Georgia"/>
              </a:rPr>
              <a:t>is  </a:t>
            </a:r>
            <a:r>
              <a:rPr sz="2800" spc="-165" dirty="0">
                <a:latin typeface="Georgia"/>
                <a:cs typeface="Georgia"/>
              </a:rPr>
              <a:t>converted </a:t>
            </a:r>
            <a:r>
              <a:rPr sz="2800" spc="-120" dirty="0">
                <a:latin typeface="Georgia"/>
                <a:cs typeface="Georgia"/>
              </a:rPr>
              <a:t>to </a:t>
            </a:r>
            <a:r>
              <a:rPr sz="2800" spc="-254" dirty="0">
                <a:latin typeface="Georgia"/>
                <a:cs typeface="Georgia"/>
              </a:rPr>
              <a:t>an </a:t>
            </a:r>
            <a:r>
              <a:rPr sz="2800" spc="-175" dirty="0">
                <a:latin typeface="Georgia"/>
                <a:cs typeface="Georgia"/>
              </a:rPr>
              <a:t>electrical </a:t>
            </a:r>
            <a:r>
              <a:rPr sz="2800" spc="-210" dirty="0">
                <a:latin typeface="Georgia"/>
                <a:cs typeface="Georgia"/>
              </a:rPr>
              <a:t>signal</a:t>
            </a:r>
            <a:r>
              <a:rPr sz="2800" spc="-130" dirty="0">
                <a:latin typeface="Georgia"/>
                <a:cs typeface="Georgia"/>
              </a:rPr>
              <a:t> </a:t>
            </a:r>
            <a:r>
              <a:rPr sz="2800" spc="-145" dirty="0">
                <a:latin typeface="Georgia"/>
                <a:cs typeface="Georgia"/>
              </a:rPr>
              <a:t>.</a:t>
            </a:r>
            <a:endParaRPr sz="2800" dirty="0">
              <a:latin typeface="Georgia"/>
              <a:cs typeface="Georgia"/>
            </a:endParaRPr>
          </a:p>
          <a:p>
            <a:pPr marL="299085" marR="1742439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  <a:tab pos="3166110" algn="l"/>
              </a:tabLst>
            </a:pPr>
            <a:r>
              <a:rPr sz="2800" spc="-125" dirty="0">
                <a:latin typeface="Georgia"/>
                <a:cs typeface="Georgia"/>
              </a:rPr>
              <a:t>The </a:t>
            </a:r>
            <a:r>
              <a:rPr sz="2800" spc="-180" dirty="0">
                <a:latin typeface="Georgia"/>
                <a:cs typeface="Georgia"/>
              </a:rPr>
              <a:t>output</a:t>
            </a:r>
            <a:r>
              <a:rPr sz="2800" spc="190" dirty="0">
                <a:latin typeface="Georgia"/>
                <a:cs typeface="Georgia"/>
              </a:rPr>
              <a:t> </a:t>
            </a:r>
            <a:r>
              <a:rPr sz="2800" spc="-130" dirty="0">
                <a:latin typeface="Georgia"/>
                <a:cs typeface="Georgia"/>
              </a:rPr>
              <a:t>form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185" dirty="0">
                <a:latin typeface="Georgia"/>
                <a:cs typeface="Georgia"/>
              </a:rPr>
              <a:t>this </a:t>
            </a:r>
            <a:r>
              <a:rPr sz="2800" spc="-175" dirty="0">
                <a:latin typeface="Georgia"/>
                <a:cs typeface="Georgia"/>
              </a:rPr>
              <a:t>devise </a:t>
            </a:r>
            <a:r>
              <a:rPr sz="2800" spc="-195" dirty="0">
                <a:latin typeface="Georgia"/>
                <a:cs typeface="Georgia"/>
              </a:rPr>
              <a:t>is </a:t>
            </a:r>
            <a:r>
              <a:rPr sz="2800" spc="-204" dirty="0">
                <a:latin typeface="Georgia"/>
                <a:cs typeface="Georgia"/>
              </a:rPr>
              <a:t>in audio  </a:t>
            </a:r>
            <a:r>
              <a:rPr sz="2800" spc="-245" dirty="0">
                <a:latin typeface="Georgia"/>
                <a:cs typeface="Georgia"/>
              </a:rPr>
              <a:t>and </a:t>
            </a:r>
            <a:r>
              <a:rPr sz="2800" spc="-195" dirty="0">
                <a:latin typeface="Georgia"/>
                <a:cs typeface="Georgia"/>
              </a:rPr>
              <a:t>visual</a:t>
            </a:r>
            <a:r>
              <a:rPr sz="2800" spc="-135" dirty="0">
                <a:latin typeface="Georgia"/>
                <a:cs typeface="Georgia"/>
              </a:rPr>
              <a:t> </a:t>
            </a:r>
            <a:r>
              <a:rPr sz="2800" spc="-155" dirty="0" smtClean="0">
                <a:latin typeface="Georgia"/>
                <a:cs typeface="Georgia"/>
              </a:rPr>
              <a:t>format</a:t>
            </a:r>
            <a:endParaRPr lang="en-US" sz="2800" dirty="0">
              <a:latin typeface="Georgia"/>
              <a:cs typeface="Georgia"/>
            </a:endParaRPr>
          </a:p>
          <a:p>
            <a:pPr marL="299085" marR="1742439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  <a:tab pos="3166110" algn="l"/>
              </a:tabLst>
            </a:pPr>
            <a:r>
              <a:rPr sz="1800" spc="-65" dirty="0" smtClean="0">
                <a:latin typeface="Georgia"/>
                <a:cs typeface="Georgia"/>
              </a:rPr>
              <a:t>CD-ROM </a:t>
            </a:r>
            <a:r>
              <a:rPr sz="1800" spc="-260" dirty="0">
                <a:latin typeface="Georgia"/>
                <a:cs typeface="Georgia"/>
              </a:rPr>
              <a:t>–</a:t>
            </a:r>
            <a:r>
              <a:rPr sz="1800" spc="-90" dirty="0">
                <a:latin typeface="Georgia"/>
                <a:cs typeface="Georgia"/>
              </a:rPr>
              <a:t> </a:t>
            </a:r>
            <a:r>
              <a:rPr sz="1800" spc="-105" dirty="0">
                <a:latin typeface="Georgia"/>
                <a:cs typeface="Georgia"/>
              </a:rPr>
              <a:t>Compact </a:t>
            </a:r>
            <a:r>
              <a:rPr sz="1800" spc="-120" dirty="0">
                <a:latin typeface="Georgia"/>
                <a:cs typeface="Georgia"/>
              </a:rPr>
              <a:t>Disk-Read </a:t>
            </a:r>
            <a:r>
              <a:rPr sz="1800" spc="-85" dirty="0">
                <a:latin typeface="Georgia"/>
                <a:cs typeface="Georgia"/>
              </a:rPr>
              <a:t>Only </a:t>
            </a:r>
            <a:r>
              <a:rPr sz="1800" spc="-150" dirty="0">
                <a:latin typeface="Georgia"/>
                <a:cs typeface="Georgia"/>
              </a:rPr>
              <a:t>Memory. </a:t>
            </a:r>
            <a:endParaRPr lang="en-US" sz="1800" spc="-150" dirty="0" smtClean="0">
              <a:latin typeface="Georgia"/>
              <a:cs typeface="Georgia"/>
            </a:endParaRPr>
          </a:p>
          <a:p>
            <a:pPr marL="299085" marR="1742439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  <a:tab pos="3166110" algn="l"/>
              </a:tabLst>
            </a:pPr>
            <a:r>
              <a:rPr sz="1800" spc="10" dirty="0" smtClean="0">
                <a:latin typeface="Georgia"/>
                <a:cs typeface="Georgia"/>
              </a:rPr>
              <a:t>CD </a:t>
            </a:r>
            <a:r>
              <a:rPr sz="1800" spc="-260" dirty="0">
                <a:latin typeface="Georgia"/>
                <a:cs typeface="Georgia"/>
              </a:rPr>
              <a:t>–</a:t>
            </a:r>
            <a:r>
              <a:rPr sz="1800" spc="-90" dirty="0">
                <a:latin typeface="Georgia"/>
                <a:cs typeface="Georgia"/>
              </a:rPr>
              <a:t> </a:t>
            </a:r>
            <a:r>
              <a:rPr sz="1800" spc="-140" dirty="0">
                <a:latin typeface="Georgia"/>
                <a:cs typeface="Georgia"/>
              </a:rPr>
              <a:t>R </a:t>
            </a:r>
            <a:r>
              <a:rPr sz="1800" spc="-260" dirty="0">
                <a:latin typeface="Georgia"/>
                <a:cs typeface="Georgia"/>
              </a:rPr>
              <a:t>–  </a:t>
            </a:r>
            <a:r>
              <a:rPr sz="1800" spc="-105" dirty="0">
                <a:latin typeface="Georgia"/>
                <a:cs typeface="Georgia"/>
              </a:rPr>
              <a:t>Compact </a:t>
            </a:r>
            <a:r>
              <a:rPr sz="1800" spc="-80" dirty="0">
                <a:latin typeface="Georgia"/>
                <a:cs typeface="Georgia"/>
              </a:rPr>
              <a:t>Disk </a:t>
            </a:r>
            <a:r>
              <a:rPr sz="1800" spc="-260" dirty="0">
                <a:latin typeface="Georgia"/>
                <a:cs typeface="Georgia"/>
              </a:rPr>
              <a:t>–</a:t>
            </a:r>
            <a:r>
              <a:rPr sz="1800" spc="-90" dirty="0">
                <a:latin typeface="Georgia"/>
                <a:cs typeface="Georgia"/>
              </a:rPr>
              <a:t> </a:t>
            </a:r>
            <a:r>
              <a:rPr sz="1800" spc="-125" dirty="0" smtClean="0">
                <a:latin typeface="Georgia"/>
                <a:cs typeface="Georgia"/>
              </a:rPr>
              <a:t>Recordable.</a:t>
            </a:r>
            <a:endParaRPr lang="en-US" dirty="0">
              <a:latin typeface="Georgia"/>
              <a:cs typeface="Georgia"/>
            </a:endParaRPr>
          </a:p>
          <a:p>
            <a:pPr marL="299085" marR="1742439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  <a:tab pos="3166110" algn="l"/>
              </a:tabLst>
            </a:pPr>
            <a:r>
              <a:rPr sz="1800" spc="-90" dirty="0" smtClean="0">
                <a:latin typeface="Georgia"/>
                <a:cs typeface="Georgia"/>
              </a:rPr>
              <a:t>CD-RW </a:t>
            </a:r>
            <a:r>
              <a:rPr sz="1800" spc="-260" dirty="0">
                <a:latin typeface="Georgia"/>
                <a:cs typeface="Georgia"/>
              </a:rPr>
              <a:t>–</a:t>
            </a:r>
            <a:r>
              <a:rPr sz="1800" spc="-90" dirty="0">
                <a:latin typeface="Georgia"/>
                <a:cs typeface="Georgia"/>
              </a:rPr>
              <a:t> </a:t>
            </a:r>
            <a:r>
              <a:rPr sz="1800" spc="-105" dirty="0">
                <a:latin typeface="Georgia"/>
                <a:cs typeface="Georgia"/>
              </a:rPr>
              <a:t>Compact </a:t>
            </a:r>
            <a:r>
              <a:rPr sz="1800" spc="-80" dirty="0">
                <a:latin typeface="Georgia"/>
                <a:cs typeface="Georgia"/>
              </a:rPr>
              <a:t>Disk</a:t>
            </a:r>
            <a:r>
              <a:rPr sz="1800" spc="60" dirty="0">
                <a:latin typeface="Georgia"/>
                <a:cs typeface="Georgia"/>
              </a:rPr>
              <a:t> </a:t>
            </a:r>
            <a:r>
              <a:rPr sz="1800" spc="-260" dirty="0">
                <a:latin typeface="Georgia"/>
                <a:cs typeface="Georgia"/>
              </a:rPr>
              <a:t>–  </a:t>
            </a:r>
            <a:r>
              <a:rPr sz="1800" spc="-130" dirty="0" smtClean="0">
                <a:latin typeface="Georgia"/>
                <a:cs typeface="Georgia"/>
              </a:rPr>
              <a:t>Rewritable</a:t>
            </a:r>
            <a:endParaRPr lang="en-US" dirty="0">
              <a:latin typeface="Georgia"/>
              <a:cs typeface="Georgia"/>
            </a:endParaRPr>
          </a:p>
          <a:p>
            <a:pPr marL="299085" marR="1742439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  <a:tab pos="3166110" algn="l"/>
              </a:tabLst>
            </a:pPr>
            <a:r>
              <a:rPr sz="1800" spc="10" dirty="0" smtClean="0">
                <a:latin typeface="Georgia"/>
                <a:cs typeface="Georgia"/>
              </a:rPr>
              <a:t>DVD </a:t>
            </a:r>
            <a:r>
              <a:rPr sz="1800" spc="-260" dirty="0">
                <a:latin typeface="Georgia"/>
                <a:cs typeface="Georgia"/>
              </a:rPr>
              <a:t>–</a:t>
            </a:r>
            <a:r>
              <a:rPr sz="1800" spc="-90" dirty="0">
                <a:latin typeface="Georgia"/>
                <a:cs typeface="Georgia"/>
              </a:rPr>
              <a:t> </a:t>
            </a:r>
            <a:r>
              <a:rPr sz="1800" spc="-100" dirty="0">
                <a:latin typeface="Georgia"/>
                <a:cs typeface="Georgia"/>
              </a:rPr>
              <a:t>ROM </a:t>
            </a:r>
            <a:r>
              <a:rPr sz="1800" spc="-260" dirty="0">
                <a:latin typeface="Georgia"/>
                <a:cs typeface="Georgia"/>
              </a:rPr>
              <a:t>–  </a:t>
            </a:r>
            <a:r>
              <a:rPr sz="1800" spc="-100" dirty="0">
                <a:latin typeface="Georgia"/>
                <a:cs typeface="Georgia"/>
              </a:rPr>
              <a:t>Digital </a:t>
            </a:r>
            <a:r>
              <a:rPr sz="1800" spc="-130" dirty="0">
                <a:latin typeface="Georgia"/>
                <a:cs typeface="Georgia"/>
              </a:rPr>
              <a:t>Versatile </a:t>
            </a:r>
            <a:r>
              <a:rPr sz="1800" spc="-80" dirty="0">
                <a:latin typeface="Georgia"/>
                <a:cs typeface="Georgia"/>
              </a:rPr>
              <a:t>Disk </a:t>
            </a:r>
            <a:r>
              <a:rPr sz="1800" spc="-260" dirty="0">
                <a:latin typeface="Georgia"/>
                <a:cs typeface="Georgia"/>
              </a:rPr>
              <a:t>–  </a:t>
            </a:r>
            <a:r>
              <a:rPr sz="1800" spc="-160" dirty="0">
                <a:latin typeface="Georgia"/>
                <a:cs typeface="Georgia"/>
              </a:rPr>
              <a:t>Read </a:t>
            </a:r>
            <a:r>
              <a:rPr sz="1800" spc="-85" dirty="0">
                <a:latin typeface="Georgia"/>
                <a:cs typeface="Georgia"/>
              </a:rPr>
              <a:t>Only </a:t>
            </a:r>
            <a:r>
              <a:rPr sz="1800" spc="-130" dirty="0">
                <a:latin typeface="Georgia"/>
                <a:cs typeface="Georgia"/>
              </a:rPr>
              <a:t>Memory  </a:t>
            </a:r>
            <a:endParaRPr lang="en-US" sz="1800" spc="-130" dirty="0" smtClean="0">
              <a:latin typeface="Georgia"/>
              <a:cs typeface="Georgia"/>
            </a:endParaRPr>
          </a:p>
          <a:p>
            <a:pPr marL="299085" marR="1742439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  <a:tab pos="3166110" algn="l"/>
              </a:tabLst>
            </a:pPr>
            <a:r>
              <a:rPr sz="1800" spc="10" dirty="0" smtClean="0">
                <a:latin typeface="Georgia"/>
                <a:cs typeface="Georgia"/>
              </a:rPr>
              <a:t>DVD </a:t>
            </a:r>
            <a:r>
              <a:rPr sz="1800" spc="-260" dirty="0">
                <a:latin typeface="Georgia"/>
                <a:cs typeface="Georgia"/>
              </a:rPr>
              <a:t>–</a:t>
            </a:r>
            <a:r>
              <a:rPr sz="1800" spc="-90" dirty="0">
                <a:latin typeface="Georgia"/>
                <a:cs typeface="Georgia"/>
              </a:rPr>
              <a:t> </a:t>
            </a:r>
            <a:r>
              <a:rPr sz="1800" spc="-100" dirty="0">
                <a:latin typeface="Georgia"/>
                <a:cs typeface="Georgia"/>
              </a:rPr>
              <a:t>RAM </a:t>
            </a:r>
            <a:r>
              <a:rPr sz="1800" spc="-114" dirty="0">
                <a:latin typeface="Georgia"/>
                <a:cs typeface="Georgia"/>
              </a:rPr>
              <a:t>- </a:t>
            </a:r>
            <a:r>
              <a:rPr sz="1800" spc="-100" dirty="0">
                <a:latin typeface="Georgia"/>
                <a:cs typeface="Georgia"/>
              </a:rPr>
              <a:t>Digital </a:t>
            </a:r>
            <a:r>
              <a:rPr sz="1800" spc="-130" dirty="0">
                <a:latin typeface="Georgia"/>
                <a:cs typeface="Georgia"/>
              </a:rPr>
              <a:t>Versatile </a:t>
            </a:r>
            <a:r>
              <a:rPr sz="1800" spc="-80" dirty="0">
                <a:latin typeface="Georgia"/>
                <a:cs typeface="Georgia"/>
              </a:rPr>
              <a:t>Disk </a:t>
            </a:r>
            <a:r>
              <a:rPr sz="1800" spc="-260" dirty="0">
                <a:latin typeface="Georgia"/>
                <a:cs typeface="Georgia"/>
              </a:rPr>
              <a:t>–  </a:t>
            </a:r>
            <a:r>
              <a:rPr sz="1800" spc="-140" dirty="0">
                <a:latin typeface="Georgia"/>
                <a:cs typeface="Georgia"/>
              </a:rPr>
              <a:t>Random </a:t>
            </a:r>
            <a:r>
              <a:rPr sz="1800" spc="-90" dirty="0">
                <a:latin typeface="Georgia"/>
                <a:cs typeface="Georgia"/>
              </a:rPr>
              <a:t>Access</a:t>
            </a:r>
            <a:r>
              <a:rPr sz="1800" spc="80" dirty="0">
                <a:latin typeface="Georgia"/>
                <a:cs typeface="Georgia"/>
              </a:rPr>
              <a:t> </a:t>
            </a:r>
            <a:r>
              <a:rPr sz="1800" spc="-130" dirty="0">
                <a:latin typeface="Georgia"/>
                <a:cs typeface="Georgia"/>
              </a:rPr>
              <a:t>Memory</a:t>
            </a:r>
            <a:endParaRPr sz="18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68379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8473" y="966794"/>
            <a:ext cx="5854255" cy="72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4</a:t>
            </a:r>
            <a:r>
              <a:rPr spc="-215" dirty="0" smtClean="0"/>
              <a:t>.</a:t>
            </a:r>
            <a:r>
              <a:rPr lang="en-US" spc="-215" dirty="0" smtClean="0"/>
              <a:t>   </a:t>
            </a:r>
            <a:r>
              <a:rPr spc="-215" dirty="0" smtClean="0"/>
              <a:t>Processor </a:t>
            </a:r>
            <a:r>
              <a:rPr spc="-75" dirty="0"/>
              <a:t>Or</a:t>
            </a:r>
            <a:r>
              <a:rPr spc="-425" dirty="0"/>
              <a:t> </a:t>
            </a:r>
            <a:r>
              <a:rPr spc="-130" dirty="0"/>
              <a:t>CPU</a:t>
            </a:r>
          </a:p>
        </p:txBody>
      </p:sp>
      <p:sp>
        <p:nvSpPr>
          <p:cNvPr id="3" name="object 3"/>
          <p:cNvSpPr/>
          <p:nvPr/>
        </p:nvSpPr>
        <p:spPr>
          <a:xfrm>
            <a:off x="1498473" y="4622291"/>
            <a:ext cx="6052185" cy="865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17713" y="2056891"/>
            <a:ext cx="6294647" cy="36368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899410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400" spc="-110" dirty="0">
                <a:latin typeface="Georgia"/>
                <a:cs typeface="Georgia"/>
              </a:rPr>
              <a:t>The </a:t>
            </a:r>
            <a:r>
              <a:rPr sz="2400" spc="-70" dirty="0">
                <a:latin typeface="Georgia"/>
                <a:cs typeface="Georgia"/>
              </a:rPr>
              <a:t>CU </a:t>
            </a:r>
            <a:r>
              <a:rPr sz="2400" spc="-210" dirty="0">
                <a:latin typeface="Georgia"/>
                <a:cs typeface="Georgia"/>
              </a:rPr>
              <a:t>and </a:t>
            </a:r>
            <a:r>
              <a:rPr sz="2400" spc="-75" dirty="0">
                <a:latin typeface="Georgia"/>
                <a:cs typeface="Georgia"/>
              </a:rPr>
              <a:t>ALU </a:t>
            </a:r>
            <a:r>
              <a:rPr sz="2400" spc="-200" dirty="0" smtClean="0">
                <a:latin typeface="Georgia"/>
                <a:cs typeface="Georgia"/>
              </a:rPr>
              <a:t>are</a:t>
            </a:r>
            <a:r>
              <a:rPr lang="en-US" sz="2400" spc="-200" dirty="0" smtClean="0">
                <a:latin typeface="Georgia"/>
                <a:cs typeface="Georgia"/>
              </a:rPr>
              <a:t> </a:t>
            </a:r>
            <a:r>
              <a:rPr sz="2400" spc="-145" dirty="0" smtClean="0">
                <a:latin typeface="Georgia"/>
                <a:cs typeface="Georgia"/>
              </a:rPr>
              <a:t>jointly </a:t>
            </a:r>
            <a:r>
              <a:rPr sz="2400" spc="-170" dirty="0">
                <a:latin typeface="Georgia"/>
                <a:cs typeface="Georgia"/>
              </a:rPr>
              <a:t>known </a:t>
            </a:r>
            <a:r>
              <a:rPr sz="2400" spc="-204" dirty="0">
                <a:latin typeface="Georgia"/>
                <a:cs typeface="Georgia"/>
              </a:rPr>
              <a:t>as  </a:t>
            </a:r>
            <a:r>
              <a:rPr sz="2400" spc="-150" dirty="0">
                <a:latin typeface="Georgia"/>
                <a:cs typeface="Georgia"/>
              </a:rPr>
              <a:t>CPU.</a:t>
            </a:r>
            <a:endParaRPr sz="24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400" spc="-175" dirty="0">
                <a:latin typeface="Georgia"/>
                <a:cs typeface="Georgia"/>
              </a:rPr>
              <a:t>Brain </a:t>
            </a:r>
            <a:r>
              <a:rPr sz="2400" spc="-40" dirty="0">
                <a:latin typeface="Georgia"/>
                <a:cs typeface="Georgia"/>
              </a:rPr>
              <a:t>of </a:t>
            </a:r>
            <a:r>
              <a:rPr sz="2400" spc="-160" dirty="0">
                <a:latin typeface="Georgia"/>
                <a:cs typeface="Georgia"/>
              </a:rPr>
              <a:t>the</a:t>
            </a:r>
            <a:r>
              <a:rPr sz="2400" spc="-365" dirty="0">
                <a:latin typeface="Georgia"/>
                <a:cs typeface="Georgia"/>
              </a:rPr>
              <a:t> </a:t>
            </a:r>
            <a:r>
              <a:rPr sz="2400" spc="-170" dirty="0">
                <a:latin typeface="Georgia"/>
                <a:cs typeface="Georgia"/>
              </a:rPr>
              <a:t>computer.</a:t>
            </a:r>
            <a:endParaRPr sz="24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400" spc="-140" dirty="0">
                <a:latin typeface="Georgia"/>
                <a:cs typeface="Georgia"/>
              </a:rPr>
              <a:t>Perform </a:t>
            </a:r>
            <a:r>
              <a:rPr sz="2400" spc="-200" dirty="0">
                <a:latin typeface="Georgia"/>
                <a:cs typeface="Georgia"/>
              </a:rPr>
              <a:t>data </a:t>
            </a:r>
            <a:r>
              <a:rPr sz="2400" spc="-155" dirty="0">
                <a:latin typeface="Georgia"/>
                <a:cs typeface="Georgia"/>
              </a:rPr>
              <a:t>processing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spc="-165" dirty="0">
                <a:latin typeface="Georgia"/>
                <a:cs typeface="Georgia"/>
              </a:rPr>
              <a:t>operations.</a:t>
            </a:r>
            <a:endParaRPr sz="24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2400" spc="-120" dirty="0">
                <a:latin typeface="Georgia"/>
                <a:cs typeface="Georgia"/>
              </a:rPr>
              <a:t>Control </a:t>
            </a:r>
            <a:r>
              <a:rPr sz="2400" spc="-155" dirty="0">
                <a:latin typeface="Georgia"/>
                <a:cs typeface="Georgia"/>
              </a:rPr>
              <a:t>the </a:t>
            </a:r>
            <a:r>
              <a:rPr sz="2400" spc="-165" dirty="0">
                <a:latin typeface="Georgia"/>
                <a:cs typeface="Georgia"/>
              </a:rPr>
              <a:t>working </a:t>
            </a:r>
            <a:r>
              <a:rPr sz="2400" spc="-40" dirty="0">
                <a:latin typeface="Georgia"/>
                <a:cs typeface="Georgia"/>
              </a:rPr>
              <a:t>of </a:t>
            </a:r>
            <a:r>
              <a:rPr sz="2400" spc="-155" dirty="0">
                <a:latin typeface="Georgia"/>
                <a:cs typeface="Georgia"/>
              </a:rPr>
              <a:t>the </a:t>
            </a:r>
            <a:r>
              <a:rPr sz="2400" spc="-165" dirty="0">
                <a:latin typeface="Georgia"/>
                <a:cs typeface="Georgia"/>
              </a:rPr>
              <a:t>entire</a:t>
            </a:r>
            <a:r>
              <a:rPr sz="2400" spc="90" dirty="0">
                <a:latin typeface="Georgia"/>
                <a:cs typeface="Georgia"/>
              </a:rPr>
              <a:t> </a:t>
            </a:r>
            <a:r>
              <a:rPr sz="2400" spc="-175" dirty="0">
                <a:latin typeface="Georgia"/>
                <a:cs typeface="Georgia"/>
              </a:rPr>
              <a:t>system.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2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 dirty="0">
              <a:latin typeface="Georgia"/>
              <a:cs typeface="Georgia"/>
            </a:endParaRPr>
          </a:p>
          <a:p>
            <a:pPr marL="247650">
              <a:lnSpc>
                <a:spcPct val="100000"/>
              </a:lnSpc>
              <a:spcBef>
                <a:spcPts val="5"/>
              </a:spcBef>
            </a:pPr>
            <a:r>
              <a:rPr sz="2800" spc="-170" dirty="0">
                <a:latin typeface="Georgia"/>
                <a:cs typeface="Georgia"/>
              </a:rPr>
              <a:t>Arithmetic </a:t>
            </a:r>
            <a:r>
              <a:rPr sz="2800" spc="-245" dirty="0">
                <a:latin typeface="Georgia"/>
                <a:cs typeface="Georgia"/>
              </a:rPr>
              <a:t>and </a:t>
            </a:r>
            <a:r>
              <a:rPr sz="2800" spc="-135" dirty="0">
                <a:latin typeface="Georgia"/>
                <a:cs typeface="Georgia"/>
              </a:rPr>
              <a:t>Logic </a:t>
            </a:r>
            <a:r>
              <a:rPr sz="2800" spc="-180" dirty="0">
                <a:latin typeface="Georgia"/>
                <a:cs typeface="Georgia"/>
              </a:rPr>
              <a:t>Unit </a:t>
            </a:r>
            <a:r>
              <a:rPr sz="2800" spc="-145" dirty="0">
                <a:latin typeface="Georgia"/>
                <a:cs typeface="Georgia"/>
              </a:rPr>
              <a:t>(ALU) </a:t>
            </a:r>
            <a:r>
              <a:rPr sz="2800" spc="45" dirty="0">
                <a:latin typeface="Georgia"/>
                <a:cs typeface="Georgia"/>
              </a:rPr>
              <a:t>&amp; </a:t>
            </a:r>
            <a:r>
              <a:rPr sz="2800" spc="-140" dirty="0">
                <a:latin typeface="Georgia"/>
                <a:cs typeface="Georgia"/>
              </a:rPr>
              <a:t>Control</a:t>
            </a:r>
            <a:r>
              <a:rPr sz="2800" spc="-15" dirty="0">
                <a:latin typeface="Georgia"/>
                <a:cs typeface="Georgia"/>
              </a:rPr>
              <a:t> </a:t>
            </a:r>
            <a:r>
              <a:rPr sz="2800" spc="-175" dirty="0">
                <a:latin typeface="Georgia"/>
                <a:cs typeface="Georgia"/>
              </a:rPr>
              <a:t>Unit(CU)</a:t>
            </a:r>
            <a:endParaRPr sz="28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27871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0431" y="1113537"/>
            <a:ext cx="6653213" cy="345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5"/>
              </a:spcBef>
              <a:buSzPct val="96428"/>
              <a:tabLst>
                <a:tab pos="299720" algn="l"/>
                <a:tab pos="5276850" algn="l"/>
              </a:tabLst>
            </a:pPr>
            <a:r>
              <a:rPr lang="en-IN" sz="2800" spc="-175" dirty="0">
                <a:latin typeface="Georgia"/>
                <a:cs typeface="Georgia"/>
              </a:rPr>
              <a:t>Arithmetic and Logic Unit ( ALU )</a:t>
            </a:r>
          </a:p>
          <a:p>
            <a:pPr marL="12065" marR="5080">
              <a:lnSpc>
                <a:spcPct val="100000"/>
              </a:lnSpc>
              <a:spcBef>
                <a:spcPts val="5"/>
              </a:spcBef>
              <a:buSzPct val="96428"/>
              <a:tabLst>
                <a:tab pos="299720" algn="l"/>
                <a:tab pos="5276850" algn="l"/>
              </a:tabLst>
            </a:pPr>
            <a:endParaRPr lang="en-IN" sz="2800" spc="-175" dirty="0" smtClean="0">
              <a:latin typeface="Georgia"/>
              <a:cs typeface="Georgia"/>
            </a:endParaRPr>
          </a:p>
          <a:p>
            <a:pPr marL="469265" marR="5080" indent="-457200">
              <a:lnSpc>
                <a:spcPct val="100000"/>
              </a:lnSpc>
              <a:spcBef>
                <a:spcPts val="5"/>
              </a:spcBef>
              <a:buSzPct val="96428"/>
              <a:buFont typeface="Wingdings" pitchFamily="2" charset="2"/>
              <a:buChar char="ü"/>
              <a:tabLst>
                <a:tab pos="299720" algn="l"/>
                <a:tab pos="5276850" algn="l"/>
              </a:tabLst>
            </a:pPr>
            <a:r>
              <a:rPr sz="2800" spc="-175" dirty="0" smtClean="0">
                <a:latin typeface="Georgia"/>
                <a:cs typeface="Georgia"/>
              </a:rPr>
              <a:t>Place </a:t>
            </a:r>
            <a:r>
              <a:rPr sz="2800" spc="-200" dirty="0">
                <a:latin typeface="Georgia"/>
                <a:cs typeface="Georgia"/>
              </a:rPr>
              <a:t>where  </a:t>
            </a:r>
            <a:r>
              <a:rPr sz="2800" spc="-185" dirty="0">
                <a:latin typeface="Georgia"/>
                <a:cs typeface="Georgia"/>
              </a:rPr>
              <a:t>the  </a:t>
            </a:r>
            <a:r>
              <a:rPr sz="2800" spc="-210" dirty="0">
                <a:latin typeface="Georgia"/>
                <a:cs typeface="Georgia"/>
              </a:rPr>
              <a:t>actual</a:t>
            </a:r>
            <a:r>
              <a:rPr sz="2800" spc="-295" dirty="0">
                <a:latin typeface="Georgia"/>
                <a:cs typeface="Georgia"/>
              </a:rPr>
              <a:t> </a:t>
            </a:r>
            <a:r>
              <a:rPr sz="2800" spc="-175" dirty="0">
                <a:latin typeface="Georgia"/>
                <a:cs typeface="Georgia"/>
              </a:rPr>
              <a:t>execution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185" dirty="0">
                <a:latin typeface="Georgia"/>
                <a:cs typeface="Georgia"/>
              </a:rPr>
              <a:t>the </a:t>
            </a:r>
            <a:r>
              <a:rPr sz="2800" spc="-175" dirty="0">
                <a:latin typeface="Georgia"/>
                <a:cs typeface="Georgia"/>
              </a:rPr>
              <a:t>instructions </a:t>
            </a:r>
            <a:r>
              <a:rPr sz="2800" spc="-210" dirty="0">
                <a:latin typeface="Georgia"/>
                <a:cs typeface="Georgia"/>
              </a:rPr>
              <a:t>take </a:t>
            </a:r>
            <a:r>
              <a:rPr sz="2800" spc="-190" dirty="0">
                <a:latin typeface="Georgia"/>
                <a:cs typeface="Georgia"/>
              </a:rPr>
              <a:t>place  </a:t>
            </a:r>
            <a:r>
              <a:rPr sz="2800" spc="-210" dirty="0">
                <a:latin typeface="Georgia"/>
                <a:cs typeface="Georgia"/>
              </a:rPr>
              <a:t>during </a:t>
            </a:r>
            <a:r>
              <a:rPr sz="2800" spc="-185" dirty="0">
                <a:latin typeface="Georgia"/>
                <a:cs typeface="Georgia"/>
              </a:rPr>
              <a:t>the </a:t>
            </a:r>
            <a:r>
              <a:rPr sz="2800" spc="-180" dirty="0">
                <a:latin typeface="Georgia"/>
                <a:cs typeface="Georgia"/>
              </a:rPr>
              <a:t>processing</a:t>
            </a:r>
            <a:r>
              <a:rPr sz="2800" spc="-25" dirty="0">
                <a:latin typeface="Georgia"/>
                <a:cs typeface="Georgia"/>
              </a:rPr>
              <a:t> </a:t>
            </a:r>
            <a:r>
              <a:rPr sz="2800" spc="-185" dirty="0">
                <a:latin typeface="Georgia"/>
                <a:cs typeface="Georgia"/>
              </a:rPr>
              <a:t>operations.</a:t>
            </a:r>
            <a:endParaRPr sz="2800" dirty="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</a:tabLst>
            </a:pPr>
            <a:r>
              <a:rPr sz="2800" spc="-105" dirty="0">
                <a:latin typeface="Georgia"/>
                <a:cs typeface="Georgia"/>
              </a:rPr>
              <a:t>All </a:t>
            </a:r>
            <a:r>
              <a:rPr sz="2800" spc="-180" dirty="0">
                <a:latin typeface="Georgia"/>
                <a:cs typeface="Georgia"/>
              </a:rPr>
              <a:t>calculations </a:t>
            </a:r>
            <a:r>
              <a:rPr sz="2800" spc="-229" dirty="0">
                <a:latin typeface="Georgia"/>
                <a:cs typeface="Georgia"/>
              </a:rPr>
              <a:t>are </a:t>
            </a:r>
            <a:r>
              <a:rPr sz="2800" spc="-170" dirty="0">
                <a:latin typeface="Georgia"/>
                <a:cs typeface="Georgia"/>
              </a:rPr>
              <a:t>performed</a:t>
            </a:r>
            <a:r>
              <a:rPr sz="2800" spc="-365" dirty="0">
                <a:latin typeface="Georgia"/>
                <a:cs typeface="Georgia"/>
              </a:rPr>
              <a:t> </a:t>
            </a:r>
            <a:r>
              <a:rPr sz="2800" spc="-200" dirty="0">
                <a:latin typeface="Georgia"/>
                <a:cs typeface="Georgia"/>
              </a:rPr>
              <a:t>here.</a:t>
            </a:r>
            <a:endParaRPr sz="2800" dirty="0">
              <a:latin typeface="Georgia"/>
              <a:cs typeface="Georgia"/>
            </a:endParaRPr>
          </a:p>
          <a:p>
            <a:pPr marL="299085" marR="8255" indent="-287020">
              <a:lnSpc>
                <a:spcPct val="100000"/>
              </a:lnSpc>
              <a:buSzPct val="96428"/>
              <a:buFont typeface="Wingdings"/>
              <a:buChar char=""/>
              <a:tabLst>
                <a:tab pos="299720" algn="l"/>
                <a:tab pos="2222500" algn="l"/>
              </a:tabLst>
            </a:pPr>
            <a:r>
              <a:rPr sz="2800" spc="-130" dirty="0">
                <a:latin typeface="Georgia"/>
                <a:cs typeface="Georgia"/>
              </a:rPr>
              <a:t>It</a:t>
            </a:r>
            <a:r>
              <a:rPr sz="2800" spc="15" dirty="0">
                <a:latin typeface="Georgia"/>
                <a:cs typeface="Georgia"/>
              </a:rPr>
              <a:t> </a:t>
            </a:r>
            <a:r>
              <a:rPr sz="2800" spc="-165" dirty="0">
                <a:latin typeface="Georgia"/>
                <a:cs typeface="Georgia"/>
              </a:rPr>
              <a:t>consists</a:t>
            </a:r>
            <a:r>
              <a:rPr sz="2800" spc="3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of	</a:t>
            </a:r>
            <a:r>
              <a:rPr sz="2800" spc="-180" dirty="0">
                <a:latin typeface="Georgia"/>
                <a:cs typeface="Georgia"/>
              </a:rPr>
              <a:t>circuits </a:t>
            </a:r>
            <a:r>
              <a:rPr sz="2800" spc="-195" dirty="0">
                <a:latin typeface="Georgia"/>
                <a:cs typeface="Georgia"/>
              </a:rPr>
              <a:t>that </a:t>
            </a:r>
            <a:r>
              <a:rPr sz="2800" spc="-160" dirty="0">
                <a:latin typeface="Georgia"/>
                <a:cs typeface="Georgia"/>
              </a:rPr>
              <a:t>perform </a:t>
            </a:r>
            <a:r>
              <a:rPr sz="2800" spc="-200" dirty="0">
                <a:latin typeface="Georgia"/>
                <a:cs typeface="Georgia"/>
              </a:rPr>
              <a:t>arithmetic </a:t>
            </a:r>
            <a:r>
              <a:rPr sz="2800" spc="-240" dirty="0">
                <a:latin typeface="Georgia"/>
                <a:cs typeface="Georgia"/>
              </a:rPr>
              <a:t>as </a:t>
            </a:r>
            <a:r>
              <a:rPr sz="2800" spc="-190" dirty="0">
                <a:latin typeface="Georgia"/>
                <a:cs typeface="Georgia"/>
              </a:rPr>
              <a:t>well </a:t>
            </a:r>
            <a:r>
              <a:rPr sz="2800" spc="-240" dirty="0">
                <a:latin typeface="Georgia"/>
                <a:cs typeface="Georgia"/>
              </a:rPr>
              <a:t>as </a:t>
            </a:r>
            <a:r>
              <a:rPr sz="2800" spc="-170" dirty="0">
                <a:latin typeface="Georgia"/>
                <a:cs typeface="Georgia"/>
              </a:rPr>
              <a:t>logical  </a:t>
            </a:r>
            <a:r>
              <a:rPr sz="2800" spc="-185" dirty="0">
                <a:latin typeface="Georgia"/>
                <a:cs typeface="Georgia"/>
              </a:rPr>
              <a:t>operations.</a:t>
            </a:r>
            <a:endParaRPr sz="28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01571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0043" y="966940"/>
            <a:ext cx="173593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5" dirty="0"/>
              <a:t>Control</a:t>
            </a:r>
            <a:r>
              <a:rPr spc="-60" dirty="0"/>
              <a:t> </a:t>
            </a:r>
            <a:r>
              <a:rPr spc="-225" dirty="0"/>
              <a:t>Unit</a:t>
            </a:r>
          </a:p>
        </p:txBody>
      </p:sp>
      <p:sp>
        <p:nvSpPr>
          <p:cNvPr id="3" name="object 3"/>
          <p:cNvSpPr/>
          <p:nvPr/>
        </p:nvSpPr>
        <p:spPr>
          <a:xfrm>
            <a:off x="5416676" y="2034539"/>
            <a:ext cx="3179826" cy="3258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6807" y="2195830"/>
            <a:ext cx="3989546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40029" indent="-28702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299720" algn="l"/>
              </a:tabLst>
            </a:pPr>
            <a:r>
              <a:rPr sz="2400" spc="-110" dirty="0">
                <a:latin typeface="Georgia"/>
                <a:cs typeface="Georgia"/>
              </a:rPr>
              <a:t>It </a:t>
            </a:r>
            <a:r>
              <a:rPr sz="2400" spc="-160" dirty="0">
                <a:latin typeface="Georgia"/>
                <a:cs typeface="Georgia"/>
              </a:rPr>
              <a:t>act </a:t>
            </a:r>
            <a:r>
              <a:rPr sz="2400" spc="-204" dirty="0">
                <a:latin typeface="Georgia"/>
                <a:cs typeface="Georgia"/>
              </a:rPr>
              <a:t>as </a:t>
            </a:r>
            <a:r>
              <a:rPr sz="2400" spc="-235" dirty="0">
                <a:latin typeface="Georgia"/>
                <a:cs typeface="Georgia"/>
              </a:rPr>
              <a:t>a </a:t>
            </a:r>
            <a:r>
              <a:rPr sz="2400" spc="-170" dirty="0">
                <a:latin typeface="Georgia"/>
                <a:cs typeface="Georgia"/>
              </a:rPr>
              <a:t>central </a:t>
            </a:r>
            <a:r>
              <a:rPr sz="2400" spc="-145" dirty="0">
                <a:latin typeface="Georgia"/>
                <a:cs typeface="Georgia"/>
              </a:rPr>
              <a:t>nervous </a:t>
            </a:r>
            <a:r>
              <a:rPr sz="2400" spc="-180" dirty="0">
                <a:latin typeface="Georgia"/>
                <a:cs typeface="Georgia"/>
              </a:rPr>
              <a:t>system </a:t>
            </a:r>
            <a:r>
              <a:rPr sz="2400" spc="-90" dirty="0">
                <a:latin typeface="Georgia"/>
                <a:cs typeface="Georgia"/>
              </a:rPr>
              <a:t>for </a:t>
            </a:r>
            <a:r>
              <a:rPr sz="2400" spc="-155" dirty="0">
                <a:latin typeface="Georgia"/>
                <a:cs typeface="Georgia"/>
              </a:rPr>
              <a:t>the  </a:t>
            </a:r>
            <a:r>
              <a:rPr sz="2400" spc="-150" dirty="0">
                <a:latin typeface="Georgia"/>
                <a:cs typeface="Georgia"/>
              </a:rPr>
              <a:t>other components </a:t>
            </a:r>
            <a:r>
              <a:rPr sz="2400" spc="-40" dirty="0">
                <a:latin typeface="Georgia"/>
                <a:cs typeface="Georgia"/>
              </a:rPr>
              <a:t>of </a:t>
            </a:r>
            <a:r>
              <a:rPr sz="2400" spc="-155" dirty="0">
                <a:latin typeface="Georgia"/>
                <a:cs typeface="Georgia"/>
              </a:rPr>
              <a:t>the</a:t>
            </a:r>
            <a:r>
              <a:rPr sz="2400" spc="-250" dirty="0">
                <a:latin typeface="Georgia"/>
                <a:cs typeface="Georgia"/>
              </a:rPr>
              <a:t> </a:t>
            </a:r>
            <a:r>
              <a:rPr sz="2400" spc="-170" dirty="0">
                <a:latin typeface="Georgia"/>
                <a:cs typeface="Georgia"/>
              </a:rPr>
              <a:t>computer.</a:t>
            </a:r>
            <a:endParaRPr sz="240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"/>
              <a:tabLst>
                <a:tab pos="299720" algn="l"/>
              </a:tabLst>
            </a:pPr>
            <a:r>
              <a:rPr sz="2400" spc="-110" dirty="0">
                <a:latin typeface="Georgia"/>
                <a:cs typeface="Georgia"/>
              </a:rPr>
              <a:t>It </a:t>
            </a:r>
            <a:r>
              <a:rPr sz="2400" spc="-200" dirty="0">
                <a:latin typeface="Georgia"/>
                <a:cs typeface="Georgia"/>
              </a:rPr>
              <a:t>manages </a:t>
            </a:r>
            <a:r>
              <a:rPr sz="2400" spc="-204" dirty="0">
                <a:latin typeface="Georgia"/>
                <a:cs typeface="Georgia"/>
              </a:rPr>
              <a:t>and </a:t>
            </a:r>
            <a:r>
              <a:rPr sz="2400" spc="-155" dirty="0">
                <a:latin typeface="Georgia"/>
                <a:cs typeface="Georgia"/>
              </a:rPr>
              <a:t>coordinates the</a:t>
            </a:r>
            <a:r>
              <a:rPr sz="2400" spc="10" dirty="0">
                <a:latin typeface="Georgia"/>
                <a:cs typeface="Georgia"/>
              </a:rPr>
              <a:t> </a:t>
            </a:r>
            <a:r>
              <a:rPr sz="2400" spc="-165" dirty="0">
                <a:latin typeface="Georgia"/>
                <a:cs typeface="Georgia"/>
              </a:rPr>
              <a:t>entire</a:t>
            </a:r>
            <a:endParaRPr sz="2400">
              <a:latin typeface="Georgia"/>
              <a:cs typeface="Georgia"/>
            </a:endParaRPr>
          </a:p>
          <a:p>
            <a:pPr marL="299085">
              <a:lnSpc>
                <a:spcPct val="100000"/>
              </a:lnSpc>
            </a:pPr>
            <a:r>
              <a:rPr sz="2400" spc="-165" dirty="0">
                <a:latin typeface="Georgia"/>
                <a:cs typeface="Georgia"/>
              </a:rPr>
              <a:t>computer</a:t>
            </a:r>
            <a:r>
              <a:rPr sz="2400" spc="25" dirty="0">
                <a:latin typeface="Georgia"/>
                <a:cs typeface="Georgia"/>
              </a:rPr>
              <a:t> </a:t>
            </a:r>
            <a:r>
              <a:rPr sz="2400" spc="-175" dirty="0">
                <a:latin typeface="Georgia"/>
                <a:cs typeface="Georgia"/>
              </a:rPr>
              <a:t>system.</a:t>
            </a:r>
            <a:endParaRPr sz="2400">
              <a:latin typeface="Georgia"/>
              <a:cs typeface="Georgia"/>
            </a:endParaRPr>
          </a:p>
          <a:p>
            <a:pPr marL="299085" indent="-287020">
              <a:lnSpc>
                <a:spcPct val="100000"/>
              </a:lnSpc>
              <a:buFont typeface="Wingdings"/>
              <a:buChar char=""/>
              <a:tabLst>
                <a:tab pos="299720" algn="l"/>
              </a:tabLst>
            </a:pPr>
            <a:r>
              <a:rPr sz="2400" spc="-110" dirty="0">
                <a:latin typeface="Georgia"/>
                <a:cs typeface="Georgia"/>
              </a:rPr>
              <a:t>It </a:t>
            </a:r>
            <a:r>
              <a:rPr sz="2400" spc="-135" dirty="0">
                <a:latin typeface="Georgia"/>
                <a:cs typeface="Georgia"/>
              </a:rPr>
              <a:t>get </a:t>
            </a:r>
            <a:r>
              <a:rPr sz="2400" spc="-145" dirty="0">
                <a:latin typeface="Georgia"/>
                <a:cs typeface="Georgia"/>
              </a:rPr>
              <a:t>information </a:t>
            </a:r>
            <a:r>
              <a:rPr sz="2400" spc="-135" dirty="0">
                <a:latin typeface="Georgia"/>
                <a:cs typeface="Georgia"/>
              </a:rPr>
              <a:t>from </a:t>
            </a:r>
            <a:r>
              <a:rPr sz="2400" spc="-155" dirty="0">
                <a:latin typeface="Georgia"/>
                <a:cs typeface="Georgia"/>
              </a:rPr>
              <a:t>the </a:t>
            </a:r>
            <a:r>
              <a:rPr sz="2400" spc="-215" dirty="0">
                <a:latin typeface="Georgia"/>
                <a:cs typeface="Georgia"/>
              </a:rPr>
              <a:t>main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80" dirty="0">
                <a:latin typeface="Georgia"/>
                <a:cs typeface="Georgia"/>
              </a:rPr>
              <a:t>memory</a:t>
            </a:r>
            <a:endParaRPr sz="2400">
              <a:latin typeface="Georgia"/>
              <a:cs typeface="Georgia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"/>
              <a:tabLst>
                <a:tab pos="299720" algn="l"/>
              </a:tabLst>
            </a:pPr>
            <a:r>
              <a:rPr sz="2400" spc="-110" dirty="0">
                <a:latin typeface="Georgia"/>
                <a:cs typeface="Georgia"/>
              </a:rPr>
              <a:t>It </a:t>
            </a:r>
            <a:r>
              <a:rPr sz="2400" spc="-170" dirty="0">
                <a:latin typeface="Georgia"/>
                <a:cs typeface="Georgia"/>
              </a:rPr>
              <a:t>issues </a:t>
            </a:r>
            <a:r>
              <a:rPr sz="2400" spc="-175" dirty="0">
                <a:latin typeface="Georgia"/>
                <a:cs typeface="Georgia"/>
              </a:rPr>
              <a:t>signal </a:t>
            </a:r>
            <a:r>
              <a:rPr sz="2400" spc="-100" dirty="0">
                <a:latin typeface="Georgia"/>
                <a:cs typeface="Georgia"/>
              </a:rPr>
              <a:t>to </a:t>
            </a:r>
            <a:r>
              <a:rPr sz="2400" spc="-130" dirty="0">
                <a:latin typeface="Georgia"/>
                <a:cs typeface="Georgia"/>
              </a:rPr>
              <a:t>control </a:t>
            </a:r>
            <a:r>
              <a:rPr sz="2400" spc="-150" dirty="0">
                <a:latin typeface="Georgia"/>
                <a:cs typeface="Georgia"/>
              </a:rPr>
              <a:t>every other </a:t>
            </a:r>
            <a:r>
              <a:rPr sz="2400" spc="-170" dirty="0">
                <a:latin typeface="Georgia"/>
                <a:cs typeface="Georgia"/>
              </a:rPr>
              <a:t>units  </a:t>
            </a:r>
            <a:r>
              <a:rPr sz="2400" spc="-40" dirty="0">
                <a:latin typeface="Georgia"/>
                <a:cs typeface="Georgia"/>
              </a:rPr>
              <a:t>of </a:t>
            </a:r>
            <a:r>
              <a:rPr sz="2400" spc="-155" dirty="0">
                <a:latin typeface="Georgia"/>
                <a:cs typeface="Georgia"/>
              </a:rPr>
              <a:t>the</a:t>
            </a:r>
            <a:r>
              <a:rPr sz="2400" spc="-150" dirty="0">
                <a:latin typeface="Georgia"/>
                <a:cs typeface="Georgia"/>
              </a:rPr>
              <a:t> </a:t>
            </a:r>
            <a:r>
              <a:rPr sz="2400" spc="-175" dirty="0">
                <a:latin typeface="Georgia"/>
                <a:cs typeface="Georgia"/>
              </a:rPr>
              <a:t>system.</a:t>
            </a:r>
            <a:endParaRPr sz="24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10539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16" name="Image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2" y="949452"/>
            <a:ext cx="3233928" cy="851916"/>
          </a:xfrm>
          <a:prstGeom prst="rect">
            <a:avLst/>
          </a:prstGeom>
          <a:noFill/>
        </p:spPr>
      </p:pic>
      <p:sp>
        <p:nvSpPr>
          <p:cNvPr id="17" name="Text Box17"/>
          <p:cNvSpPr txBox="1"/>
          <p:nvPr/>
        </p:nvSpPr>
        <p:spPr>
          <a:xfrm>
            <a:off x="3297682" y="548793"/>
            <a:ext cx="2588256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4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Hardware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18" name="Text Box18"/>
          <p:cNvSpPr txBox="1"/>
          <p:nvPr/>
        </p:nvSpPr>
        <p:spPr>
          <a:xfrm>
            <a:off x="548640" y="1668447"/>
            <a:ext cx="8051892" cy="1954081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077"/>
              </a:lnSpc>
            </a:pP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Hardware</a:t>
            </a:r>
            <a:r>
              <a:rPr lang="en-US" altLang="zh-CN" sz="2600" spc="-4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2600" spc="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</a:t>
            </a:r>
            <a:r>
              <a:rPr lang="en-US" altLang="zh-CN" sz="2600" spc="-3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components</a:t>
            </a:r>
            <a:r>
              <a:rPr lang="en-US" altLang="zh-CN" sz="2600" spc="-2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2600" spc="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altLang="zh-CN" sz="2600" spc="-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eg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devices,</a:t>
            </a:r>
            <a:r>
              <a:rPr lang="en-US" altLang="zh-CN" sz="2600" spc="-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</a:t>
            </a:r>
            <a:r>
              <a:rPr lang="en-US" altLang="zh-CN" sz="2600" spc="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devices,</a:t>
            </a:r>
            <a:r>
              <a:rPr lang="en-US" altLang="zh-CN" sz="2600" spc="-3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primary</a:t>
            </a:r>
            <a:r>
              <a:rPr lang="en-US" altLang="zh-CN" sz="2600" spc="-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(memory)</a:t>
            </a:r>
            <a:r>
              <a:rPr lang="en-US" altLang="zh-CN" sz="2600" spc="-5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secondary</a:t>
            </a:r>
            <a:r>
              <a:rPr lang="en-US" altLang="zh-CN" sz="2600" spc="-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storage</a:t>
            </a:r>
            <a:r>
              <a:rPr lang="en-US" altLang="zh-CN" sz="2600" spc="-1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(backing</a:t>
            </a:r>
            <a:r>
              <a:rPr lang="en-US" altLang="zh-CN" sz="2600" spc="-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store),</a:t>
            </a:r>
            <a:r>
              <a:rPr lang="en-US" altLang="zh-CN" sz="2600" spc="7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Central</a:t>
            </a:r>
            <a:r>
              <a:rPr lang="en-US" altLang="zh-CN" sz="2600" spc="-3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Processing</a:t>
            </a:r>
            <a:r>
              <a:rPr lang="en-US" altLang="zh-CN" sz="2600" spc="-2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</a:t>
            </a:r>
            <a:r>
              <a:rPr lang="en-US" altLang="zh-CN" sz="2600" spc="-1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etc.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</a:t>
            </a:r>
            <a:r>
              <a:rPr lang="en-US" altLang="zh-CN" sz="2600" spc="1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  <a:r>
              <a:rPr lang="en-US" altLang="zh-CN" sz="2600" spc="-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devices</a:t>
            </a:r>
            <a:r>
              <a:rPr lang="en-US" altLang="zh-CN" sz="2600" spc="-3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collectively</a:t>
            </a:r>
            <a:r>
              <a:rPr lang="en-US" altLang="zh-CN" sz="2600" spc="-4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known</a:t>
            </a:r>
            <a:r>
              <a:rPr lang="en-US" altLang="zh-CN" sz="2600" spc="-1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</a:t>
            </a:r>
            <a:r>
              <a:rPr lang="en-US" altLang="zh-CN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6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peripherals.</a:t>
            </a:r>
            <a:endParaRPr lang="en-US" altLang="zh-CN" sz="2600">
              <a:latin typeface="Arial"/>
              <a:ea typeface="Arial"/>
              <a:cs typeface="Arial"/>
            </a:endParaRPr>
          </a:p>
        </p:txBody>
      </p:sp>
      <p:sp>
        <p:nvSpPr>
          <p:cNvPr id="19" name="Text Box19"/>
          <p:cNvSpPr txBox="1"/>
          <p:nvPr/>
        </p:nvSpPr>
        <p:spPr>
          <a:xfrm>
            <a:off x="467538" y="3854196"/>
            <a:ext cx="8103058" cy="2743162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</p:txBody>
      </p:sp>
      <p:graphicFrame>
        <p:nvGraphicFramePr>
          <p:cNvPr id="20" name="Table20"/>
          <p:cNvGraphicFramePr>
            <a:graphicFrameLocks noGrp="1"/>
          </p:cNvGraphicFramePr>
          <p:nvPr/>
        </p:nvGraphicFramePr>
        <p:xfrm>
          <a:off x="467538" y="3854196"/>
          <a:ext cx="8064957" cy="274316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32453"/>
                <a:gridCol w="4032504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839165" algn="l" rtl="0">
                        <a:lnSpc>
                          <a:spcPts val="2402"/>
                        </a:lnSpc>
                      </a:pPr>
                      <a:r>
                        <a:rPr lang="en-US" altLang="zh-CN" sz="2400" b="1" spc="-2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External</a:t>
                      </a:r>
                      <a:r>
                        <a:rPr lang="en-US" altLang="zh-CN" sz="2400" b="1" spc="-18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b="1" spc="-9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Hardware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862711" algn="l" rtl="0">
                        <a:lnSpc>
                          <a:spcPts val="2402"/>
                        </a:lnSpc>
                      </a:pPr>
                      <a:r>
                        <a:rPr lang="en-US" altLang="zh-CN" sz="2400" b="1" spc="-7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Internal</a:t>
                      </a:r>
                      <a:r>
                        <a:rPr lang="en-US" altLang="zh-CN" sz="2400" b="1" spc="-8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b="1" spc="-9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Hardware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508201" algn="l" rtl="0">
                        <a:lnSpc>
                          <a:spcPts val="2400"/>
                        </a:lnSpc>
                      </a:pPr>
                      <a:r>
                        <a:rPr lang="en-US" altLang="zh-CN" sz="2400" spc="-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Monitor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371727" algn="l" rtl="0">
                        <a:lnSpc>
                          <a:spcPts val="2400"/>
                        </a:lnSpc>
                      </a:pPr>
                      <a:r>
                        <a:rPr lang="en-US" altLang="zh-CN" sz="2400" spc="-7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Hard</a:t>
                      </a:r>
                      <a:r>
                        <a:rPr lang="en-US" altLang="zh-CN" sz="2400" spc="-1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5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drive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592021" algn="l" rtl="0">
                        <a:lnSpc>
                          <a:spcPts val="2400"/>
                        </a:lnSpc>
                      </a:pPr>
                      <a:r>
                        <a:rPr lang="en-US" altLang="zh-CN" sz="2400" spc="-7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Printer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758823" algn="l" rtl="0">
                        <a:lnSpc>
                          <a:spcPts val="2400"/>
                        </a:lnSpc>
                      </a:pPr>
                      <a:r>
                        <a:rPr lang="en-US" altLang="zh-CN" sz="2400" spc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CPU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</a:tr>
              <a:tr h="457162"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430477" algn="l" rtl="0">
                        <a:lnSpc>
                          <a:spcPts val="2400"/>
                        </a:lnSpc>
                      </a:pPr>
                      <a:r>
                        <a:rPr lang="en-US" altLang="zh-CN" sz="2400" spc="-1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Keyboard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796923" algn="l" rtl="0">
                        <a:lnSpc>
                          <a:spcPts val="2400"/>
                        </a:lnSpc>
                      </a:pPr>
                      <a:r>
                        <a:rPr lang="en-US" altLang="zh-CN" sz="2400" spc="-1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Fan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14"/>
                        </a:lnSpc>
                      </a:pPr>
                      <a:endParaRPr/>
                    </a:p>
                    <a:p>
                      <a:pPr marL="1590497" algn="l" rtl="0">
                        <a:lnSpc>
                          <a:spcPts val="2400"/>
                        </a:lnSpc>
                      </a:pPr>
                      <a:r>
                        <a:rPr lang="en-US" altLang="zh-CN" sz="2400" spc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Mouse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4"/>
                        </a:lnSpc>
                      </a:pPr>
                      <a:endParaRPr/>
                    </a:p>
                    <a:p>
                      <a:pPr marL="1181227" algn="l" rtl="0">
                        <a:lnSpc>
                          <a:spcPts val="2400"/>
                        </a:lnSpc>
                      </a:pPr>
                      <a:r>
                        <a:rPr lang="en-US" altLang="zh-CN" sz="2400" spc="-3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Motherboard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14"/>
                        </a:lnSpc>
                      </a:pPr>
                      <a:endParaRPr/>
                    </a:p>
                    <a:p>
                      <a:pPr marL="1258265" algn="l" rtl="0">
                        <a:lnSpc>
                          <a:spcPts val="2400"/>
                        </a:lnSpc>
                      </a:pPr>
                      <a:r>
                        <a:rPr lang="en-US" altLang="zh-CN" sz="2400" spc="-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Microphone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4"/>
                        </a:lnSpc>
                      </a:pPr>
                      <a:endParaRPr/>
                    </a:p>
                    <a:p>
                      <a:pPr marL="1326008" algn="l" rtl="0">
                        <a:lnSpc>
                          <a:spcPts val="2400"/>
                        </a:lnSpc>
                      </a:pPr>
                      <a:r>
                        <a:rPr lang="en-US" altLang="zh-CN" sz="2400" spc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Sound</a:t>
                      </a:r>
                      <a:r>
                        <a:rPr lang="en-US" altLang="zh-CN" sz="2400" spc="-17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13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card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24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22" name="Image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949452"/>
            <a:ext cx="3046476" cy="851916"/>
          </a:xfrm>
          <a:prstGeom prst="rect">
            <a:avLst/>
          </a:prstGeom>
          <a:noFill/>
        </p:spPr>
      </p:pic>
      <p:sp>
        <p:nvSpPr>
          <p:cNvPr id="23" name="Text Box23"/>
          <p:cNvSpPr txBox="1"/>
          <p:nvPr/>
        </p:nvSpPr>
        <p:spPr>
          <a:xfrm>
            <a:off x="3392170" y="548793"/>
            <a:ext cx="2401345" cy="623969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4913"/>
              </a:lnSpc>
            </a:pPr>
            <a:r>
              <a:rPr lang="en-US" altLang="zh-CN" sz="4400" b="1" spc="3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</a:t>
            </a:r>
            <a:endParaRPr lang="en-US" altLang="zh-CN" sz="4400">
              <a:latin typeface="Arial"/>
              <a:ea typeface="Arial"/>
              <a:cs typeface="Arial"/>
            </a:endParaRPr>
          </a:p>
        </p:txBody>
      </p:sp>
      <p:sp>
        <p:nvSpPr>
          <p:cNvPr id="24" name="Text Box24"/>
          <p:cNvSpPr txBox="1"/>
          <p:nvPr/>
        </p:nvSpPr>
        <p:spPr>
          <a:xfrm>
            <a:off x="548640" y="1672638"/>
            <a:ext cx="8041630" cy="1917124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  <a:p>
            <a:pPr algn="l" rtl="0">
              <a:lnSpc>
                <a:spcPts val="3774"/>
              </a:lnSpc>
            </a:pP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Software</a:t>
            </a:r>
            <a:r>
              <a:rPr lang="en-US" altLang="zh-CN" sz="3200" spc="-3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  <a:r>
              <a:rPr lang="en-US" altLang="zh-CN" sz="3200" spc="-2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1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sets</a:t>
            </a:r>
            <a:r>
              <a:rPr lang="en-US" altLang="zh-CN" sz="3200" spc="-1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32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instructions/</a:t>
            </a:r>
            <a:r>
              <a:rPr lang="en-US" altLang="zh-CN" sz="3200" spc="89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programs</a:t>
            </a:r>
            <a:r>
              <a:rPr lang="en-US" altLang="zh-CN" sz="3200" spc="-3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</a:t>
            </a:r>
            <a:r>
              <a:rPr lang="en-US" altLang="zh-CN" sz="3200" spc="-7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are</a:t>
            </a:r>
            <a:r>
              <a:rPr lang="en-US" altLang="zh-CN" sz="3200" spc="-2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loaded</a:t>
            </a:r>
            <a:r>
              <a:rPr lang="en-US" altLang="zh-CN" sz="3200" spc="-1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into</a:t>
            </a:r>
            <a:r>
              <a:rPr lang="en-US" altLang="zh-CN" sz="3200" spc="-1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1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memory</a:t>
            </a:r>
            <a:r>
              <a:rPr lang="en-US" altLang="zh-CN" sz="3200" spc="-2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3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3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</a:t>
            </a:r>
            <a:r>
              <a:rPr lang="en-US" altLang="zh-CN" sz="3200" spc="-2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  <a:r>
              <a:rPr lang="en-US" altLang="zh-CN" sz="3200" spc="-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</a:t>
            </a:r>
            <a:r>
              <a:rPr lang="en-US" altLang="zh-CN" sz="3200" spc="-18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3200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perform</a:t>
            </a:r>
            <a:r>
              <a:rPr lang="en-US" altLang="zh-CN" sz="3200" spc="-2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altLang="zh-CN" sz="3200" spc="-16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</a:t>
            </a:r>
            <a:r>
              <a:rPr lang="en-US" altLang="zh-CN" sz="3200" spc="-1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</a:t>
            </a:r>
            <a:r>
              <a:rPr lang="en-US" altLang="zh-CN" sz="3200" spc="-1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  <a:r>
              <a:rPr lang="en-US" altLang="zh-CN" sz="3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</a:t>
            </a:r>
            <a:r>
              <a:rPr lang="en-US" altLang="zh-CN" sz="3200" spc="-2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1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</a:t>
            </a:r>
            <a:r>
              <a:rPr lang="en-US" altLang="zh-CN" sz="3200" spc="-19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  <a:r>
              <a:rPr lang="en-US" altLang="zh-CN" sz="3200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2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altLang="zh-CN" sz="3200" spc="-14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3200" spc="-2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computer.</a:t>
            </a:r>
            <a:endParaRPr lang="en-US" altLang="zh-CN" sz="3200">
              <a:latin typeface="Arial"/>
              <a:ea typeface="Arial"/>
              <a:cs typeface="Arial"/>
            </a:endParaRPr>
          </a:p>
        </p:txBody>
      </p:sp>
      <p:sp>
        <p:nvSpPr>
          <p:cNvPr id="25" name="Text Box25"/>
          <p:cNvSpPr txBox="1"/>
          <p:nvPr/>
        </p:nvSpPr>
        <p:spPr>
          <a:xfrm>
            <a:off x="251523" y="3717036"/>
            <a:ext cx="8607109" cy="1828800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/>
          </a:p>
        </p:txBody>
      </p:sp>
      <p:graphicFrame>
        <p:nvGraphicFramePr>
          <p:cNvPr id="26" name="Table26"/>
          <p:cNvGraphicFramePr>
            <a:graphicFrameLocks noGrp="1"/>
          </p:cNvGraphicFramePr>
          <p:nvPr/>
        </p:nvGraphicFramePr>
        <p:xfrm>
          <a:off x="251523" y="3717036"/>
          <a:ext cx="8569008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4536"/>
                <a:gridCol w="4284472"/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1023176" algn="l" rtl="0">
                        <a:lnSpc>
                          <a:spcPts val="2402"/>
                        </a:lnSpc>
                      </a:pPr>
                      <a:r>
                        <a:rPr lang="en-US" altLang="zh-CN" sz="2400" b="1" spc="-12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Systems</a:t>
                      </a:r>
                      <a:r>
                        <a:rPr lang="en-US" altLang="zh-CN" sz="2400" b="1" spc="-2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b="1" spc="-5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Software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816483" algn="l" rtl="0">
                        <a:lnSpc>
                          <a:spcPts val="2402"/>
                        </a:lnSpc>
                      </a:pPr>
                      <a:r>
                        <a:rPr lang="en-US" altLang="zh-CN" sz="2400" b="1" spc="-5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Application</a:t>
                      </a:r>
                      <a:r>
                        <a:rPr lang="en-US" altLang="zh-CN" sz="2400" b="1" spc="-12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b="1" spc="-5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Software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703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003339" algn="l" rtl="0">
                        <a:lnSpc>
                          <a:spcPts val="2400"/>
                        </a:lnSpc>
                      </a:pPr>
                      <a:r>
                        <a:rPr lang="en-US" altLang="zh-CN" sz="2400" spc="-7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Operating</a:t>
                      </a:r>
                      <a:r>
                        <a:rPr lang="en-US" altLang="zh-CN" sz="2400" spc="-33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16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systems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107567" algn="l" rtl="0">
                        <a:lnSpc>
                          <a:spcPts val="2400"/>
                        </a:lnSpc>
                      </a:pPr>
                      <a:r>
                        <a:rPr lang="en-US" altLang="zh-CN" sz="2400" spc="-3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Word</a:t>
                      </a:r>
                      <a:r>
                        <a:rPr lang="en-US" altLang="zh-CN" sz="2400" spc="-13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7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processors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666304" algn="l" rtl="0">
                        <a:lnSpc>
                          <a:spcPts val="2400"/>
                        </a:lnSpc>
                      </a:pPr>
                      <a:r>
                        <a:rPr lang="en-US" altLang="zh-CN" sz="2400" spc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Utilities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11"/>
                        </a:lnSpc>
                      </a:pPr>
                      <a:endParaRPr/>
                    </a:p>
                    <a:p>
                      <a:pPr marL="1258443" algn="l" rtl="0">
                        <a:lnSpc>
                          <a:spcPts val="2400"/>
                        </a:lnSpc>
                      </a:pPr>
                      <a:r>
                        <a:rPr lang="en-US" altLang="zh-CN" sz="2400" spc="-27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Web</a:t>
                      </a:r>
                      <a:r>
                        <a:rPr lang="en-US" altLang="zh-CN" sz="24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13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browsers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EBE8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1271588" algn="l" rtl="0">
                        <a:lnSpc>
                          <a:spcPts val="2402"/>
                        </a:lnSpc>
                      </a:pPr>
                      <a:r>
                        <a:rPr lang="en-US" altLang="zh-CN" sz="2400" spc="-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User</a:t>
                      </a:r>
                      <a:r>
                        <a:rPr lang="en-US" altLang="zh-CN" sz="2400" spc="-1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9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interface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809"/>
                        </a:lnSpc>
                      </a:pPr>
                      <a:endParaRPr/>
                    </a:p>
                    <a:p>
                      <a:pPr marL="999363" algn="l" rtl="0">
                        <a:lnSpc>
                          <a:spcPts val="2402"/>
                        </a:lnSpc>
                      </a:pPr>
                      <a:r>
                        <a:rPr lang="en-US" altLang="zh-CN" sz="2400" spc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Game</a:t>
                      </a:r>
                      <a:r>
                        <a:rPr lang="en-US" altLang="zh-CN" sz="2400" spc="-24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altLang="zh-CN" sz="2400" spc="-3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applications</a:t>
                      </a:r>
                      <a:endParaRPr lang="en-US" altLang="zh-CN" sz="2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w="317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D5CD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10058"/>
            <a:ext cx="742043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u="none" spc="-5" dirty="0">
                <a:latin typeface="Trebuchet MS"/>
                <a:cs typeface="Trebuchet MS"/>
              </a:rPr>
              <a:t>Why </a:t>
            </a:r>
            <a:r>
              <a:rPr sz="3600" b="0" u="none" spc="-10" dirty="0">
                <a:latin typeface="Trebuchet MS"/>
                <a:cs typeface="Trebuchet MS"/>
              </a:rPr>
              <a:t>Should </a:t>
            </a:r>
            <a:r>
              <a:rPr sz="3600" b="0" u="none" dirty="0">
                <a:latin typeface="Trebuchet MS"/>
                <a:cs typeface="Trebuchet MS"/>
              </a:rPr>
              <a:t>Learn</a:t>
            </a:r>
            <a:r>
              <a:rPr sz="3600" b="0" u="none" spc="-80" dirty="0">
                <a:latin typeface="Trebuchet MS"/>
                <a:cs typeface="Trebuchet MS"/>
              </a:rPr>
              <a:t> </a:t>
            </a:r>
            <a:r>
              <a:rPr sz="3600" b="0" u="none" spc="-5" dirty="0">
                <a:latin typeface="Trebuchet MS"/>
                <a:cs typeface="Trebuchet MS"/>
              </a:rPr>
              <a:t>About  Software?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620000" cy="47528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8100" marR="30480" indent="0">
              <a:lnSpc>
                <a:spcPct val="79800"/>
              </a:lnSpc>
              <a:spcBef>
                <a:spcPts val="630"/>
              </a:spcBef>
              <a:buNone/>
              <a:tabLst>
                <a:tab pos="379095" algn="l"/>
              </a:tabLst>
            </a:pPr>
            <a:r>
              <a:rPr sz="3200" b="1" spc="-5" dirty="0" smtClean="0">
                <a:solidFill>
                  <a:srgbClr val="8FC125"/>
                </a:solidFill>
                <a:latin typeface="Trebuchet MS"/>
                <a:cs typeface="Trebuchet MS"/>
              </a:rPr>
              <a:t>Computer </a:t>
            </a:r>
            <a:r>
              <a:rPr sz="3200" b="1" spc="-5" dirty="0">
                <a:solidFill>
                  <a:srgbClr val="8FC125"/>
                </a:solidFill>
                <a:latin typeface="Trebuchet MS"/>
                <a:cs typeface="Trebuchet MS"/>
              </a:rPr>
              <a:t>software</a:t>
            </a:r>
            <a:r>
              <a:rPr sz="3200" spc="-5" dirty="0"/>
              <a:t>, </a:t>
            </a:r>
            <a:r>
              <a:rPr sz="3200" spc="-10" dirty="0"/>
              <a:t>or </a:t>
            </a:r>
            <a:r>
              <a:rPr sz="3200" spc="-5" dirty="0"/>
              <a:t>simply </a:t>
            </a:r>
            <a:r>
              <a:rPr sz="3200" b="1" spc="-5" dirty="0">
                <a:solidFill>
                  <a:srgbClr val="8FC125"/>
                </a:solidFill>
                <a:latin typeface="Trebuchet MS"/>
                <a:cs typeface="Trebuchet MS"/>
              </a:rPr>
              <a:t>software</a:t>
            </a:r>
            <a:r>
              <a:rPr sz="3200" spc="-5" dirty="0"/>
              <a:t>, is  that </a:t>
            </a:r>
            <a:r>
              <a:rPr sz="3200" spc="-10" dirty="0"/>
              <a:t>part </a:t>
            </a:r>
            <a:r>
              <a:rPr sz="3200" spc="-5" dirty="0"/>
              <a:t>of </a:t>
            </a:r>
            <a:r>
              <a:rPr sz="3200" dirty="0"/>
              <a:t>a </a:t>
            </a:r>
            <a:r>
              <a:rPr sz="3200" spc="-5" dirty="0"/>
              <a:t>computer system that consists  of encoded information or computer  instructions, in contrast </a:t>
            </a:r>
            <a:r>
              <a:rPr sz="3200" dirty="0"/>
              <a:t>to the </a:t>
            </a:r>
            <a:r>
              <a:rPr sz="3200" spc="-5" dirty="0"/>
              <a:t>physical  </a:t>
            </a:r>
            <a:r>
              <a:rPr sz="3200" spc="-5" dirty="0">
                <a:solidFill>
                  <a:srgbClr val="99C93B"/>
                </a:solidFill>
                <a:hlinkClick r:id="rId2"/>
              </a:rPr>
              <a:t>hardware </a:t>
            </a:r>
            <a:r>
              <a:rPr sz="3200" spc="-5" dirty="0"/>
              <a:t>from </a:t>
            </a:r>
            <a:r>
              <a:rPr sz="3200" spc="-10" dirty="0"/>
              <a:t>which </a:t>
            </a:r>
            <a:r>
              <a:rPr sz="3200" dirty="0"/>
              <a:t>the </a:t>
            </a:r>
            <a:r>
              <a:rPr sz="3200" spc="-5" dirty="0"/>
              <a:t>system is</a:t>
            </a:r>
            <a:r>
              <a:rPr sz="3200" spc="-50" dirty="0"/>
              <a:t> </a:t>
            </a:r>
            <a:r>
              <a:rPr sz="3200" spc="-5" dirty="0"/>
              <a:t>built</a:t>
            </a:r>
            <a:r>
              <a:rPr sz="3200" spc="-5" dirty="0" smtClean="0"/>
              <a:t>.</a:t>
            </a:r>
            <a:r>
              <a:rPr lang="en-IN" sz="3200" spc="-5" dirty="0"/>
              <a:t> </a:t>
            </a:r>
            <a:endParaRPr lang="en-IN" sz="3200" spc="-5" dirty="0" smtClean="0"/>
          </a:p>
          <a:p>
            <a:pPr marL="379730" marR="30480" indent="-341630">
              <a:lnSpc>
                <a:spcPct val="79800"/>
              </a:lnSpc>
              <a:spcBef>
                <a:spcPts val="630"/>
              </a:spcBef>
              <a:tabLst>
                <a:tab pos="379095" algn="l"/>
              </a:tabLst>
            </a:pPr>
            <a:r>
              <a:rPr lang="en-IN" sz="3200" spc="-5" dirty="0" smtClean="0"/>
              <a:t>Personal </a:t>
            </a:r>
            <a:r>
              <a:rPr lang="en-IN" sz="3200" spc="-5" dirty="0"/>
              <a:t>tasks using software.</a:t>
            </a:r>
          </a:p>
          <a:p>
            <a:pPr marL="379730" marR="30480" indent="-341630">
              <a:lnSpc>
                <a:spcPct val="79800"/>
              </a:lnSpc>
              <a:spcBef>
                <a:spcPts val="630"/>
              </a:spcBef>
              <a:tabLst>
                <a:tab pos="379095" algn="l"/>
              </a:tabLst>
            </a:pPr>
            <a:r>
              <a:rPr lang="en-IN" sz="3200" spc="-5" dirty="0" smtClean="0"/>
              <a:t> </a:t>
            </a:r>
            <a:r>
              <a:rPr lang="en-IN" sz="3200" spc="-5" dirty="0"/>
              <a:t>Keeping a budget</a:t>
            </a:r>
          </a:p>
          <a:p>
            <a:pPr marL="379730" marR="30480" indent="-341630">
              <a:lnSpc>
                <a:spcPct val="79800"/>
              </a:lnSpc>
              <a:spcBef>
                <a:spcPts val="630"/>
              </a:spcBef>
              <a:tabLst>
                <a:tab pos="379095" algn="l"/>
              </a:tabLst>
            </a:pPr>
            <a:r>
              <a:rPr lang="en-IN" sz="3200" spc="-5" dirty="0" smtClean="0"/>
              <a:t> </a:t>
            </a:r>
            <a:r>
              <a:rPr lang="en-IN" sz="3200" spc="-5" dirty="0"/>
              <a:t>Internet research</a:t>
            </a:r>
          </a:p>
          <a:p>
            <a:pPr marL="379730" marR="30480" indent="-341630">
              <a:lnSpc>
                <a:spcPct val="79800"/>
              </a:lnSpc>
              <a:spcBef>
                <a:spcPts val="630"/>
              </a:spcBef>
              <a:tabLst>
                <a:tab pos="379095" algn="l"/>
              </a:tabLst>
            </a:pPr>
            <a:r>
              <a:rPr lang="en-IN" sz="3200" spc="-5" dirty="0"/>
              <a:t> </a:t>
            </a:r>
            <a:r>
              <a:rPr lang="en-IN" sz="3200" spc="-5" dirty="0" smtClean="0"/>
              <a:t>Games</a:t>
            </a:r>
            <a:endParaRPr lang="en-IN" sz="3200" spc="-5" dirty="0"/>
          </a:p>
          <a:p>
            <a:pPr marL="379730" marR="30480" indent="-341630">
              <a:lnSpc>
                <a:spcPct val="79800"/>
              </a:lnSpc>
              <a:spcBef>
                <a:spcPts val="630"/>
              </a:spcBef>
              <a:tabLst>
                <a:tab pos="379095" algn="l"/>
              </a:tabLst>
            </a:pPr>
            <a:r>
              <a:rPr lang="en-IN" sz="3200" spc="-5" dirty="0" smtClean="0"/>
              <a:t> </a:t>
            </a:r>
            <a:r>
              <a:rPr lang="en-IN" sz="3200" spc="-5" dirty="0"/>
              <a:t>Music</a:t>
            </a:r>
            <a:endParaRPr lang="en-US" sz="3200" spc="-5" dirty="0" smtClean="0"/>
          </a:p>
          <a:p>
            <a:pPr marL="379730" marR="30480" indent="-341630">
              <a:lnSpc>
                <a:spcPct val="79800"/>
              </a:lnSpc>
              <a:spcBef>
                <a:spcPts val="630"/>
              </a:spcBef>
              <a:tabLst>
                <a:tab pos="379095" algn="l"/>
              </a:tabLst>
            </a:pPr>
            <a:endParaRPr sz="2200" dirty="0">
              <a:latin typeface="Trebuchet MS"/>
              <a:cs typeface="Trebuchet MS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1691680" y="5013176"/>
            <a:ext cx="7776864" cy="192616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2000" dirty="0" smtClean="0">
                <a:solidFill>
                  <a:srgbClr val="FFFFFF"/>
                </a:solidFill>
                <a:latin typeface="Trebuchet MS"/>
                <a:cs typeface="Trebuchet MS"/>
              </a:rPr>
              <a:t>Per</a:t>
            </a:r>
            <a:r>
              <a:rPr lang="en-IN" sz="2000" dirty="0">
                <a:solidFill>
                  <a:srgbClr val="FFFFFF"/>
                </a:solidFill>
                <a:latin typeface="Trebuchet MS"/>
                <a:cs typeface="Trebuchet MS"/>
              </a:rPr>
              <a:t>Personal </a:t>
            </a:r>
            <a:r>
              <a:rPr lang="en-IN" sz="2000" spc="-5" dirty="0">
                <a:solidFill>
                  <a:srgbClr val="FFFFFF"/>
                </a:solidFill>
                <a:latin typeface="Trebuchet MS"/>
                <a:cs typeface="Trebuchet MS"/>
              </a:rPr>
              <a:t>tasks </a:t>
            </a:r>
            <a:r>
              <a:rPr lang="en-IN" sz="2000" dirty="0">
                <a:solidFill>
                  <a:srgbClr val="FFFFFF"/>
                </a:solidFill>
                <a:latin typeface="Trebuchet MS"/>
                <a:cs typeface="Trebuchet MS"/>
              </a:rPr>
              <a:t>using</a:t>
            </a:r>
            <a:r>
              <a:rPr lang="en-IN" sz="200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IN" sz="2000" spc="-5" dirty="0" err="1">
                <a:solidFill>
                  <a:srgbClr val="FFFFFF"/>
                </a:solidFill>
                <a:latin typeface="Trebuchet MS"/>
                <a:cs typeface="Trebuchet MS"/>
              </a:rPr>
              <a:t>softPersonal</a:t>
            </a:r>
            <a:r>
              <a:rPr lang="en-IN" sz="2000" spc="-5" dirty="0">
                <a:solidFill>
                  <a:srgbClr val="FFFFFF"/>
                </a:solidFill>
                <a:latin typeface="Trebuchet MS"/>
                <a:cs typeface="Trebuchet MS"/>
              </a:rPr>
              <a:t> tasks using software.</a:t>
            </a: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lang="en-IN" sz="2000" spc="-5" dirty="0">
                <a:solidFill>
                  <a:srgbClr val="FFFFFF"/>
                </a:solidFill>
                <a:latin typeface="Trebuchet MS"/>
                <a:cs typeface="Trebuchet MS"/>
              </a:rPr>
              <a:t> Keeping a budget</a:t>
            </a: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lang="en-IN" sz="2000" spc="-5" dirty="0">
                <a:solidFill>
                  <a:srgbClr val="FFFFFF"/>
                </a:solidFill>
                <a:latin typeface="Trebuchet MS"/>
                <a:cs typeface="Trebuchet MS"/>
              </a:rPr>
              <a:t> Internet research</a:t>
            </a: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lang="en-IN" sz="2000" spc="-5" dirty="0">
                <a:solidFill>
                  <a:srgbClr val="FFFFFF"/>
                </a:solidFill>
                <a:latin typeface="Trebuchet MS"/>
                <a:cs typeface="Trebuchet MS"/>
              </a:rPr>
              <a:t> Games</a:t>
            </a:r>
          </a:p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lang="en-IN" sz="2000" spc="-5" dirty="0">
                <a:solidFill>
                  <a:srgbClr val="FFFFFF"/>
                </a:solidFill>
                <a:latin typeface="Trebuchet MS"/>
                <a:cs typeface="Trebuchet MS"/>
              </a:rPr>
              <a:t> </a:t>
            </a:r>
            <a:r>
              <a:rPr lang="en-IN" sz="2000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Music</a:t>
            </a:r>
            <a:endParaRPr lang="en-IN" sz="2000" spc="-5" dirty="0">
              <a:solidFill>
                <a:srgbClr val="FFFFFF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85761448"/>
      </p:ext>
    </p:extLst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44" y="188640"/>
            <a:ext cx="7992888" cy="2926314"/>
          </a:xfrm>
          <a:prstGeom prst="rect">
            <a:avLst/>
          </a:prstGeom>
        </p:spPr>
        <p:txBody>
          <a:bodyPr vert="horz" wrap="square" lIns="0" tIns="198755" rIns="0" bIns="0" rtlCol="0">
            <a:spAutoFit/>
          </a:bodyPr>
          <a:lstStyle/>
          <a:p>
            <a:pPr marL="2936240" marR="544195" indent="372110">
              <a:lnSpc>
                <a:spcPct val="122900"/>
              </a:lnSpc>
              <a:spcBef>
                <a:spcPts val="330"/>
              </a:spcBef>
            </a:pPr>
            <a:r>
              <a:rPr sz="3600" b="0" u="none" spc="-5" dirty="0" smtClean="0">
                <a:solidFill>
                  <a:schemeClr val="tx1"/>
                </a:solidFill>
                <a:latin typeface="Trebuchet MS"/>
                <a:cs typeface="Trebuchet MS"/>
              </a:rPr>
              <a:t>System </a:t>
            </a:r>
            <a:r>
              <a:rPr sz="3600" b="0" u="none" spc="-5" dirty="0">
                <a:solidFill>
                  <a:schemeClr val="tx1"/>
                </a:solidFill>
                <a:latin typeface="Trebuchet MS"/>
                <a:cs typeface="Trebuchet MS"/>
              </a:rPr>
              <a:t>Software  </a:t>
            </a:r>
            <a:r>
              <a:rPr lang="en-IN" sz="3600" spc="-5" dirty="0">
                <a:solidFill>
                  <a:srgbClr val="FFFFFF"/>
                </a:solidFill>
                <a:latin typeface="Trebuchet MS"/>
                <a:cs typeface="Trebuchet MS"/>
              </a:rPr>
              <a:t>Types of Software</a:t>
            </a:r>
            <a:r>
              <a:rPr sz="3600" b="0" u="none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Application</a:t>
            </a:r>
            <a:r>
              <a:rPr sz="3600" b="0" u="none" spc="-80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b="0" u="none" spc="-5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03648" y="3068960"/>
            <a:ext cx="6334760" cy="3105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637449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3380" y="3948429"/>
            <a:ext cx="3115310" cy="2677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642620"/>
            <a:ext cx="3590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u="none" spc="-5" dirty="0">
                <a:latin typeface="Trebuchet MS"/>
                <a:cs typeface="Trebuchet MS"/>
              </a:rPr>
              <a:t>System</a:t>
            </a:r>
            <a:r>
              <a:rPr sz="3600" b="0" u="none" spc="-90" dirty="0">
                <a:latin typeface="Trebuchet MS"/>
                <a:cs typeface="Trebuchet MS"/>
              </a:rPr>
              <a:t> </a:t>
            </a:r>
            <a:r>
              <a:rPr sz="3600" b="0" u="none" spc="-5" dirty="0">
                <a:latin typeface="Trebuchet MS"/>
                <a:cs typeface="Trebuchet MS"/>
              </a:rPr>
              <a:t>Software: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1600" y="1772816"/>
            <a:ext cx="64087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dirty="0"/>
              <a:t>System Software includes the Operating System and  all the utilities that enable the computer to </a:t>
            </a:r>
            <a:r>
              <a:rPr lang="en-IN" dirty="0" smtClean="0"/>
              <a:t>function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 smtClean="0"/>
              <a:t>System </a:t>
            </a:r>
            <a:r>
              <a:rPr lang="en-IN" dirty="0"/>
              <a:t>Software includes the Operating System and  all the utilities that enable the computer to </a:t>
            </a:r>
            <a:r>
              <a:rPr lang="en-IN" dirty="0" smtClean="0"/>
              <a:t>function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dirty="0" smtClean="0"/>
              <a:t>Example : Operating </a:t>
            </a:r>
            <a:r>
              <a:rPr lang="en-IN" dirty="0"/>
              <a:t>Systems, Compiler, Loader, Linker,  </a:t>
            </a:r>
            <a:r>
              <a:rPr lang="en-IN" dirty="0" err="1" smtClean="0"/>
              <a:t>Interpreter</a:t>
            </a:r>
            <a:r>
              <a:rPr lang="en-IN" spc="-5" dirty="0" err="1" smtClean="0">
                <a:solidFill>
                  <a:srgbClr val="FFFFFF"/>
                </a:solidFill>
                <a:latin typeface="Trebuchet MS"/>
                <a:cs typeface="Trebuchet MS"/>
              </a:rPr>
              <a:t>ystm</a:t>
            </a:r>
            <a:r>
              <a:rPr lang="en-IN" spc="-5" dirty="0" smtClean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IN" spc="-5" dirty="0">
                <a:solidFill>
                  <a:srgbClr val="FFFFFF"/>
                </a:solidFill>
                <a:latin typeface="Trebuchet MS"/>
                <a:cs typeface="Trebuchet MS"/>
              </a:rPr>
              <a:t>and  all the utilities that enable the computer </a:t>
            </a:r>
            <a:r>
              <a:rPr lang="en-IN" spc="-1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lang="en-IN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IN" spc="-5" dirty="0">
                <a:solidFill>
                  <a:srgbClr val="FFFFFF"/>
                </a:solidFill>
                <a:latin typeface="Trebuchet MS"/>
                <a:cs typeface="Trebuchet MS"/>
              </a:rPr>
              <a:t>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03708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642620"/>
            <a:ext cx="5403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u="none" spc="-5" dirty="0">
                <a:latin typeface="Trebuchet MS"/>
                <a:cs typeface="Trebuchet MS"/>
              </a:rPr>
              <a:t>Types of </a:t>
            </a:r>
            <a:r>
              <a:rPr sz="3600" b="0" u="none" spc="-10" dirty="0">
                <a:latin typeface="Trebuchet MS"/>
                <a:cs typeface="Trebuchet MS"/>
              </a:rPr>
              <a:t>systems</a:t>
            </a:r>
            <a:r>
              <a:rPr sz="3600" b="0" u="none" spc="-65" dirty="0">
                <a:latin typeface="Trebuchet MS"/>
                <a:cs typeface="Trebuchet MS"/>
              </a:rPr>
              <a:t> </a:t>
            </a:r>
            <a:r>
              <a:rPr sz="3600" b="0" u="none" spc="-5" dirty="0">
                <a:latin typeface="Trebuchet MS"/>
                <a:cs typeface="Trebuchet MS"/>
              </a:rPr>
              <a:t>software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08" y="1844824"/>
            <a:ext cx="56886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Operating systems</a:t>
            </a:r>
          </a:p>
          <a:p>
            <a:r>
              <a:rPr lang="en-IN" sz="3200" dirty="0" smtClean="0"/>
              <a:t>Utility programs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72699944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9169" y="1597659"/>
            <a:ext cx="6363970" cy="30226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68300" marR="356235" indent="-342900">
              <a:lnSpc>
                <a:spcPts val="2590"/>
              </a:lnSpc>
              <a:spcBef>
                <a:spcPts val="425"/>
              </a:spcBef>
              <a:buFont typeface="Symbol"/>
              <a:buChar char=""/>
              <a:tabLst>
                <a:tab pos="36830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Operating system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(OS):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set of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programs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that  controls the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computer hardware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acts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as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an  interface with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application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programs.</a:t>
            </a:r>
            <a:endParaRPr sz="2400" dirty="0">
              <a:latin typeface="Times New Roman"/>
              <a:cs typeface="Times New Roman"/>
            </a:endParaRPr>
          </a:p>
          <a:p>
            <a:pPr marL="368300" marR="214629" indent="-342900">
              <a:lnSpc>
                <a:spcPts val="2590"/>
              </a:lnSpc>
              <a:buFont typeface="Symbol"/>
              <a:buChar char=""/>
              <a:tabLst>
                <a:tab pos="36830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Operating System is a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software, which makes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computer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to actually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work.</a:t>
            </a:r>
            <a:endParaRPr sz="2400" dirty="0">
              <a:latin typeface="Times New Roman"/>
              <a:cs typeface="Times New Roman"/>
            </a:endParaRPr>
          </a:p>
          <a:p>
            <a:pPr marL="368300" marR="17780" indent="-342900">
              <a:lnSpc>
                <a:spcPts val="2590"/>
              </a:lnSpc>
              <a:buFont typeface="Symbol"/>
              <a:buChar char=""/>
              <a:tabLst>
                <a:tab pos="36830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It is the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software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enables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all the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programs we  use.</a:t>
            </a:r>
            <a:endParaRPr sz="2400" dirty="0">
              <a:latin typeface="Times New Roman"/>
              <a:cs typeface="Times New Roman"/>
            </a:endParaRPr>
          </a:p>
          <a:p>
            <a:pPr marL="368300" marR="180340" indent="-342900">
              <a:lnSpc>
                <a:spcPts val="2590"/>
              </a:lnSpc>
              <a:tabLst>
                <a:tab pos="329565" algn="l"/>
              </a:tabLst>
            </a:pPr>
            <a:r>
              <a:rPr sz="24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400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Examples: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Windows, Linux, Unix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 Mac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OS,  etc.,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6669" y="544829"/>
            <a:ext cx="42030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5" dirty="0">
                <a:solidFill>
                  <a:srgbClr val="92D050"/>
                </a:solidFill>
                <a:latin typeface="Times New Roman"/>
                <a:cs typeface="Times New Roman"/>
              </a:rPr>
              <a:t>Operating</a:t>
            </a:r>
            <a:r>
              <a:rPr sz="4400" b="0" spc="-70" dirty="0">
                <a:solidFill>
                  <a:srgbClr val="92D050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92D050"/>
                </a:solidFill>
                <a:latin typeface="Times New Roman"/>
                <a:cs typeface="Times New Roman"/>
              </a:rPr>
              <a:t>System</a:t>
            </a:r>
            <a:r>
              <a:rPr sz="4400" b="0" dirty="0">
                <a:latin typeface="Times New Roman"/>
                <a:cs typeface="Times New Roman"/>
              </a:rPr>
              <a:t>: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6800" y="4800600"/>
            <a:ext cx="7543800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51579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1219200"/>
            <a:ext cx="5638800" cy="4142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140" y="414020"/>
            <a:ext cx="5502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u="none" spc="-5" dirty="0">
                <a:latin typeface="Trebuchet MS"/>
                <a:cs typeface="Trebuchet MS"/>
              </a:rPr>
              <a:t>Current Operating</a:t>
            </a:r>
            <a:r>
              <a:rPr sz="3600" b="0" u="none" spc="-50" dirty="0">
                <a:latin typeface="Trebuchet MS"/>
                <a:cs typeface="Trebuchet MS"/>
              </a:rPr>
              <a:t> </a:t>
            </a:r>
            <a:r>
              <a:rPr sz="3600" b="0" u="none" spc="-10" dirty="0">
                <a:latin typeface="Trebuchet MS"/>
                <a:cs typeface="Trebuchet MS"/>
              </a:rPr>
              <a:t>Systems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4889" y="5947409"/>
            <a:ext cx="7073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Popular Operating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Systems Cross 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Three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Spheres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Influence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4164120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1352</Words>
  <Application>Microsoft Office PowerPoint</Application>
  <PresentationFormat>On-screen Show (4:3)</PresentationFormat>
  <Paragraphs>306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Adjacency</vt:lpstr>
      <vt:lpstr>PowerPoint Presentation</vt:lpstr>
      <vt:lpstr>PowerPoint Presentation</vt:lpstr>
      <vt:lpstr>PowerPoint Presentation</vt:lpstr>
      <vt:lpstr>The Abacus  The first computing aid that were used to help  them in their computation.</vt:lpstr>
      <vt:lpstr>Basic components of a computer are :</vt:lpstr>
      <vt:lpstr>PowerPoint Presentation</vt:lpstr>
      <vt:lpstr>PowerPoint Presentation</vt:lpstr>
      <vt:lpstr>1. Input Unit</vt:lpstr>
      <vt:lpstr>PowerPoint Presentation</vt:lpstr>
      <vt:lpstr>PowerPoint Presentation</vt:lpstr>
      <vt:lpstr>Keyboard</vt:lpstr>
      <vt:lpstr>PowerPoint Presentation</vt:lpstr>
      <vt:lpstr>Ball Mouse</vt:lpstr>
      <vt:lpstr>Optical Mouse</vt:lpstr>
      <vt:lpstr>2.  Output  Unit</vt:lpstr>
      <vt:lpstr>PowerPoint Presentation</vt:lpstr>
      <vt:lpstr>PowerPoint Presentation</vt:lpstr>
      <vt:lpstr>Monitor</vt:lpstr>
      <vt:lpstr>Printer</vt:lpstr>
      <vt:lpstr>3. Memory / Storage  Devices</vt:lpstr>
      <vt:lpstr>Primary Memory</vt:lpstr>
      <vt:lpstr>1.RAM(Random Access Memory)</vt:lpstr>
      <vt:lpstr>Static RAM</vt:lpstr>
      <vt:lpstr>Dynamic RAM</vt:lpstr>
      <vt:lpstr>2.ROM (Read Only Memory)</vt:lpstr>
      <vt:lpstr>PowerPoint Presentation</vt:lpstr>
      <vt:lpstr>PowerPoint Presentation</vt:lpstr>
      <vt:lpstr>Secondary Memory</vt:lpstr>
      <vt:lpstr>Magnetic Disc</vt:lpstr>
      <vt:lpstr>Hard Disk</vt:lpstr>
      <vt:lpstr>Floppy Disk</vt:lpstr>
      <vt:lpstr>Optical disk</vt:lpstr>
      <vt:lpstr>4.   Processor Or CPU</vt:lpstr>
      <vt:lpstr>PowerPoint Presentation</vt:lpstr>
      <vt:lpstr>Control Unit</vt:lpstr>
      <vt:lpstr>PowerPoint Presentation</vt:lpstr>
      <vt:lpstr>PowerPoint Presentation</vt:lpstr>
      <vt:lpstr>Why Should Learn About  Software?</vt:lpstr>
      <vt:lpstr>System Software  Types of SoftwareApplication Software</vt:lpstr>
      <vt:lpstr>System Software:</vt:lpstr>
      <vt:lpstr>Types of systems software</vt:lpstr>
      <vt:lpstr>Operating System:</vt:lpstr>
      <vt:lpstr>Current Operating Systems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ws</dc:creator>
  <cp:lastModifiedBy>Jyotsna</cp:lastModifiedBy>
  <cp:revision>25</cp:revision>
  <dcterms:created xsi:type="dcterms:W3CDTF">2017-10-23T09:06:44Z</dcterms:created>
  <dcterms:modified xsi:type="dcterms:W3CDTF">2021-06-17T17:15:19Z</dcterms:modified>
</cp:coreProperties>
</file>