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72" r:id="rId11"/>
    <p:sldId id="273" r:id="rId12"/>
    <p:sldId id="274" r:id="rId13"/>
    <p:sldId id="265" r:id="rId14"/>
    <p:sldId id="266" r:id="rId15"/>
    <p:sldId id="267" r:id="rId16"/>
    <p:sldId id="268" r:id="rId17"/>
    <p:sldId id="269" r:id="rId18"/>
    <p:sldId id="278" r:id="rId19"/>
    <p:sldId id="279" r:id="rId20"/>
    <p:sldId id="280" r:id="rId21"/>
    <p:sldId id="281" r:id="rId22"/>
    <p:sldId id="282" r:id="rId23"/>
    <p:sldId id="283" r:id="rId24"/>
    <p:sldId id="270" r:id="rId25"/>
    <p:sldId id="271" r:id="rId26"/>
    <p:sldId id="284" r:id="rId27"/>
    <p:sldId id="275" r:id="rId28"/>
    <p:sldId id="276" r:id="rId29"/>
    <p:sldId id="277"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7/6/2021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7/6/2021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7/6/2021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7/6/2021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7/6/2021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Operators</a:t>
            </a:r>
            <a:endParaRPr lang="en-IN" dirty="0"/>
          </a:p>
        </p:txBody>
      </p:sp>
      <p:sp>
        <p:nvSpPr>
          <p:cNvPr id="3" name="Subtitle 2"/>
          <p:cNvSpPr>
            <a:spLocks noGrp="1"/>
          </p:cNvSpPr>
          <p:nvPr>
            <p:ph type="subTitle" idx="1"/>
          </p:nvPr>
        </p:nvSpPr>
        <p:spPr/>
        <p:txBody>
          <a:bodyPr/>
          <a:lstStyle/>
          <a:p>
            <a:pPr algn="l"/>
            <a:r>
              <a:rPr lang="en-US" dirty="0" smtClean="0">
                <a:solidFill>
                  <a:schemeClr val="tx1"/>
                </a:solidFill>
              </a:rPr>
              <a:t>Prepared By:</a:t>
            </a:r>
          </a:p>
          <a:p>
            <a:pPr algn="l"/>
            <a:r>
              <a:rPr lang="en-US" dirty="0" smtClean="0">
                <a:solidFill>
                  <a:schemeClr val="tx1"/>
                </a:solidFill>
              </a:rPr>
              <a:t>Asst. Prof. </a:t>
            </a:r>
            <a:r>
              <a:rPr lang="en-US" dirty="0" err="1" smtClean="0">
                <a:solidFill>
                  <a:schemeClr val="tx1"/>
                </a:solidFill>
              </a:rPr>
              <a:t>Jyotsnarani</a:t>
            </a:r>
            <a:r>
              <a:rPr lang="en-US" dirty="0" smtClean="0">
                <a:solidFill>
                  <a:schemeClr val="tx1"/>
                </a:solidFill>
              </a:rPr>
              <a:t> </a:t>
            </a:r>
            <a:r>
              <a:rPr lang="en-US" dirty="0" err="1" smtClean="0">
                <a:solidFill>
                  <a:schemeClr val="tx1"/>
                </a:solidFill>
              </a:rPr>
              <a:t>Tripathy</a:t>
            </a:r>
            <a:endParaRPr lang="en-IN" dirty="0">
              <a:solidFill>
                <a:schemeClr val="tx1"/>
              </a:solidFill>
            </a:endParaRPr>
          </a:p>
        </p:txBody>
      </p:sp>
    </p:spTree>
    <p:extLst>
      <p:ext uri="{BB962C8B-B14F-4D97-AF65-F5344CB8AC3E}">
        <p14:creationId xmlns:p14="http://schemas.microsoft.com/office/powerpoint/2010/main" val="374659829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IN" dirty="0"/>
          </a:p>
        </p:txBody>
      </p:sp>
      <p:sp>
        <p:nvSpPr>
          <p:cNvPr id="3" name="Content Placeholder 2"/>
          <p:cNvSpPr>
            <a:spLocks noGrp="1"/>
          </p:cNvSpPr>
          <p:nvPr>
            <p:ph idx="1"/>
          </p:nvPr>
        </p:nvSpPr>
        <p:spPr/>
        <p:txBody>
          <a:bodyPr/>
          <a:lstStyle/>
          <a:p>
            <a:r>
              <a:rPr lang="en-IN" dirty="0"/>
              <a:t>C language supports a rich set of built-in operators. An operator is a symbol that tells the compiler to perform a certain mathematical or logical manipulation. </a:t>
            </a:r>
            <a:endParaRPr lang="en-IN" dirty="0" smtClean="0"/>
          </a:p>
          <a:p>
            <a:r>
              <a:rPr lang="en-IN" dirty="0" smtClean="0"/>
              <a:t>Operators </a:t>
            </a:r>
            <a:r>
              <a:rPr lang="en-IN" dirty="0"/>
              <a:t>are used in programs to manipulate data and variables.</a:t>
            </a:r>
          </a:p>
          <a:p>
            <a:pPr marL="0" indent="0">
              <a:buNone/>
            </a:pPr>
            <a:r>
              <a:rPr lang="en-IN" dirty="0"/>
              <a:t/>
            </a:r>
            <a:br>
              <a:rPr lang="en-IN" dirty="0"/>
            </a:br>
            <a:endParaRPr lang="en-IN" dirty="0"/>
          </a:p>
        </p:txBody>
      </p:sp>
    </p:spTree>
    <p:extLst>
      <p:ext uri="{BB962C8B-B14F-4D97-AF65-F5344CB8AC3E}">
        <p14:creationId xmlns:p14="http://schemas.microsoft.com/office/powerpoint/2010/main" val="426492822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a:t>
            </a:r>
            <a:endParaRPr lang="en-IN" dirty="0"/>
          </a:p>
        </p:txBody>
      </p:sp>
      <p:sp>
        <p:nvSpPr>
          <p:cNvPr id="3" name="Content Placeholder 2"/>
          <p:cNvSpPr>
            <a:spLocks noGrp="1"/>
          </p:cNvSpPr>
          <p:nvPr>
            <p:ph idx="1"/>
          </p:nvPr>
        </p:nvSpPr>
        <p:spPr/>
        <p:txBody>
          <a:bodyPr>
            <a:normAutofit fontScale="92500" lnSpcReduction="20000"/>
          </a:bodyPr>
          <a:lstStyle/>
          <a:p>
            <a:r>
              <a:rPr lang="en-IN" dirty="0"/>
              <a:t>C operators can be classified into following types:</a:t>
            </a:r>
          </a:p>
          <a:p>
            <a:r>
              <a:rPr lang="en-IN" dirty="0"/>
              <a:t>Arithmetic operators</a:t>
            </a:r>
          </a:p>
          <a:p>
            <a:r>
              <a:rPr lang="en-IN" dirty="0"/>
              <a:t>Relational operators</a:t>
            </a:r>
          </a:p>
          <a:p>
            <a:r>
              <a:rPr lang="en-IN" dirty="0"/>
              <a:t>Logical operators</a:t>
            </a:r>
          </a:p>
          <a:p>
            <a:r>
              <a:rPr lang="en-IN" dirty="0"/>
              <a:t>Bitwise </a:t>
            </a:r>
            <a:r>
              <a:rPr lang="en-IN" dirty="0" smtClean="0"/>
              <a:t>operators</a:t>
            </a:r>
          </a:p>
          <a:p>
            <a:r>
              <a:rPr lang="en-US" dirty="0" smtClean="0"/>
              <a:t>Increment decrement operator</a:t>
            </a:r>
            <a:endParaRPr lang="en-IN" dirty="0"/>
          </a:p>
          <a:p>
            <a:r>
              <a:rPr lang="en-IN" dirty="0"/>
              <a:t>Assignment operators</a:t>
            </a:r>
          </a:p>
          <a:p>
            <a:r>
              <a:rPr lang="en-IN" dirty="0"/>
              <a:t>Conditional operators</a:t>
            </a:r>
          </a:p>
          <a:p>
            <a:r>
              <a:rPr lang="en-IN" dirty="0"/>
              <a:t>Special operators</a:t>
            </a:r>
          </a:p>
        </p:txBody>
      </p:sp>
    </p:spTree>
    <p:extLst>
      <p:ext uri="{BB962C8B-B14F-4D97-AF65-F5344CB8AC3E}">
        <p14:creationId xmlns:p14="http://schemas.microsoft.com/office/powerpoint/2010/main" val="145663420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Arithmetic operators</a:t>
            </a:r>
            <a:br>
              <a:rPr lang="en-IN" dirty="0"/>
            </a:br>
            <a:endParaRPr lang="en-IN" dirty="0"/>
          </a:p>
        </p:txBody>
      </p:sp>
      <p:sp>
        <p:nvSpPr>
          <p:cNvPr id="3" name="Content Placeholder 2"/>
          <p:cNvSpPr>
            <a:spLocks noGrp="1"/>
          </p:cNvSpPr>
          <p:nvPr>
            <p:ph idx="1"/>
          </p:nvPr>
        </p:nvSpPr>
        <p:spPr>
          <a:xfrm>
            <a:off x="457200" y="838200"/>
            <a:ext cx="8229600" cy="5287963"/>
          </a:xfrm>
        </p:spPr>
        <p:txBody>
          <a:bodyPr>
            <a:normAutofit/>
          </a:bodyPr>
          <a:lstStyle/>
          <a:p>
            <a:r>
              <a:rPr lang="en-IN" sz="2800" dirty="0"/>
              <a:t>C supports all the basic arithmetic operators. The following table shows all the basic arithmetic operators</a:t>
            </a:r>
            <a:r>
              <a:rPr lang="en-IN" sz="2800" dirty="0" smtClean="0"/>
              <a:t>.</a:t>
            </a:r>
          </a:p>
          <a:p>
            <a:endParaRPr lang="en-IN" sz="2800" dirty="0"/>
          </a:p>
        </p:txBody>
      </p:sp>
      <p:graphicFrame>
        <p:nvGraphicFramePr>
          <p:cNvPr id="4" name="Table 3"/>
          <p:cNvGraphicFramePr>
            <a:graphicFrameLocks noGrp="1"/>
          </p:cNvGraphicFramePr>
          <p:nvPr>
            <p:extLst>
              <p:ext uri="{D42A27DB-BD31-4B8C-83A1-F6EECF244321}">
                <p14:modId xmlns:p14="http://schemas.microsoft.com/office/powerpoint/2010/main" val="577114383"/>
              </p:ext>
            </p:extLst>
          </p:nvPr>
        </p:nvGraphicFramePr>
        <p:xfrm>
          <a:off x="990600" y="2362200"/>
          <a:ext cx="7010400" cy="3962402"/>
        </p:xfrm>
        <a:graphic>
          <a:graphicData uri="http://schemas.openxmlformats.org/drawingml/2006/table">
            <a:tbl>
              <a:tblPr/>
              <a:tblGrid>
                <a:gridCol w="3505200"/>
                <a:gridCol w="3505200"/>
              </a:tblGrid>
              <a:tr h="544076">
                <a:tc>
                  <a:txBody>
                    <a:bodyPr/>
                    <a:lstStyle/>
                    <a:p>
                      <a:pPr algn="l" fontAlgn="t"/>
                      <a:r>
                        <a:rPr lang="en-IN" sz="1600" dirty="0">
                          <a:effectLst/>
                        </a:rPr>
                        <a:t>Operator</a:t>
                      </a:r>
                    </a:p>
                  </a:txBody>
                  <a:tcPr marL="68162" marR="68162" marT="68162" marB="6816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t"/>
                      <a:r>
                        <a:rPr lang="en-IN" sz="1600">
                          <a:effectLst/>
                        </a:rPr>
                        <a:t>Description</a:t>
                      </a:r>
                    </a:p>
                  </a:txBody>
                  <a:tcPr marL="68162" marR="68162" marT="68162" marB="6816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r>
              <a:tr h="544076">
                <a:tc>
                  <a:txBody>
                    <a:bodyPr/>
                    <a:lstStyle/>
                    <a:p>
                      <a:pPr fontAlgn="t"/>
                      <a:r>
                        <a:rPr lang="en-IN" sz="1600">
                          <a:effectLst/>
                        </a:rPr>
                        <a:t>+</a:t>
                      </a:r>
                    </a:p>
                  </a:txBody>
                  <a:tcPr marL="68162" marR="68162" marT="68162" marB="6816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sz="1600">
                          <a:effectLst/>
                        </a:rPr>
                        <a:t>adds two operands</a:t>
                      </a:r>
                    </a:p>
                  </a:txBody>
                  <a:tcPr marL="68162" marR="68162" marT="68162" marB="6816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893049">
                <a:tc>
                  <a:txBody>
                    <a:bodyPr/>
                    <a:lstStyle/>
                    <a:p>
                      <a:pPr fontAlgn="t"/>
                      <a:r>
                        <a:rPr lang="en-IN" sz="1600">
                          <a:effectLst/>
                        </a:rPr>
                        <a:t>-</a:t>
                      </a:r>
                    </a:p>
                  </a:txBody>
                  <a:tcPr marL="68162" marR="68162" marT="68162" marB="6816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fontAlgn="t"/>
                      <a:r>
                        <a:rPr lang="en-IN" sz="1600">
                          <a:effectLst/>
                        </a:rPr>
                        <a:t>subtract second operands from first</a:t>
                      </a:r>
                    </a:p>
                  </a:txBody>
                  <a:tcPr marL="68162" marR="68162" marT="68162" marB="6816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r>
              <a:tr h="544076">
                <a:tc>
                  <a:txBody>
                    <a:bodyPr/>
                    <a:lstStyle/>
                    <a:p>
                      <a:pPr fontAlgn="t"/>
                      <a:r>
                        <a:rPr lang="en-IN" sz="1600">
                          <a:effectLst/>
                        </a:rPr>
                        <a:t>*</a:t>
                      </a:r>
                    </a:p>
                  </a:txBody>
                  <a:tcPr marL="68162" marR="68162" marT="68162" marB="6816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sz="1600">
                          <a:effectLst/>
                        </a:rPr>
                        <a:t>multiply two operand</a:t>
                      </a:r>
                    </a:p>
                  </a:txBody>
                  <a:tcPr marL="68162" marR="68162" marT="68162" marB="6816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893049">
                <a:tc>
                  <a:txBody>
                    <a:bodyPr/>
                    <a:lstStyle/>
                    <a:p>
                      <a:pPr fontAlgn="t"/>
                      <a:r>
                        <a:rPr lang="en-IN" sz="1600">
                          <a:effectLst/>
                        </a:rPr>
                        <a:t>/</a:t>
                      </a:r>
                    </a:p>
                  </a:txBody>
                  <a:tcPr marL="68162" marR="68162" marT="68162" marB="6816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fontAlgn="t"/>
                      <a:r>
                        <a:rPr lang="en-IN" sz="1600">
                          <a:effectLst/>
                        </a:rPr>
                        <a:t>divide numerator by denominator</a:t>
                      </a:r>
                    </a:p>
                  </a:txBody>
                  <a:tcPr marL="68162" marR="68162" marT="68162" marB="6816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r>
              <a:tr h="544076">
                <a:tc>
                  <a:txBody>
                    <a:bodyPr/>
                    <a:lstStyle/>
                    <a:p>
                      <a:pPr fontAlgn="t"/>
                      <a:r>
                        <a:rPr lang="en-IN" sz="1600">
                          <a:effectLst/>
                        </a:rPr>
                        <a:t>%</a:t>
                      </a:r>
                    </a:p>
                  </a:txBody>
                  <a:tcPr marL="68162" marR="68162" marT="68162" marB="6816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sz="1600" dirty="0">
                          <a:effectLst/>
                        </a:rPr>
                        <a:t>remainder of division</a:t>
                      </a:r>
                    </a:p>
                  </a:txBody>
                  <a:tcPr marL="68162" marR="68162" marT="68162" marB="68162">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64896513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Relational operators</a:t>
            </a:r>
          </a:p>
        </p:txBody>
      </p:sp>
      <p:sp>
        <p:nvSpPr>
          <p:cNvPr id="3" name="Content Placeholder 2"/>
          <p:cNvSpPr>
            <a:spLocks noGrp="1"/>
          </p:cNvSpPr>
          <p:nvPr>
            <p:ph idx="1"/>
          </p:nvPr>
        </p:nvSpPr>
        <p:spPr/>
        <p:txBody>
          <a:bodyPr>
            <a:normAutofit fontScale="77500" lnSpcReduction="20000"/>
          </a:bodyPr>
          <a:lstStyle/>
          <a:p>
            <a:r>
              <a:rPr lang="en-IN" dirty="0"/>
              <a:t>The following </a:t>
            </a:r>
            <a:r>
              <a:rPr lang="en-IN" dirty="0" smtClean="0"/>
              <a:t> </a:t>
            </a:r>
            <a:r>
              <a:rPr lang="en-IN" dirty="0"/>
              <a:t>shows all relation operators supported by C.</a:t>
            </a:r>
          </a:p>
          <a:p>
            <a:endParaRPr lang="en-IN" dirty="0"/>
          </a:p>
          <a:p>
            <a:r>
              <a:rPr lang="en-IN" dirty="0"/>
              <a:t>Operator	Description</a:t>
            </a:r>
          </a:p>
          <a:p>
            <a:r>
              <a:rPr lang="en-IN" dirty="0"/>
              <a:t>==	Check if two operand are equal</a:t>
            </a:r>
          </a:p>
          <a:p>
            <a:r>
              <a:rPr lang="en-IN" dirty="0"/>
              <a:t>!=	Check if two operand are not equal.</a:t>
            </a:r>
          </a:p>
          <a:p>
            <a:r>
              <a:rPr lang="en-IN" dirty="0"/>
              <a:t>&gt;	Check if operand on the left is greater than operand on the right</a:t>
            </a:r>
          </a:p>
          <a:p>
            <a:r>
              <a:rPr lang="en-IN" dirty="0"/>
              <a:t>&lt;	Check operand on the left is smaller than right operand</a:t>
            </a:r>
          </a:p>
          <a:p>
            <a:r>
              <a:rPr lang="en-IN" dirty="0"/>
              <a:t>&gt;=	check left operand is greater than or equal to right operand</a:t>
            </a:r>
          </a:p>
          <a:p>
            <a:r>
              <a:rPr lang="en-IN" dirty="0"/>
              <a:t>&lt;=	Check if operand on left is smaller than or equal to right operand</a:t>
            </a:r>
          </a:p>
          <a:p>
            <a:endParaRPr lang="en-IN" dirty="0"/>
          </a:p>
        </p:txBody>
      </p:sp>
    </p:spTree>
    <p:extLst>
      <p:ext uri="{BB962C8B-B14F-4D97-AF65-F5344CB8AC3E}">
        <p14:creationId xmlns:p14="http://schemas.microsoft.com/office/powerpoint/2010/main" val="154384949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Logical operators</a:t>
            </a:r>
          </a:p>
        </p:txBody>
      </p:sp>
      <p:sp>
        <p:nvSpPr>
          <p:cNvPr id="3" name="Content Placeholder 2"/>
          <p:cNvSpPr>
            <a:spLocks noGrp="1"/>
          </p:cNvSpPr>
          <p:nvPr>
            <p:ph idx="1"/>
          </p:nvPr>
        </p:nvSpPr>
        <p:spPr/>
        <p:txBody>
          <a:bodyPr/>
          <a:lstStyle/>
          <a:p>
            <a:r>
              <a:rPr lang="en-IN" dirty="0"/>
              <a:t>C language supports following 3 logical operators. Suppose a = 1 and b = 0</a:t>
            </a:r>
            <a:r>
              <a:rPr lang="en-IN" dirty="0" smtClean="0"/>
              <a:t>,</a:t>
            </a:r>
          </a:p>
          <a:p>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302474922"/>
              </p:ext>
            </p:extLst>
          </p:nvPr>
        </p:nvGraphicFramePr>
        <p:xfrm>
          <a:off x="1066800" y="3009739"/>
          <a:ext cx="6858000" cy="3086260"/>
        </p:xfrm>
        <a:graphic>
          <a:graphicData uri="http://schemas.openxmlformats.org/drawingml/2006/table">
            <a:tbl>
              <a:tblPr/>
              <a:tblGrid>
                <a:gridCol w="2286000"/>
                <a:gridCol w="2286000"/>
                <a:gridCol w="2286000"/>
              </a:tblGrid>
              <a:tr h="771565">
                <a:tc>
                  <a:txBody>
                    <a:bodyPr/>
                    <a:lstStyle/>
                    <a:p>
                      <a:pPr algn="l" fontAlgn="t"/>
                      <a:r>
                        <a:rPr lang="en-IN">
                          <a:effectLst/>
                        </a:rPr>
                        <a:t>Operator</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t"/>
                      <a:r>
                        <a:rPr lang="en-IN">
                          <a:effectLst/>
                        </a:rPr>
                        <a:t>Description</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t"/>
                      <a:r>
                        <a:rPr lang="en-IN">
                          <a:effectLst/>
                        </a:rPr>
                        <a:t>Example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r>
              <a:tr h="771565">
                <a:tc>
                  <a:txBody>
                    <a:bodyPr/>
                    <a:lstStyle/>
                    <a:p>
                      <a:pPr fontAlgn="t"/>
                      <a:r>
                        <a:rPr lang="en-IN">
                          <a:effectLst/>
                        </a:rPr>
                        <a:t>&amp;&amp;</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Logical AND</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(a &amp;&amp; b) is false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771565">
                <a:tc>
                  <a:txBody>
                    <a:bodyPr/>
                    <a:lstStyle/>
                    <a:p>
                      <a:pPr fontAlgn="t"/>
                      <a:r>
                        <a:rPr lang="en-IN">
                          <a:effectLst/>
                        </a:rPr>
                        <a: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fontAlgn="t"/>
                      <a:r>
                        <a:rPr lang="en-IN">
                          <a:effectLst/>
                        </a:rPr>
                        <a:t>Logical OR</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fontAlgn="t"/>
                      <a:r>
                        <a:rPr lang="en-IN">
                          <a:effectLst/>
                        </a:rPr>
                        <a:t>(a || b) is true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r>
              <a:tr h="771565">
                <a:tc>
                  <a:txBody>
                    <a:bodyPr/>
                    <a:lstStyle/>
                    <a:p>
                      <a:pPr fontAlgn="t"/>
                      <a:r>
                        <a:rPr lang="en-IN">
                          <a:effectLst/>
                        </a:rPr>
                        <a: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Logical NOT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dirty="0">
                          <a:effectLst/>
                        </a:rPr>
                        <a:t>(!a) is false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426313815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Bitwise operators</a:t>
            </a:r>
          </a:p>
        </p:txBody>
      </p:sp>
      <p:sp>
        <p:nvSpPr>
          <p:cNvPr id="3" name="Content Placeholder 2"/>
          <p:cNvSpPr>
            <a:spLocks noGrp="1"/>
          </p:cNvSpPr>
          <p:nvPr>
            <p:ph idx="1"/>
          </p:nvPr>
        </p:nvSpPr>
        <p:spPr/>
        <p:txBody>
          <a:bodyPr/>
          <a:lstStyle/>
          <a:p>
            <a:r>
              <a:rPr lang="en-IN" dirty="0"/>
              <a:t>Bitwise operators perform manipulations of data at bit level. These operators also perform shifting of bits from right to left. Bitwise operators are not applied to float or double(These are </a:t>
            </a:r>
            <a:r>
              <a:rPr lang="en-IN" dirty="0" err="1"/>
              <a:t>datatypes</a:t>
            </a:r>
            <a:r>
              <a:rPr lang="en-IN" dirty="0"/>
              <a:t>, we will learn about them in the next tutorial).</a:t>
            </a:r>
          </a:p>
        </p:txBody>
      </p:sp>
    </p:spTree>
    <p:extLst>
      <p:ext uri="{BB962C8B-B14F-4D97-AF65-F5344CB8AC3E}">
        <p14:creationId xmlns:p14="http://schemas.microsoft.com/office/powerpoint/2010/main" val="12772076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721926853"/>
              </p:ext>
            </p:extLst>
          </p:nvPr>
        </p:nvGraphicFramePr>
        <p:xfrm>
          <a:off x="762000" y="1981200"/>
          <a:ext cx="7591426" cy="4000338"/>
        </p:xfrm>
        <a:graphic>
          <a:graphicData uri="http://schemas.openxmlformats.org/drawingml/2006/table">
            <a:tbl>
              <a:tblPr/>
              <a:tblGrid>
                <a:gridCol w="3795713"/>
                <a:gridCol w="3795713"/>
              </a:tblGrid>
              <a:tr h="666723">
                <a:tc>
                  <a:txBody>
                    <a:bodyPr/>
                    <a:lstStyle/>
                    <a:p>
                      <a:pPr algn="l" fontAlgn="t"/>
                      <a:r>
                        <a:rPr lang="en-IN">
                          <a:effectLst/>
                        </a:rPr>
                        <a:t>Operator</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t"/>
                      <a:r>
                        <a:rPr lang="en-IN">
                          <a:effectLst/>
                        </a:rPr>
                        <a:t>Description</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r>
              <a:tr h="666723">
                <a:tc>
                  <a:txBody>
                    <a:bodyPr/>
                    <a:lstStyle/>
                    <a:p>
                      <a:pPr fontAlgn="t"/>
                      <a:r>
                        <a:rPr lang="en-IN">
                          <a:effectLst/>
                        </a:rPr>
                        <a:t>&amp;</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Bitwise AND</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666723">
                <a:tc>
                  <a:txBody>
                    <a:bodyPr/>
                    <a:lstStyle/>
                    <a:p>
                      <a:pPr fontAlgn="t"/>
                      <a:r>
                        <a:rPr lang="en-IN">
                          <a:effectLst/>
                        </a:rPr>
                        <a: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fontAlgn="t"/>
                      <a:r>
                        <a:rPr lang="en-IN">
                          <a:effectLst/>
                        </a:rPr>
                        <a:t>Bitwise OR</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r>
              <a:tr h="666723">
                <a:tc>
                  <a:txBody>
                    <a:bodyPr/>
                    <a:lstStyle/>
                    <a:p>
                      <a:pPr fontAlgn="t"/>
                      <a:r>
                        <a:rPr lang="en-IN">
                          <a:effectLst/>
                        </a:rPr>
                        <a: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Bitwise exclusive OR</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666723">
                <a:tc>
                  <a:txBody>
                    <a:bodyPr/>
                    <a:lstStyle/>
                    <a:p>
                      <a:pPr fontAlgn="t"/>
                      <a:r>
                        <a:rPr lang="en-IN">
                          <a:effectLst/>
                        </a:rPr>
                        <a:t>&lt;&lt;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fontAlgn="t"/>
                      <a:r>
                        <a:rPr lang="en-IN">
                          <a:effectLst/>
                        </a:rPr>
                        <a:t>left shift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r>
              <a:tr h="666723">
                <a:tc>
                  <a:txBody>
                    <a:bodyPr/>
                    <a:lstStyle/>
                    <a:p>
                      <a:pPr fontAlgn="t"/>
                      <a:r>
                        <a:rPr lang="en-IN">
                          <a:effectLst/>
                        </a:rPr>
                        <a:t>&gt;&gt;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dirty="0">
                          <a:effectLst/>
                        </a:rPr>
                        <a:t>right shift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40453539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615419597"/>
              </p:ext>
            </p:extLst>
          </p:nvPr>
        </p:nvGraphicFramePr>
        <p:xfrm>
          <a:off x="1600200" y="1676400"/>
          <a:ext cx="5581650" cy="2133600"/>
        </p:xfrm>
        <a:graphic>
          <a:graphicData uri="http://schemas.openxmlformats.org/drawingml/2006/table">
            <a:tbl>
              <a:tblPr/>
              <a:tblGrid>
                <a:gridCol w="1116330"/>
                <a:gridCol w="1116330"/>
                <a:gridCol w="1116330"/>
                <a:gridCol w="1116330"/>
                <a:gridCol w="1116330"/>
              </a:tblGrid>
              <a:tr h="0">
                <a:tc>
                  <a:txBody>
                    <a:bodyPr/>
                    <a:lstStyle/>
                    <a:p>
                      <a:pPr algn="l" fontAlgn="t"/>
                      <a:r>
                        <a:rPr lang="en-IN">
                          <a:effectLst/>
                        </a:rPr>
                        <a:t>a</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t"/>
                      <a:r>
                        <a:rPr lang="en-IN" dirty="0">
                          <a:effectLst/>
                        </a:rPr>
                        <a:t>b</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t"/>
                      <a:r>
                        <a:rPr lang="en-IN">
                          <a:effectLst/>
                        </a:rPr>
                        <a:t>a &amp; b</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t"/>
                      <a:r>
                        <a:rPr lang="en-IN">
                          <a:effectLst/>
                        </a:rPr>
                        <a:t>a | b</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algn="l" fontAlgn="t"/>
                      <a:r>
                        <a:rPr lang="en-IN">
                          <a:effectLst/>
                        </a:rPr>
                        <a:t>a ^ b</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r>
              <a:tr h="0">
                <a:tc>
                  <a:txBody>
                    <a:bodyPr/>
                    <a:lstStyle/>
                    <a:p>
                      <a:pPr fontAlgn="t"/>
                      <a:r>
                        <a:rPr lang="en-IN">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0">
                <a:tc>
                  <a:txBody>
                    <a:bodyPr/>
                    <a:lstStyle/>
                    <a:p>
                      <a:pPr fontAlgn="t"/>
                      <a:r>
                        <a:rPr lang="en-IN">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fontAlgn="t"/>
                      <a:r>
                        <a:rPr lang="en-IN">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fontAlgn="t"/>
                      <a:r>
                        <a:rPr lang="en-IN">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fontAlgn="t"/>
                      <a:r>
                        <a:rPr lang="en-IN">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fontAlgn="t"/>
                      <a:r>
                        <a:rPr lang="en-IN">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r>
              <a:tr h="0">
                <a:tc>
                  <a:txBody>
                    <a:bodyPr/>
                    <a:lstStyle/>
                    <a:p>
                      <a:pPr fontAlgn="t"/>
                      <a:r>
                        <a:rPr lang="en-IN">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r>
              <a:tr h="0">
                <a:tc>
                  <a:txBody>
                    <a:bodyPr/>
                    <a:lstStyle/>
                    <a:p>
                      <a:pPr fontAlgn="t"/>
                      <a:r>
                        <a:rPr lang="en-IN">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fontAlgn="t"/>
                      <a:r>
                        <a:rPr lang="en-IN">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fontAlgn="t"/>
                      <a:r>
                        <a:rPr lang="en-IN">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fontAlgn="t"/>
                      <a:r>
                        <a:rPr lang="en-IN">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c>
                  <a:txBody>
                    <a:bodyPr/>
                    <a:lstStyle/>
                    <a:p>
                      <a:pPr fontAlgn="t"/>
                      <a:r>
                        <a:rPr lang="en-IN" dirty="0">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9F9F9"/>
                    </a:solidFill>
                  </a:tcPr>
                </a:tc>
              </a:tr>
            </a:tbl>
          </a:graphicData>
        </a:graphic>
      </p:graphicFrame>
      <p:sp>
        <p:nvSpPr>
          <p:cNvPr id="6" name="Rectangle 5"/>
          <p:cNvSpPr/>
          <p:nvPr/>
        </p:nvSpPr>
        <p:spPr>
          <a:xfrm>
            <a:off x="1447800" y="3886200"/>
            <a:ext cx="6248400" cy="2677656"/>
          </a:xfrm>
          <a:prstGeom prst="rect">
            <a:avLst/>
          </a:prstGeom>
        </p:spPr>
        <p:txBody>
          <a:bodyPr wrap="square">
            <a:spAutoFit/>
          </a:bodyPr>
          <a:lstStyle/>
          <a:p>
            <a:pPr algn="just"/>
            <a:r>
              <a:rPr lang="en-IN" sz="2800" dirty="0"/>
              <a:t>The bitwise </a:t>
            </a:r>
            <a:r>
              <a:rPr lang="en-IN" sz="2800" b="1" dirty="0"/>
              <a:t>shift</a:t>
            </a:r>
            <a:r>
              <a:rPr lang="en-IN" sz="2800" dirty="0"/>
              <a:t> operator, shifts the bit value. The left operand specifies the value to be shifted and the right operand specifies the number of positions that the bits in the value have to be shifted. Both operands have the same precedence.</a:t>
            </a:r>
          </a:p>
        </p:txBody>
      </p:sp>
    </p:spTree>
    <p:extLst>
      <p:ext uri="{BB962C8B-B14F-4D97-AF65-F5344CB8AC3E}">
        <p14:creationId xmlns:p14="http://schemas.microsoft.com/office/powerpoint/2010/main" val="278758083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IN" dirty="0"/>
          </a:p>
        </p:txBody>
      </p:sp>
      <p:sp>
        <p:nvSpPr>
          <p:cNvPr id="3" name="Content Placeholder 2"/>
          <p:cNvSpPr>
            <a:spLocks noGrp="1"/>
          </p:cNvSpPr>
          <p:nvPr>
            <p:ph idx="1"/>
          </p:nvPr>
        </p:nvSpPr>
        <p:spPr/>
        <p:txBody>
          <a:bodyPr>
            <a:normAutofit fontScale="85000" lnSpcReduction="10000"/>
          </a:bodyPr>
          <a:lstStyle/>
          <a:p>
            <a:pPr algn="just"/>
            <a:r>
              <a:rPr lang="en-IN" dirty="0"/>
              <a:t>In order to clearly understand bitwise operators, let us see the truth table for various bitwise operations and understand how it is associated with </a:t>
            </a:r>
            <a:r>
              <a:rPr lang="en-IN" dirty="0" err="1"/>
              <a:t>boolean</a:t>
            </a:r>
            <a:r>
              <a:rPr lang="en-IN" dirty="0"/>
              <a:t> algebra</a:t>
            </a:r>
            <a:r>
              <a:rPr lang="en-IN" dirty="0" smtClean="0"/>
              <a:t>.</a:t>
            </a:r>
          </a:p>
          <a:p>
            <a:pPr fontAlgn="base"/>
            <a:r>
              <a:rPr lang="en-IN" b="1" dirty="0"/>
              <a:t>AND</a:t>
            </a:r>
            <a:r>
              <a:rPr lang="en-IN" dirty="0"/>
              <a:t> – Both the operands should have </a:t>
            </a:r>
            <a:r>
              <a:rPr lang="en-IN" dirty="0" err="1"/>
              <a:t>boolean</a:t>
            </a:r>
            <a:r>
              <a:rPr lang="en-IN" dirty="0"/>
              <a:t> value 1 for the result to be 1.</a:t>
            </a:r>
          </a:p>
          <a:p>
            <a:pPr fontAlgn="base"/>
            <a:r>
              <a:rPr lang="en-IN" b="1" dirty="0"/>
              <a:t>OR</a:t>
            </a:r>
            <a:r>
              <a:rPr lang="en-IN" dirty="0"/>
              <a:t> – At least one operand should have </a:t>
            </a:r>
            <a:r>
              <a:rPr lang="en-IN" dirty="0" err="1"/>
              <a:t>boolean</a:t>
            </a:r>
            <a:r>
              <a:rPr lang="en-IN" dirty="0"/>
              <a:t> value 1 for the result to be 1.</a:t>
            </a:r>
          </a:p>
          <a:p>
            <a:pPr fontAlgn="base"/>
            <a:r>
              <a:rPr lang="en-IN" b="1" dirty="0"/>
              <a:t>XOR (EXCLUSIVE OR)</a:t>
            </a:r>
            <a:r>
              <a:rPr lang="en-IN" dirty="0"/>
              <a:t> – Either the first operand should have </a:t>
            </a:r>
            <a:r>
              <a:rPr lang="en-IN" dirty="0" err="1"/>
              <a:t>boolean</a:t>
            </a:r>
            <a:r>
              <a:rPr lang="en-IN" dirty="0"/>
              <a:t> value 1 or the second operand should have </a:t>
            </a:r>
            <a:r>
              <a:rPr lang="en-IN" dirty="0" err="1"/>
              <a:t>boolean</a:t>
            </a:r>
            <a:r>
              <a:rPr lang="en-IN" dirty="0"/>
              <a:t> value 1. Both cannot have the </a:t>
            </a:r>
            <a:r>
              <a:rPr lang="en-IN" dirty="0" err="1"/>
              <a:t>boolean</a:t>
            </a:r>
            <a:r>
              <a:rPr lang="en-IN" dirty="0"/>
              <a:t> value 1 simultaneously.</a:t>
            </a:r>
          </a:p>
          <a:p>
            <a:pPr algn="just"/>
            <a:endParaRPr lang="en-IN" dirty="0"/>
          </a:p>
        </p:txBody>
      </p:sp>
    </p:spTree>
    <p:extLst>
      <p:ext uri="{BB962C8B-B14F-4D97-AF65-F5344CB8AC3E}">
        <p14:creationId xmlns:p14="http://schemas.microsoft.com/office/powerpoint/2010/main" val="36280708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762000"/>
          </a:xfrm>
        </p:spPr>
        <p:txBody>
          <a:bodyPr>
            <a:normAutofit/>
          </a:bodyPr>
          <a:lstStyle/>
          <a:p>
            <a:r>
              <a:rPr lang="en-US" dirty="0" smtClean="0"/>
              <a:t>Cont..</a:t>
            </a:r>
            <a:endParaRPr lang="en-IN" dirty="0"/>
          </a:p>
        </p:txBody>
      </p:sp>
      <p:sp>
        <p:nvSpPr>
          <p:cNvPr id="3" name="Content Placeholder 2"/>
          <p:cNvSpPr>
            <a:spLocks noGrp="1"/>
          </p:cNvSpPr>
          <p:nvPr>
            <p:ph idx="1"/>
          </p:nvPr>
        </p:nvSpPr>
        <p:spPr>
          <a:xfrm>
            <a:off x="457200" y="685800"/>
            <a:ext cx="8229600" cy="5867400"/>
          </a:xfrm>
        </p:spPr>
        <p:txBody>
          <a:bodyPr>
            <a:noAutofit/>
          </a:bodyPr>
          <a:lstStyle/>
          <a:p>
            <a:r>
              <a:rPr lang="en-IN" sz="2400" b="1" dirty="0"/>
              <a:t>Consider two operands, a and b with values:</a:t>
            </a:r>
          </a:p>
          <a:p>
            <a:pPr marL="0" indent="0">
              <a:buNone/>
            </a:pPr>
            <a:r>
              <a:rPr lang="en-IN" sz="2400" b="1" dirty="0" smtClean="0"/>
              <a:t>        a </a:t>
            </a:r>
            <a:r>
              <a:rPr lang="en-IN" sz="2400" b="1" dirty="0"/>
              <a:t>= 26 and b=14</a:t>
            </a:r>
          </a:p>
          <a:p>
            <a:pPr marL="0" indent="0">
              <a:buNone/>
            </a:pPr>
            <a:r>
              <a:rPr lang="en-IN" sz="2400" b="1" dirty="0" smtClean="0"/>
              <a:t>Therefore</a:t>
            </a:r>
            <a:r>
              <a:rPr lang="en-IN" sz="2400" b="1" dirty="0"/>
              <a:t>, a &amp; b is computed as follows:</a:t>
            </a:r>
          </a:p>
          <a:p>
            <a:pPr marL="0" indent="0">
              <a:buNone/>
            </a:pPr>
            <a:r>
              <a:rPr lang="en-IN" sz="2400" b="1" dirty="0" smtClean="0"/>
              <a:t>Find </a:t>
            </a:r>
            <a:r>
              <a:rPr lang="en-IN" sz="2400" b="1" dirty="0"/>
              <a:t>the binary equivalent of a and b:</a:t>
            </a:r>
          </a:p>
          <a:p>
            <a:r>
              <a:rPr lang="en-IN" sz="2400" b="1" dirty="0"/>
              <a:t>Perform </a:t>
            </a:r>
            <a:r>
              <a:rPr lang="en-IN" sz="2400" b="1" dirty="0" err="1"/>
              <a:t>boolean</a:t>
            </a:r>
            <a:r>
              <a:rPr lang="en-IN" sz="2400" b="1" dirty="0"/>
              <a:t> AND/OR/EXCLUSIVE OR operation bit by btw</a:t>
            </a:r>
          </a:p>
          <a:p>
            <a:r>
              <a:rPr lang="en-IN" sz="2400" b="1" dirty="0"/>
              <a:t>Convert the answer into its corresponding decimal form.</a:t>
            </a:r>
          </a:p>
          <a:p>
            <a:r>
              <a:rPr lang="en-IN" sz="2400" b="1" dirty="0"/>
              <a:t>Bitwise AND</a:t>
            </a:r>
          </a:p>
          <a:p>
            <a:r>
              <a:rPr lang="en-IN" sz="2400" b="1" dirty="0"/>
              <a:t>a = 26 = 1 1 0 1 0</a:t>
            </a:r>
          </a:p>
          <a:p>
            <a:r>
              <a:rPr lang="en-IN" sz="2400" b="1" dirty="0"/>
              <a:t>b = 14 = 0 1 1 1 0</a:t>
            </a:r>
          </a:p>
          <a:p>
            <a:r>
              <a:rPr lang="en-IN" sz="2400" b="1" dirty="0"/>
              <a:t>________</a:t>
            </a:r>
          </a:p>
          <a:p>
            <a:r>
              <a:rPr lang="en-IN" sz="2400" b="1" dirty="0"/>
              <a:t>a &amp; b = 0 1 0 1 0 which is equal to 10</a:t>
            </a:r>
          </a:p>
          <a:p>
            <a:endParaRPr lang="en-IN" sz="2400" b="1" dirty="0"/>
          </a:p>
          <a:p>
            <a:endParaRPr lang="en-IN" sz="2400" dirty="0"/>
          </a:p>
        </p:txBody>
      </p:sp>
    </p:spTree>
    <p:extLst>
      <p:ext uri="{BB962C8B-B14F-4D97-AF65-F5344CB8AC3E}">
        <p14:creationId xmlns:p14="http://schemas.microsoft.com/office/powerpoint/2010/main" val="16389551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487362"/>
          </a:xfrm>
        </p:spPr>
        <p:txBody>
          <a:bodyPr>
            <a:normAutofit fontScale="90000"/>
          </a:bodyPr>
          <a:lstStyle/>
          <a:p>
            <a:r>
              <a:rPr lang="en-US" dirty="0" smtClean="0"/>
              <a:t>Cont..</a:t>
            </a:r>
            <a:endParaRPr lang="en-IN" dirty="0"/>
          </a:p>
        </p:txBody>
      </p:sp>
      <p:sp>
        <p:nvSpPr>
          <p:cNvPr id="3" name="Content Placeholder 2"/>
          <p:cNvSpPr>
            <a:spLocks noGrp="1"/>
          </p:cNvSpPr>
          <p:nvPr>
            <p:ph idx="1"/>
          </p:nvPr>
        </p:nvSpPr>
        <p:spPr>
          <a:xfrm>
            <a:off x="533400" y="1066800"/>
            <a:ext cx="8229600" cy="5105400"/>
          </a:xfrm>
        </p:spPr>
        <p:txBody>
          <a:bodyPr>
            <a:noAutofit/>
          </a:bodyPr>
          <a:lstStyle/>
          <a:p>
            <a:pPr marL="0" indent="0">
              <a:buNone/>
            </a:pPr>
            <a:r>
              <a:rPr lang="en-IN" sz="1800" b="1" dirty="0" smtClean="0"/>
              <a:t>     </a:t>
            </a:r>
            <a:r>
              <a:rPr lang="en-IN" sz="1800" b="1" u="sng" dirty="0" smtClean="0"/>
              <a:t>Bitwise </a:t>
            </a:r>
            <a:r>
              <a:rPr lang="en-IN" sz="1800" b="1" u="sng" dirty="0"/>
              <a:t>OR</a:t>
            </a:r>
          </a:p>
          <a:p>
            <a:r>
              <a:rPr lang="en-IN" sz="1800" b="1" dirty="0"/>
              <a:t>a = 26 = 1 1 0 1 0</a:t>
            </a:r>
          </a:p>
          <a:p>
            <a:r>
              <a:rPr lang="en-IN" sz="1800" b="1" dirty="0"/>
              <a:t>b = 14 = 0 1 1 1 0</a:t>
            </a:r>
          </a:p>
          <a:p>
            <a:r>
              <a:rPr lang="en-IN" sz="1800" b="1" dirty="0"/>
              <a:t>________</a:t>
            </a:r>
          </a:p>
          <a:p>
            <a:r>
              <a:rPr lang="en-IN" sz="1800" b="1" dirty="0"/>
              <a:t>a | b = 1 1 1 1 0 which is equal to 30</a:t>
            </a:r>
          </a:p>
          <a:p>
            <a:pPr marL="0" indent="0">
              <a:buNone/>
            </a:pPr>
            <a:r>
              <a:rPr lang="en-IN" sz="1800" b="1" dirty="0" smtClean="0"/>
              <a:t>      </a:t>
            </a:r>
            <a:r>
              <a:rPr lang="en-IN" sz="1800" b="1" u="sng" dirty="0" smtClean="0"/>
              <a:t>Bitwise </a:t>
            </a:r>
            <a:r>
              <a:rPr lang="en-IN" sz="1800" b="1" u="sng" dirty="0"/>
              <a:t>XOR</a:t>
            </a:r>
          </a:p>
          <a:p>
            <a:r>
              <a:rPr lang="en-IN" sz="1800" b="1" dirty="0"/>
              <a:t>a = 26 = 1 1 0 1 0</a:t>
            </a:r>
            <a:br>
              <a:rPr lang="en-IN" sz="1800" b="1" dirty="0"/>
            </a:br>
            <a:r>
              <a:rPr lang="en-IN" sz="1800" b="1" dirty="0"/>
              <a:t>b = 14 = 0 1 1 1 0</a:t>
            </a:r>
            <a:br>
              <a:rPr lang="en-IN" sz="1800" b="1" dirty="0"/>
            </a:br>
            <a:r>
              <a:rPr lang="en-IN" sz="1800" b="1" dirty="0"/>
              <a:t>________</a:t>
            </a:r>
            <a:br>
              <a:rPr lang="en-IN" sz="1800" b="1" dirty="0"/>
            </a:br>
            <a:r>
              <a:rPr lang="en-IN" sz="1800" b="1" dirty="0"/>
              <a:t>a | b = 1 0 1 0 0 which is equal to 20</a:t>
            </a:r>
          </a:p>
          <a:p>
            <a:pPr marL="0" indent="0">
              <a:buNone/>
            </a:pPr>
            <a:r>
              <a:rPr lang="en-IN" sz="1800" b="1" dirty="0" smtClean="0"/>
              <a:t>      </a:t>
            </a:r>
            <a:r>
              <a:rPr lang="en-IN" sz="1800" b="1" u="sng" dirty="0" smtClean="0"/>
              <a:t>Bitwise</a:t>
            </a:r>
            <a:r>
              <a:rPr lang="en-IN" sz="1800" b="1" u="sng" dirty="0"/>
              <a:t> One’s Complement</a:t>
            </a:r>
          </a:p>
          <a:p>
            <a:r>
              <a:rPr lang="en-IN" sz="1800" b="1" dirty="0"/>
              <a:t>a = 26 = 1 1 0 1 0</a:t>
            </a:r>
          </a:p>
          <a:p>
            <a:r>
              <a:rPr lang="en-IN" sz="1800" b="1" dirty="0"/>
              <a:t>Reversing its bits, we get 0 0 1 0 1 which is equal to 5 but this is not the correct answer! The correct answer is: -(a+1) which is -27 which is in accordance with two’s complement.</a:t>
            </a:r>
          </a:p>
          <a:p>
            <a:endParaRPr lang="en-IN" sz="1800" b="1" dirty="0"/>
          </a:p>
        </p:txBody>
      </p:sp>
    </p:spTree>
    <p:extLst>
      <p:ext uri="{BB962C8B-B14F-4D97-AF65-F5344CB8AC3E}">
        <p14:creationId xmlns:p14="http://schemas.microsoft.com/office/powerpoint/2010/main" val="4573831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IN" dirty="0"/>
          </a:p>
        </p:txBody>
      </p:sp>
      <p:sp>
        <p:nvSpPr>
          <p:cNvPr id="3" name="Content Placeholder 2"/>
          <p:cNvSpPr>
            <a:spLocks noGrp="1"/>
          </p:cNvSpPr>
          <p:nvPr>
            <p:ph idx="1"/>
          </p:nvPr>
        </p:nvSpPr>
        <p:spPr/>
        <p:txBody>
          <a:bodyPr/>
          <a:lstStyle/>
          <a:p>
            <a:r>
              <a:rPr lang="pt-BR" dirty="0"/>
              <a:t>a = 0001000</a:t>
            </a:r>
          </a:p>
          <a:p>
            <a:r>
              <a:rPr lang="pt-BR" dirty="0"/>
              <a:t>b = 2</a:t>
            </a:r>
          </a:p>
          <a:p>
            <a:r>
              <a:rPr lang="pt-BR" dirty="0"/>
              <a:t>a &lt;&lt; b = 0100000 </a:t>
            </a:r>
          </a:p>
          <a:p>
            <a:r>
              <a:rPr lang="pt-BR" dirty="0"/>
              <a:t>a &gt;&gt; b = 0000010 </a:t>
            </a:r>
            <a:endParaRPr lang="en-IN" dirty="0"/>
          </a:p>
        </p:txBody>
      </p:sp>
    </p:spTree>
    <p:extLst>
      <p:ext uri="{BB962C8B-B14F-4D97-AF65-F5344CB8AC3E}">
        <p14:creationId xmlns:p14="http://schemas.microsoft.com/office/powerpoint/2010/main" val="257171129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Assignment Operators</a:t>
            </a:r>
            <a:br>
              <a:rPr lang="en-IN" dirty="0"/>
            </a:br>
            <a:endParaRPr lang="en-IN" dirty="0"/>
          </a:p>
        </p:txBody>
      </p:sp>
      <p:sp>
        <p:nvSpPr>
          <p:cNvPr id="3" name="Content Placeholder 2"/>
          <p:cNvSpPr>
            <a:spLocks noGrp="1"/>
          </p:cNvSpPr>
          <p:nvPr>
            <p:ph idx="1"/>
          </p:nvPr>
        </p:nvSpPr>
        <p:spPr>
          <a:xfrm>
            <a:off x="457200" y="1066800"/>
            <a:ext cx="8229600" cy="5105400"/>
          </a:xfrm>
        </p:spPr>
        <p:txBody>
          <a:bodyPr>
            <a:normAutofit/>
          </a:bodyPr>
          <a:lstStyle/>
          <a:p>
            <a:r>
              <a:rPr lang="en-IN" sz="2400" dirty="0" smtClean="0"/>
              <a:t>=</a:t>
            </a:r>
            <a:r>
              <a:rPr lang="en-IN" sz="2400" dirty="0"/>
              <a:t>	assigns values from right side operands to left side operand	a=b</a:t>
            </a:r>
          </a:p>
          <a:p>
            <a:r>
              <a:rPr lang="en-IN" sz="2400" dirty="0"/>
              <a:t>+=	adds right operand to the left operand and assign the result to left	a+=b is same as a=</a:t>
            </a:r>
            <a:r>
              <a:rPr lang="en-IN" sz="2400" dirty="0" err="1"/>
              <a:t>a+b</a:t>
            </a:r>
            <a:endParaRPr lang="en-IN" sz="2400" dirty="0"/>
          </a:p>
          <a:p>
            <a:r>
              <a:rPr lang="en-IN" sz="2400" dirty="0"/>
              <a:t>-=	subtracts right operand from the left operand and assign the result to left operand	a-=b is same as a=a-b</a:t>
            </a:r>
          </a:p>
          <a:p>
            <a:r>
              <a:rPr lang="en-IN" sz="2400" dirty="0"/>
              <a:t>*=	</a:t>
            </a:r>
            <a:r>
              <a:rPr lang="en-IN" sz="2400" dirty="0" err="1"/>
              <a:t>mutiply</a:t>
            </a:r>
            <a:r>
              <a:rPr lang="en-IN" sz="2400" dirty="0"/>
              <a:t> left operand with the right operand and assign the result to left operand	a*=b is same as a=a*b</a:t>
            </a:r>
          </a:p>
          <a:p>
            <a:r>
              <a:rPr lang="en-IN" sz="2400" dirty="0"/>
              <a:t>/=	divides left operand with the right operand and assign the result to left operand	a/=b is same as a=a/b</a:t>
            </a:r>
          </a:p>
          <a:p>
            <a:r>
              <a:rPr lang="en-IN" sz="2400" dirty="0"/>
              <a:t>%=	calculate modulus using two operands and assign the result to left operand	a%=b is same as a=</a:t>
            </a:r>
            <a:r>
              <a:rPr lang="en-IN" sz="2400" dirty="0" err="1"/>
              <a:t>a%b</a:t>
            </a:r>
            <a:endParaRPr lang="en-IN" sz="2400" dirty="0"/>
          </a:p>
          <a:p>
            <a:endParaRPr lang="en-IN" sz="2400" dirty="0"/>
          </a:p>
        </p:txBody>
      </p:sp>
    </p:spTree>
    <p:extLst>
      <p:ext uri="{BB962C8B-B14F-4D97-AF65-F5344CB8AC3E}">
        <p14:creationId xmlns:p14="http://schemas.microsoft.com/office/powerpoint/2010/main" val="61392601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Conditional operator</a:t>
            </a:r>
            <a:br>
              <a:rPr lang="en-IN" dirty="0"/>
            </a:br>
            <a:endParaRPr lang="en-IN" dirty="0"/>
          </a:p>
        </p:txBody>
      </p:sp>
      <p:sp>
        <p:nvSpPr>
          <p:cNvPr id="3" name="Content Placeholder 2"/>
          <p:cNvSpPr>
            <a:spLocks noGrp="1"/>
          </p:cNvSpPr>
          <p:nvPr>
            <p:ph idx="1"/>
          </p:nvPr>
        </p:nvSpPr>
        <p:spPr/>
        <p:txBody>
          <a:bodyPr>
            <a:normAutofit fontScale="77500" lnSpcReduction="20000"/>
          </a:bodyPr>
          <a:lstStyle/>
          <a:p>
            <a:r>
              <a:rPr lang="en-IN" dirty="0" smtClean="0"/>
              <a:t>The </a:t>
            </a:r>
            <a:r>
              <a:rPr lang="en-IN" dirty="0"/>
              <a:t>conditional operators in C language are known by two more names</a:t>
            </a:r>
          </a:p>
          <a:p>
            <a:endParaRPr lang="en-IN" dirty="0"/>
          </a:p>
          <a:p>
            <a:r>
              <a:rPr lang="en-IN" dirty="0" smtClean="0"/>
              <a:t>Ternary Operator</a:t>
            </a:r>
            <a:endParaRPr lang="en-IN" dirty="0"/>
          </a:p>
          <a:p>
            <a:r>
              <a:rPr lang="en-IN" dirty="0"/>
              <a:t>? : Operator</a:t>
            </a:r>
          </a:p>
          <a:p>
            <a:r>
              <a:rPr lang="en-IN" dirty="0"/>
              <a:t>It is actually the if condition that we use in C language decision making, but using conditional operator, we turn the if condition statement into a short and simple operator.</a:t>
            </a:r>
          </a:p>
          <a:p>
            <a:endParaRPr lang="en-IN" dirty="0"/>
          </a:p>
          <a:p>
            <a:r>
              <a:rPr lang="en-IN" dirty="0"/>
              <a:t>The syntax of a conditional operator is :</a:t>
            </a:r>
          </a:p>
          <a:p>
            <a:endParaRPr lang="en-IN" dirty="0"/>
          </a:p>
          <a:p>
            <a:r>
              <a:rPr lang="en-IN" dirty="0"/>
              <a:t>expression 1 ? expression 2: expression 3</a:t>
            </a:r>
          </a:p>
        </p:txBody>
      </p:sp>
    </p:spTree>
    <p:extLst>
      <p:ext uri="{BB962C8B-B14F-4D97-AF65-F5344CB8AC3E}">
        <p14:creationId xmlns:p14="http://schemas.microsoft.com/office/powerpoint/2010/main" val="106268984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Explanation:</a:t>
            </a:r>
          </a:p>
        </p:txBody>
      </p:sp>
      <p:sp>
        <p:nvSpPr>
          <p:cNvPr id="3" name="Content Placeholder 2"/>
          <p:cNvSpPr>
            <a:spLocks noGrp="1"/>
          </p:cNvSpPr>
          <p:nvPr>
            <p:ph idx="1"/>
          </p:nvPr>
        </p:nvSpPr>
        <p:spPr/>
        <p:txBody>
          <a:bodyPr>
            <a:normAutofit fontScale="85000" lnSpcReduction="10000"/>
          </a:bodyPr>
          <a:lstStyle/>
          <a:p>
            <a:r>
              <a:rPr lang="en-IN" dirty="0"/>
              <a:t>The question mark "?" in the syntax represents the if part.</a:t>
            </a:r>
          </a:p>
          <a:p>
            <a:r>
              <a:rPr lang="en-IN" dirty="0"/>
              <a:t>The first expression (expression 1) generally returns either true or false, based on which it is decided whether (expression 2) will be executed or (expression 3)</a:t>
            </a:r>
          </a:p>
          <a:p>
            <a:r>
              <a:rPr lang="en-IN" dirty="0"/>
              <a:t>If (expression 1) returns true then the expression on the left side of " : " </a:t>
            </a:r>
            <a:r>
              <a:rPr lang="en-IN" dirty="0" err="1"/>
              <a:t>i.e</a:t>
            </a:r>
            <a:r>
              <a:rPr lang="en-IN" dirty="0"/>
              <a:t> (expression 2) is executed.</a:t>
            </a:r>
          </a:p>
          <a:p>
            <a:r>
              <a:rPr lang="en-IN" dirty="0"/>
              <a:t>If (expression 1) returns false then the expression on the right side of " : " </a:t>
            </a:r>
            <a:r>
              <a:rPr lang="en-IN" dirty="0" err="1"/>
              <a:t>i.e</a:t>
            </a:r>
            <a:r>
              <a:rPr lang="en-IN" dirty="0"/>
              <a:t> (expression 3) is executed.</a:t>
            </a:r>
          </a:p>
          <a:p>
            <a:endParaRPr lang="en-IN" dirty="0"/>
          </a:p>
        </p:txBody>
      </p:sp>
    </p:spTree>
    <p:extLst>
      <p:ext uri="{BB962C8B-B14F-4D97-AF65-F5344CB8AC3E}">
        <p14:creationId xmlns:p14="http://schemas.microsoft.com/office/powerpoint/2010/main" val="372728016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Special operator</a:t>
            </a:r>
          </a:p>
        </p:txBody>
      </p:sp>
      <p:sp>
        <p:nvSpPr>
          <p:cNvPr id="3" name="Content Placeholder 2"/>
          <p:cNvSpPr>
            <a:spLocks noGrp="1"/>
          </p:cNvSpPr>
          <p:nvPr>
            <p:ph idx="1"/>
          </p:nvPr>
        </p:nvSpPr>
        <p:spPr/>
        <p:txBody>
          <a:bodyPr/>
          <a:lstStyle/>
          <a:p>
            <a:r>
              <a:rPr lang="en-IN" dirty="0"/>
              <a:t>The Comma Operator</a:t>
            </a:r>
          </a:p>
          <a:p>
            <a:r>
              <a:rPr lang="en-IN" dirty="0"/>
              <a:t>Type cast Operator</a:t>
            </a:r>
          </a:p>
          <a:p>
            <a:r>
              <a:rPr lang="en-IN" dirty="0"/>
              <a:t>Reference operator or Address </a:t>
            </a:r>
            <a:r>
              <a:rPr lang="en-IN" dirty="0" err="1"/>
              <a:t>Operater</a:t>
            </a:r>
            <a:r>
              <a:rPr lang="en-IN" dirty="0"/>
              <a:t> ("&amp;")</a:t>
            </a:r>
          </a:p>
          <a:p>
            <a:r>
              <a:rPr lang="en-IN" dirty="0"/>
              <a:t>Dereference operator ("*") or Pointer </a:t>
            </a:r>
            <a:r>
              <a:rPr lang="en-IN" dirty="0" err="1"/>
              <a:t>Operater</a:t>
            </a:r>
            <a:endParaRPr lang="en-IN" dirty="0"/>
          </a:p>
          <a:p>
            <a:r>
              <a:rPr lang="en-IN" dirty="0"/>
              <a:t>Double Pointer operator ("**")</a:t>
            </a:r>
          </a:p>
          <a:p>
            <a:r>
              <a:rPr lang="en-IN" dirty="0" err="1"/>
              <a:t>sizeof</a:t>
            </a:r>
            <a:r>
              <a:rPr lang="en-IN" dirty="0"/>
              <a:t> operator</a:t>
            </a:r>
          </a:p>
        </p:txBody>
      </p:sp>
    </p:spTree>
    <p:extLst>
      <p:ext uri="{BB962C8B-B14F-4D97-AF65-F5344CB8AC3E}">
        <p14:creationId xmlns:p14="http://schemas.microsoft.com/office/powerpoint/2010/main" val="109624935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73162"/>
          </a:xfrm>
        </p:spPr>
        <p:txBody>
          <a:bodyPr>
            <a:normAutofit fontScale="90000"/>
          </a:bodyPr>
          <a:lstStyle/>
          <a:p>
            <a:r>
              <a:rPr lang="en-IN" dirty="0"/>
              <a:t>Comma Operator</a:t>
            </a:r>
            <a:br>
              <a:rPr lang="en-IN" dirty="0"/>
            </a:br>
            <a:endParaRPr lang="en-IN" dirty="0"/>
          </a:p>
        </p:txBody>
      </p:sp>
      <p:sp>
        <p:nvSpPr>
          <p:cNvPr id="3" name="Content Placeholder 2"/>
          <p:cNvSpPr>
            <a:spLocks noGrp="1"/>
          </p:cNvSpPr>
          <p:nvPr>
            <p:ph idx="1"/>
          </p:nvPr>
        </p:nvSpPr>
        <p:spPr/>
        <p:txBody>
          <a:bodyPr>
            <a:normAutofit lnSpcReduction="10000"/>
          </a:bodyPr>
          <a:lstStyle/>
          <a:p>
            <a:r>
              <a:rPr lang="en-IN" dirty="0"/>
              <a:t>The Comma Operator</a:t>
            </a:r>
          </a:p>
          <a:p>
            <a:r>
              <a:rPr lang="en-IN" dirty="0"/>
              <a:t>The Comma operator  can be used to link the related expressions together.</a:t>
            </a:r>
          </a:p>
          <a:p>
            <a:r>
              <a:rPr lang="en-IN" dirty="0"/>
              <a:t>Example For Comma Operator</a:t>
            </a:r>
          </a:p>
          <a:p>
            <a:r>
              <a:rPr lang="en-IN" dirty="0"/>
              <a:t>Comma Operator In for Loops</a:t>
            </a:r>
          </a:p>
          <a:p>
            <a:r>
              <a:rPr lang="en-IN" dirty="0"/>
              <a:t>for(i=0,j=1;i&gt;10:i++,j++)</a:t>
            </a:r>
          </a:p>
          <a:p>
            <a:r>
              <a:rPr lang="en-IN" dirty="0"/>
              <a:t>Comma Operator In while Loops</a:t>
            </a:r>
          </a:p>
          <a:p>
            <a:r>
              <a:rPr lang="en-IN" dirty="0"/>
              <a:t>While(c&lt;10,c--)</a:t>
            </a:r>
          </a:p>
        </p:txBody>
      </p:sp>
    </p:spTree>
    <p:extLst>
      <p:ext uri="{BB962C8B-B14F-4D97-AF65-F5344CB8AC3E}">
        <p14:creationId xmlns:p14="http://schemas.microsoft.com/office/powerpoint/2010/main" val="24124668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Type cast Operator</a:t>
            </a:r>
          </a:p>
        </p:txBody>
      </p:sp>
      <p:sp>
        <p:nvSpPr>
          <p:cNvPr id="3" name="Content Placeholder 2"/>
          <p:cNvSpPr>
            <a:spLocks noGrp="1"/>
          </p:cNvSpPr>
          <p:nvPr>
            <p:ph idx="1"/>
          </p:nvPr>
        </p:nvSpPr>
        <p:spPr/>
        <p:txBody>
          <a:bodyPr>
            <a:normAutofit fontScale="85000" lnSpcReduction="20000"/>
          </a:bodyPr>
          <a:lstStyle/>
          <a:p>
            <a:r>
              <a:rPr lang="en-IN" dirty="0"/>
              <a:t>Syntax:</a:t>
            </a:r>
          </a:p>
          <a:p>
            <a:r>
              <a:rPr lang="en-IN" dirty="0"/>
              <a:t>( type )</a:t>
            </a:r>
          </a:p>
          <a:p>
            <a:r>
              <a:rPr lang="en-IN" dirty="0"/>
              <a:t>Explanation</a:t>
            </a:r>
          </a:p>
          <a:p>
            <a:r>
              <a:rPr lang="en-IN" dirty="0"/>
              <a:t>converts a to the specified type.</a:t>
            </a:r>
          </a:p>
          <a:p>
            <a:r>
              <a:rPr lang="en-IN" dirty="0"/>
              <a:t>Note that the use of a parenthesized type in a method declaration or definition is not an example of the use of the type cast operator.</a:t>
            </a:r>
          </a:p>
          <a:p>
            <a:r>
              <a:rPr lang="en-IN" dirty="0"/>
              <a:t>Example For Type Cast Operator</a:t>
            </a:r>
          </a:p>
          <a:p>
            <a:r>
              <a:rPr lang="en-IN" dirty="0"/>
              <a:t>float s= 12.5;        </a:t>
            </a:r>
            <a:r>
              <a:rPr lang="en-IN" dirty="0" err="1"/>
              <a:t>int</a:t>
            </a:r>
            <a:r>
              <a:rPr lang="en-IN" dirty="0"/>
              <a:t> a;</a:t>
            </a:r>
          </a:p>
          <a:p>
            <a:r>
              <a:rPr lang="en-IN" dirty="0"/>
              <a:t>a = (</a:t>
            </a:r>
            <a:r>
              <a:rPr lang="en-IN" dirty="0" err="1"/>
              <a:t>int</a:t>
            </a:r>
            <a:r>
              <a:rPr lang="en-IN" dirty="0"/>
              <a:t>) s;</a:t>
            </a:r>
          </a:p>
          <a:p>
            <a:r>
              <a:rPr lang="en-IN" dirty="0"/>
              <a:t>now a value is 12.</a:t>
            </a:r>
          </a:p>
        </p:txBody>
      </p:sp>
    </p:spTree>
    <p:extLst>
      <p:ext uri="{BB962C8B-B14F-4D97-AF65-F5344CB8AC3E}">
        <p14:creationId xmlns:p14="http://schemas.microsoft.com/office/powerpoint/2010/main" val="4641628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Reference operator or Address </a:t>
            </a:r>
            <a:r>
              <a:rPr lang="en-IN" dirty="0" err="1"/>
              <a:t>Operater</a:t>
            </a:r>
            <a:r>
              <a:rPr lang="en-IN" dirty="0"/>
              <a:t> ("&amp;")</a:t>
            </a:r>
          </a:p>
        </p:txBody>
      </p:sp>
      <p:sp>
        <p:nvSpPr>
          <p:cNvPr id="3" name="Content Placeholder 2"/>
          <p:cNvSpPr>
            <a:spLocks noGrp="1"/>
          </p:cNvSpPr>
          <p:nvPr>
            <p:ph idx="1"/>
          </p:nvPr>
        </p:nvSpPr>
        <p:spPr/>
        <p:txBody>
          <a:bodyPr>
            <a:normAutofit fontScale="85000" lnSpcReduction="20000"/>
          </a:bodyPr>
          <a:lstStyle/>
          <a:p>
            <a:r>
              <a:rPr lang="en-IN" dirty="0"/>
              <a:t>The reference operator noted by ampersand ("&amp;"), is also a unary operator in c languages that uses for assign address of the variables. It returns the pointer address of the variable. This is called "referencing" </a:t>
            </a:r>
            <a:r>
              <a:rPr lang="en-IN" dirty="0" err="1"/>
              <a:t>operater</a:t>
            </a:r>
            <a:r>
              <a:rPr lang="en-IN" dirty="0"/>
              <a:t>. </a:t>
            </a:r>
          </a:p>
          <a:p>
            <a:endParaRPr lang="en-IN" dirty="0"/>
          </a:p>
          <a:p>
            <a:r>
              <a:rPr lang="en-IN" dirty="0"/>
              <a:t>Syntax</a:t>
            </a:r>
          </a:p>
          <a:p>
            <a:endParaRPr lang="en-IN" dirty="0"/>
          </a:p>
          <a:p>
            <a:r>
              <a:rPr lang="en-IN" dirty="0" err="1"/>
              <a:t>data_type</a:t>
            </a:r>
            <a:r>
              <a:rPr lang="en-IN" dirty="0"/>
              <a:t> x;</a:t>
            </a:r>
          </a:p>
          <a:p>
            <a:r>
              <a:rPr lang="en-IN" dirty="0" err="1"/>
              <a:t>data_type</a:t>
            </a:r>
            <a:r>
              <a:rPr lang="en-IN" dirty="0"/>
              <a:t> *</a:t>
            </a:r>
            <a:r>
              <a:rPr lang="en-IN" dirty="0" err="1"/>
              <a:t>pt</a:t>
            </a:r>
            <a:r>
              <a:rPr lang="en-IN" dirty="0"/>
              <a:t>;</a:t>
            </a:r>
          </a:p>
          <a:p>
            <a:r>
              <a:rPr lang="en-IN" dirty="0" err="1"/>
              <a:t>pt</a:t>
            </a:r>
            <a:r>
              <a:rPr lang="en-IN" dirty="0"/>
              <a:t> = &amp;</a:t>
            </a:r>
            <a:r>
              <a:rPr lang="en-IN" dirty="0" smtClean="0"/>
              <a:t>x</a:t>
            </a:r>
            <a:endParaRPr lang="en-IN" dirty="0"/>
          </a:p>
        </p:txBody>
      </p:sp>
    </p:spTree>
    <p:extLst>
      <p:ext uri="{BB962C8B-B14F-4D97-AF65-F5344CB8AC3E}">
        <p14:creationId xmlns:p14="http://schemas.microsoft.com/office/powerpoint/2010/main" val="40224057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Dereference operator ("*") or Pointer </a:t>
            </a:r>
            <a:r>
              <a:rPr lang="en-IN" dirty="0" err="1"/>
              <a:t>Operater</a:t>
            </a:r>
            <a:endParaRPr lang="en-IN" dirty="0"/>
          </a:p>
        </p:txBody>
      </p:sp>
      <p:sp>
        <p:nvSpPr>
          <p:cNvPr id="3" name="Content Placeholder 2"/>
          <p:cNvSpPr>
            <a:spLocks noGrp="1"/>
          </p:cNvSpPr>
          <p:nvPr>
            <p:ph idx="1"/>
          </p:nvPr>
        </p:nvSpPr>
        <p:spPr/>
        <p:txBody>
          <a:bodyPr>
            <a:normAutofit lnSpcReduction="10000"/>
          </a:bodyPr>
          <a:lstStyle/>
          <a:p>
            <a:r>
              <a:rPr lang="en-IN" dirty="0"/>
              <a:t>The dereference operator or indirection operator, noted by asterisk ("*"), is also a unary operator in c languages that uses for pointer variables. It operates on a pointer variable, and returns l-value equivalent to the value at the pointer address. This is called "dereferencing" the pointer. </a:t>
            </a:r>
          </a:p>
          <a:p>
            <a:endParaRPr lang="en-IN" dirty="0"/>
          </a:p>
          <a:p>
            <a:r>
              <a:rPr lang="en-IN" dirty="0" err="1"/>
              <a:t>data_type</a:t>
            </a:r>
            <a:r>
              <a:rPr lang="en-IN" dirty="0"/>
              <a:t> *</a:t>
            </a:r>
            <a:r>
              <a:rPr lang="en-IN" dirty="0" err="1"/>
              <a:t>pt</a:t>
            </a:r>
            <a:r>
              <a:rPr lang="en-IN" dirty="0" smtClean="0"/>
              <a:t>;</a:t>
            </a:r>
            <a:endParaRPr lang="en-IN" dirty="0"/>
          </a:p>
        </p:txBody>
      </p:sp>
    </p:spTree>
    <p:extLst>
      <p:ext uri="{BB962C8B-B14F-4D97-AF65-F5344CB8AC3E}">
        <p14:creationId xmlns:p14="http://schemas.microsoft.com/office/powerpoint/2010/main" val="8386908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Double Pointer operator ("**")</a:t>
            </a:r>
          </a:p>
        </p:txBody>
      </p:sp>
      <p:sp>
        <p:nvSpPr>
          <p:cNvPr id="3" name="Content Placeholder 2"/>
          <p:cNvSpPr>
            <a:spLocks noGrp="1"/>
          </p:cNvSpPr>
          <p:nvPr>
            <p:ph idx="1"/>
          </p:nvPr>
        </p:nvSpPr>
        <p:spPr/>
        <p:txBody>
          <a:bodyPr/>
          <a:lstStyle/>
          <a:p>
            <a:r>
              <a:rPr lang="en-IN" dirty="0"/>
              <a:t>Double Pointer is, that double pointer points to another pointer variable address.</a:t>
            </a:r>
          </a:p>
          <a:p>
            <a:endParaRPr lang="en-IN" dirty="0"/>
          </a:p>
          <a:p>
            <a:r>
              <a:rPr lang="en-IN" dirty="0" err="1"/>
              <a:t>data_type</a:t>
            </a:r>
            <a:r>
              <a:rPr lang="en-IN" dirty="0"/>
              <a:t> **</a:t>
            </a:r>
            <a:r>
              <a:rPr lang="en-IN" dirty="0" err="1"/>
              <a:t>pt</a:t>
            </a:r>
            <a:r>
              <a:rPr lang="en-IN" dirty="0"/>
              <a:t>;</a:t>
            </a:r>
          </a:p>
        </p:txBody>
      </p:sp>
    </p:spTree>
    <p:extLst>
      <p:ext uri="{BB962C8B-B14F-4D97-AF65-F5344CB8AC3E}">
        <p14:creationId xmlns:p14="http://schemas.microsoft.com/office/powerpoint/2010/main" val="29739566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sizeof</a:t>
            </a:r>
            <a:r>
              <a:rPr lang="en-IN" dirty="0"/>
              <a:t> operator</a:t>
            </a:r>
          </a:p>
        </p:txBody>
      </p:sp>
      <p:sp>
        <p:nvSpPr>
          <p:cNvPr id="3" name="Content Placeholder 2"/>
          <p:cNvSpPr>
            <a:spLocks noGrp="1"/>
          </p:cNvSpPr>
          <p:nvPr>
            <p:ph idx="1"/>
          </p:nvPr>
        </p:nvSpPr>
        <p:spPr/>
        <p:txBody>
          <a:bodyPr/>
          <a:lstStyle/>
          <a:p>
            <a:r>
              <a:rPr lang="en-IN" dirty="0" err="1"/>
              <a:t>sizeof</a:t>
            </a:r>
            <a:r>
              <a:rPr lang="en-IN" dirty="0"/>
              <a:t> returns the size of a variable or </a:t>
            </a:r>
            <a:r>
              <a:rPr lang="en-IN" dirty="0" err="1"/>
              <a:t>datatype</a:t>
            </a:r>
            <a:endParaRPr lang="en-IN" dirty="0"/>
          </a:p>
          <a:p>
            <a:endParaRPr lang="en-IN" dirty="0"/>
          </a:p>
          <a:p>
            <a:r>
              <a:rPr lang="en-IN" dirty="0" err="1"/>
              <a:t>sizeof</a:t>
            </a:r>
            <a:r>
              <a:rPr lang="en-IN" dirty="0"/>
              <a:t> (</a:t>
            </a:r>
            <a:r>
              <a:rPr lang="en-IN" dirty="0" err="1"/>
              <a:t>data_type</a:t>
            </a:r>
            <a:r>
              <a:rPr lang="en-IN" dirty="0"/>
              <a:t>)</a:t>
            </a:r>
          </a:p>
        </p:txBody>
      </p:sp>
    </p:spTree>
    <p:extLst>
      <p:ext uri="{BB962C8B-B14F-4D97-AF65-F5344CB8AC3E}">
        <p14:creationId xmlns:p14="http://schemas.microsoft.com/office/powerpoint/2010/main" val="364293892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Increment and decrement operators in C </a:t>
            </a:r>
          </a:p>
        </p:txBody>
      </p:sp>
      <p:sp>
        <p:nvSpPr>
          <p:cNvPr id="3" name="Content Placeholder 2"/>
          <p:cNvSpPr>
            <a:spLocks noGrp="1"/>
          </p:cNvSpPr>
          <p:nvPr>
            <p:ph idx="1"/>
          </p:nvPr>
        </p:nvSpPr>
        <p:spPr/>
        <p:txBody>
          <a:bodyPr/>
          <a:lstStyle/>
          <a:p>
            <a:r>
              <a:rPr lang="en-IN" dirty="0"/>
              <a:t>The Increment and Decrement Operators in C are some of the Operators, which are used to increase or decrease the value by 1. For instance, Incremental operator ++ is used to increase the existing variable value by 1 (x = x + 1). And decrement operator – – is used to decrease or subtract the existing value by 1 (x = x – 1).</a:t>
            </a:r>
          </a:p>
          <a:p>
            <a:endParaRPr lang="en-IN" dirty="0"/>
          </a:p>
          <a:p>
            <a:endParaRPr lang="en-IN" dirty="0"/>
          </a:p>
        </p:txBody>
      </p:sp>
    </p:spTree>
    <p:extLst>
      <p:ext uri="{BB962C8B-B14F-4D97-AF65-F5344CB8AC3E}">
        <p14:creationId xmlns:p14="http://schemas.microsoft.com/office/powerpoint/2010/main" val="425662171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Prefix and Postfix in C</a:t>
            </a:r>
          </a:p>
        </p:txBody>
      </p:sp>
      <p:sp>
        <p:nvSpPr>
          <p:cNvPr id="3" name="Content Placeholder 2"/>
          <p:cNvSpPr>
            <a:spLocks noGrp="1"/>
          </p:cNvSpPr>
          <p:nvPr>
            <p:ph idx="1"/>
          </p:nvPr>
        </p:nvSpPr>
        <p:spPr/>
        <p:txBody>
          <a:bodyPr>
            <a:normAutofit fontScale="62500" lnSpcReduction="20000"/>
          </a:bodyPr>
          <a:lstStyle/>
          <a:p>
            <a:r>
              <a:rPr lang="en-IN" dirty="0"/>
              <a:t>If you observe the above syntax, we can assign the C increment and decrement operators either before operand or after the operand. When ++ or — is used before operand like: ++x, –x then we call it as prefix, if ++ or — is used after the operand like: x++ or x– then we called it as postfix.</a:t>
            </a:r>
          </a:p>
          <a:p>
            <a:endParaRPr lang="en-IN" dirty="0"/>
          </a:p>
          <a:p>
            <a:r>
              <a:rPr lang="en-IN" dirty="0"/>
              <a:t>Let’s explore the prefix and postfix of increment and decrement operators in C</a:t>
            </a:r>
          </a:p>
          <a:p>
            <a:endParaRPr lang="en-IN" dirty="0"/>
          </a:p>
          <a:p>
            <a:r>
              <a:rPr lang="en-IN" dirty="0"/>
              <a:t>++i (Pre-increment): It will increment the value of i even before assigning it to the variable i.</a:t>
            </a:r>
          </a:p>
          <a:p>
            <a:r>
              <a:rPr lang="en-IN" dirty="0"/>
              <a:t>i++ (Post-increment): The operator will return the variable value first (</a:t>
            </a:r>
            <a:r>
              <a:rPr lang="en-IN" dirty="0" err="1"/>
              <a:t>i.e</a:t>
            </a:r>
            <a:r>
              <a:rPr lang="en-IN" dirty="0"/>
              <a:t>, i value) then only i value is incremented by 1.</a:t>
            </a:r>
          </a:p>
          <a:p>
            <a:r>
              <a:rPr lang="en-IN" dirty="0"/>
              <a:t>–i (Pre decrement): It will decrement the value of i even before assigning it to the variable i.</a:t>
            </a:r>
          </a:p>
          <a:p>
            <a:r>
              <a:rPr lang="en-IN"/>
              <a:t>i– (Post decrement): The operator returns the variable value first (i.e., i value), then only i value decremented by 1.</a:t>
            </a:r>
          </a:p>
        </p:txBody>
      </p:sp>
    </p:spTree>
    <p:extLst>
      <p:ext uri="{BB962C8B-B14F-4D97-AF65-F5344CB8AC3E}">
        <p14:creationId xmlns:p14="http://schemas.microsoft.com/office/powerpoint/2010/main" val="350101221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Autofit/>
          </a:bodyPr>
          <a:lstStyle/>
          <a:p>
            <a:r>
              <a:rPr lang="en-IN" sz="1200" dirty="0"/>
              <a:t>/* Increment and Decrement Operators in C as Prefix and Postfix */</a:t>
            </a:r>
          </a:p>
          <a:p>
            <a:endParaRPr lang="en-IN" sz="1200" dirty="0"/>
          </a:p>
          <a:p>
            <a:r>
              <a:rPr lang="en-IN" sz="1200" dirty="0"/>
              <a:t>#include&lt;</a:t>
            </a:r>
            <a:r>
              <a:rPr lang="en-IN" sz="1200" dirty="0" err="1"/>
              <a:t>stdio.h</a:t>
            </a:r>
            <a:r>
              <a:rPr lang="en-IN" sz="1200" dirty="0"/>
              <a:t>&gt; </a:t>
            </a:r>
          </a:p>
          <a:p>
            <a:pPr marL="0" indent="0">
              <a:buNone/>
            </a:pPr>
            <a:r>
              <a:rPr lang="en-IN" sz="1200" dirty="0" err="1" smtClean="0"/>
              <a:t>int</a:t>
            </a:r>
            <a:r>
              <a:rPr lang="en-IN" sz="1200" dirty="0" smtClean="0"/>
              <a:t> </a:t>
            </a:r>
            <a:r>
              <a:rPr lang="en-IN" sz="1200" dirty="0"/>
              <a:t>main()</a:t>
            </a:r>
          </a:p>
          <a:p>
            <a:r>
              <a:rPr lang="en-IN" sz="1200" dirty="0"/>
              <a:t>{</a:t>
            </a:r>
          </a:p>
          <a:p>
            <a:pPr marL="0" indent="0">
              <a:buNone/>
            </a:pPr>
            <a:r>
              <a:rPr lang="en-IN" sz="1200" dirty="0" smtClean="0"/>
              <a:t> </a:t>
            </a:r>
            <a:r>
              <a:rPr lang="en-IN" sz="1200" dirty="0" err="1"/>
              <a:t>int</a:t>
            </a:r>
            <a:r>
              <a:rPr lang="en-IN" sz="1200" dirty="0"/>
              <a:t> x = 10,y = 20, a = 5, b= 4;</a:t>
            </a:r>
          </a:p>
          <a:p>
            <a:pPr marL="0" indent="0">
              <a:buNone/>
            </a:pPr>
            <a:r>
              <a:rPr lang="en-IN" sz="1200" dirty="0" smtClean="0"/>
              <a:t> </a:t>
            </a:r>
            <a:r>
              <a:rPr lang="en-IN" sz="1200" dirty="0" err="1"/>
              <a:t>printf</a:t>
            </a:r>
            <a:r>
              <a:rPr lang="en-IN" sz="1200" dirty="0"/>
              <a:t>("---- PRE INCREMENT OPERATOR EXAMPLE---- \n");</a:t>
            </a:r>
          </a:p>
          <a:p>
            <a:r>
              <a:rPr lang="en-IN" sz="1200" dirty="0"/>
              <a:t> </a:t>
            </a:r>
            <a:r>
              <a:rPr lang="en-IN" sz="1200" dirty="0" err="1"/>
              <a:t>printf</a:t>
            </a:r>
            <a:r>
              <a:rPr lang="en-IN" sz="1200" dirty="0"/>
              <a:t>("Value of x : %d \n", x); //Original Value</a:t>
            </a:r>
          </a:p>
          <a:p>
            <a:r>
              <a:rPr lang="en-IN" sz="1200" dirty="0"/>
              <a:t> </a:t>
            </a:r>
            <a:r>
              <a:rPr lang="en-IN" sz="1200" dirty="0" err="1"/>
              <a:t>printf</a:t>
            </a:r>
            <a:r>
              <a:rPr lang="en-IN" sz="1200" dirty="0"/>
              <a:t>("Value of x : %d \n", ++x); // using Pre increment Operator</a:t>
            </a:r>
          </a:p>
          <a:p>
            <a:r>
              <a:rPr lang="en-IN" sz="1200" dirty="0"/>
              <a:t> </a:t>
            </a:r>
            <a:r>
              <a:rPr lang="en-IN" sz="1200" dirty="0" err="1"/>
              <a:t>printf</a:t>
            </a:r>
            <a:r>
              <a:rPr lang="en-IN" sz="1200" dirty="0"/>
              <a:t>("Value of x Incremented : %d \n", x); //Incremented value</a:t>
            </a:r>
          </a:p>
          <a:p>
            <a:pPr marL="0" indent="0">
              <a:buNone/>
            </a:pPr>
            <a:r>
              <a:rPr lang="en-IN" sz="1200" dirty="0" smtClean="0"/>
              <a:t>          </a:t>
            </a:r>
            <a:r>
              <a:rPr lang="en-IN" sz="1200" dirty="0" err="1"/>
              <a:t>printf</a:t>
            </a:r>
            <a:r>
              <a:rPr lang="en-IN" sz="1200" dirty="0"/>
              <a:t>("----POST INCREMENT OPERATOR EXAMPLE---- \n");</a:t>
            </a:r>
          </a:p>
          <a:p>
            <a:r>
              <a:rPr lang="en-IN" sz="1200" dirty="0"/>
              <a:t> </a:t>
            </a:r>
            <a:r>
              <a:rPr lang="en-IN" sz="1200" dirty="0" err="1"/>
              <a:t>printf</a:t>
            </a:r>
            <a:r>
              <a:rPr lang="en-IN" sz="1200" dirty="0"/>
              <a:t>("Value of y : %d \n", y); //Original Value</a:t>
            </a:r>
          </a:p>
          <a:p>
            <a:r>
              <a:rPr lang="en-IN" sz="1200" dirty="0"/>
              <a:t> </a:t>
            </a:r>
            <a:r>
              <a:rPr lang="en-IN" sz="1200" dirty="0" err="1"/>
              <a:t>printf</a:t>
            </a:r>
            <a:r>
              <a:rPr lang="en-IN" sz="1200" dirty="0"/>
              <a:t>("Value of y : %d \n", y++); // using Post increment Operator</a:t>
            </a:r>
          </a:p>
          <a:p>
            <a:r>
              <a:rPr lang="en-IN" sz="1200" dirty="0"/>
              <a:t> </a:t>
            </a:r>
            <a:r>
              <a:rPr lang="en-IN" sz="1200" dirty="0" err="1"/>
              <a:t>printf</a:t>
            </a:r>
            <a:r>
              <a:rPr lang="en-IN" sz="1200" dirty="0"/>
              <a:t>("Value of Incremented y : %d \n", y); //Incremented value</a:t>
            </a:r>
          </a:p>
          <a:p>
            <a:endParaRPr lang="en-IN" sz="1200" dirty="0"/>
          </a:p>
          <a:p>
            <a:r>
              <a:rPr lang="en-IN" sz="1200" dirty="0"/>
              <a:t> </a:t>
            </a:r>
            <a:r>
              <a:rPr lang="en-IN" sz="1200" dirty="0" err="1"/>
              <a:t>printf</a:t>
            </a:r>
            <a:r>
              <a:rPr lang="en-IN" sz="1200" dirty="0"/>
              <a:t>("----PRE DECREMENT OPERATOR EXAMPLE---- \n");</a:t>
            </a:r>
          </a:p>
          <a:p>
            <a:r>
              <a:rPr lang="en-IN" sz="1200" dirty="0"/>
              <a:t> </a:t>
            </a:r>
            <a:r>
              <a:rPr lang="en-IN" sz="1200" dirty="0" err="1"/>
              <a:t>printf</a:t>
            </a:r>
            <a:r>
              <a:rPr lang="en-IN" sz="1200" dirty="0"/>
              <a:t>("Value of a : %d \n", a); //Original Value</a:t>
            </a:r>
          </a:p>
          <a:p>
            <a:r>
              <a:rPr lang="en-IN" sz="1200" dirty="0"/>
              <a:t> </a:t>
            </a:r>
            <a:r>
              <a:rPr lang="en-IN" sz="1200" dirty="0" err="1"/>
              <a:t>printf</a:t>
            </a:r>
            <a:r>
              <a:rPr lang="en-IN" sz="1200" dirty="0"/>
              <a:t>("Value of a : %d \n", --a); // using Pre decrement Operator</a:t>
            </a:r>
          </a:p>
          <a:p>
            <a:r>
              <a:rPr lang="en-IN" sz="1200" dirty="0"/>
              <a:t> </a:t>
            </a:r>
            <a:r>
              <a:rPr lang="en-IN" sz="1200" dirty="0" err="1"/>
              <a:t>printf</a:t>
            </a:r>
            <a:r>
              <a:rPr lang="en-IN" sz="1200" dirty="0"/>
              <a:t>("Value of decremented y : %d \n", a); //decremented value</a:t>
            </a:r>
          </a:p>
          <a:p>
            <a:endParaRPr lang="en-IN" sz="1200" dirty="0"/>
          </a:p>
          <a:p>
            <a:r>
              <a:rPr lang="en-IN" sz="1200" dirty="0"/>
              <a:t> </a:t>
            </a:r>
            <a:r>
              <a:rPr lang="en-IN" sz="1200" dirty="0" err="1"/>
              <a:t>printf</a:t>
            </a:r>
            <a:r>
              <a:rPr lang="en-IN" sz="1200" dirty="0"/>
              <a:t>("----POST DECREMENT OPERATOR EXAMPLE---- \n");</a:t>
            </a:r>
          </a:p>
          <a:p>
            <a:r>
              <a:rPr lang="en-IN" sz="1200" dirty="0"/>
              <a:t> </a:t>
            </a:r>
            <a:r>
              <a:rPr lang="en-IN" sz="1200" dirty="0" err="1"/>
              <a:t>printf</a:t>
            </a:r>
            <a:r>
              <a:rPr lang="en-IN" sz="1200" dirty="0"/>
              <a:t>("Value of b : %d \n", b); //Original Value</a:t>
            </a:r>
          </a:p>
          <a:p>
            <a:r>
              <a:rPr lang="en-IN" sz="1200" dirty="0"/>
              <a:t> </a:t>
            </a:r>
            <a:r>
              <a:rPr lang="en-IN" sz="1200" dirty="0" err="1"/>
              <a:t>printf</a:t>
            </a:r>
            <a:r>
              <a:rPr lang="en-IN" sz="1200" dirty="0"/>
              <a:t>("Value of b : %d \n", b--); // using Post decrement Operator</a:t>
            </a:r>
          </a:p>
          <a:p>
            <a:r>
              <a:rPr lang="en-IN" sz="1200" dirty="0"/>
              <a:t> </a:t>
            </a:r>
            <a:r>
              <a:rPr lang="en-IN" sz="1200" dirty="0" err="1"/>
              <a:t>printf</a:t>
            </a:r>
            <a:r>
              <a:rPr lang="en-IN" sz="1200" dirty="0"/>
              <a:t>("Value of decremented b : %d \n", b); //decremented value</a:t>
            </a:r>
          </a:p>
          <a:p>
            <a:pPr marL="0" indent="0">
              <a:buNone/>
            </a:pPr>
            <a:r>
              <a:rPr lang="en-IN" sz="1200" smtClean="0"/>
              <a:t>         </a:t>
            </a:r>
            <a:r>
              <a:rPr lang="en-IN" sz="1200" dirty="0"/>
              <a:t>return 0;</a:t>
            </a:r>
          </a:p>
          <a:p>
            <a:r>
              <a:rPr lang="en-IN" sz="1200" dirty="0"/>
              <a:t> }</a:t>
            </a:r>
          </a:p>
        </p:txBody>
      </p:sp>
    </p:spTree>
    <p:extLst>
      <p:ext uri="{BB962C8B-B14F-4D97-AF65-F5344CB8AC3E}">
        <p14:creationId xmlns:p14="http://schemas.microsoft.com/office/powerpoint/2010/main" val="264574956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dirty="0" smtClean="0"/>
              <a:t>examples</a:t>
            </a:r>
            <a:endParaRPr lang="en-IN" dirty="0"/>
          </a:p>
        </p:txBody>
      </p:sp>
      <p:sp>
        <p:nvSpPr>
          <p:cNvPr id="3" name="Content Placeholder 2"/>
          <p:cNvSpPr>
            <a:spLocks noGrp="1"/>
          </p:cNvSpPr>
          <p:nvPr>
            <p:ph idx="1"/>
          </p:nvPr>
        </p:nvSpPr>
        <p:spPr>
          <a:xfrm>
            <a:off x="457200" y="1066800"/>
            <a:ext cx="8229600" cy="5059363"/>
          </a:xfrm>
        </p:spPr>
        <p:txBody>
          <a:bodyPr>
            <a:noAutofit/>
          </a:bodyPr>
          <a:lstStyle/>
          <a:p>
            <a:r>
              <a:rPr lang="en-IN" sz="1200" b="1" dirty="0"/>
              <a:t>#include &lt;</a:t>
            </a:r>
            <a:r>
              <a:rPr lang="en-IN" sz="1200" b="1" dirty="0" err="1"/>
              <a:t>stdio.h</a:t>
            </a:r>
            <a:r>
              <a:rPr lang="en-IN" sz="1200" b="1" dirty="0"/>
              <a:t>&gt;</a:t>
            </a:r>
          </a:p>
          <a:p>
            <a:r>
              <a:rPr lang="en-IN" sz="1200" b="1" dirty="0" err="1"/>
              <a:t>int</a:t>
            </a:r>
            <a:r>
              <a:rPr lang="en-IN" sz="1200" b="1" dirty="0"/>
              <a:t> main() </a:t>
            </a:r>
          </a:p>
          <a:p>
            <a:r>
              <a:rPr lang="en-IN" sz="1200" b="1" dirty="0"/>
              <a:t>{</a:t>
            </a:r>
          </a:p>
          <a:p>
            <a:r>
              <a:rPr lang="en-IN" sz="1200" b="1" dirty="0"/>
              <a:t>	</a:t>
            </a:r>
            <a:r>
              <a:rPr lang="en-IN" sz="1200" b="1" dirty="0" err="1"/>
              <a:t>int</a:t>
            </a:r>
            <a:r>
              <a:rPr lang="en-IN" sz="1200" b="1" dirty="0"/>
              <a:t> a = 20;	/* 20 = 010100 */  </a:t>
            </a:r>
          </a:p>
          <a:p>
            <a:r>
              <a:rPr lang="en-IN" sz="1200" b="1" dirty="0"/>
              <a:t>    </a:t>
            </a:r>
            <a:r>
              <a:rPr lang="en-IN" sz="1200" b="1" dirty="0" err="1"/>
              <a:t>int</a:t>
            </a:r>
            <a:r>
              <a:rPr lang="en-IN" sz="1200" b="1" dirty="0"/>
              <a:t> b = 21;	/* 21 = 010101 */</a:t>
            </a:r>
          </a:p>
          <a:p>
            <a:r>
              <a:rPr lang="en-IN" sz="1200" b="1" dirty="0"/>
              <a:t>   	</a:t>
            </a:r>
            <a:r>
              <a:rPr lang="en-IN" sz="1200" b="1" dirty="0" err="1"/>
              <a:t>int</a:t>
            </a:r>
            <a:r>
              <a:rPr lang="en-IN" sz="1200" b="1" dirty="0"/>
              <a:t> c = 0;           </a:t>
            </a:r>
          </a:p>
          <a:p>
            <a:endParaRPr lang="en-IN" sz="1200" b="1" dirty="0"/>
          </a:p>
          <a:p>
            <a:r>
              <a:rPr lang="en-IN" sz="1200" b="1" dirty="0"/>
              <a:t>   	c = a &amp; b;       /* 20 = 010100 */ </a:t>
            </a:r>
          </a:p>
          <a:p>
            <a:r>
              <a:rPr lang="en-IN" sz="1200" b="1" dirty="0"/>
              <a:t>   	</a:t>
            </a:r>
            <a:r>
              <a:rPr lang="en-IN" sz="1200" b="1" dirty="0" err="1"/>
              <a:t>printf</a:t>
            </a:r>
            <a:r>
              <a:rPr lang="en-IN" sz="1200" b="1" dirty="0"/>
              <a:t>("AND - Value of c is %d\n", c );</a:t>
            </a:r>
          </a:p>
          <a:p>
            <a:endParaRPr lang="en-IN" sz="1200" b="1" dirty="0"/>
          </a:p>
          <a:p>
            <a:r>
              <a:rPr lang="en-IN" sz="1200" b="1" dirty="0"/>
              <a:t>   	c = a | b;       /* 21 = 010101 */</a:t>
            </a:r>
          </a:p>
          <a:p>
            <a:r>
              <a:rPr lang="en-IN" sz="1200" b="1" dirty="0"/>
              <a:t>   	</a:t>
            </a:r>
            <a:r>
              <a:rPr lang="en-IN" sz="1200" b="1" dirty="0" err="1"/>
              <a:t>printf</a:t>
            </a:r>
            <a:r>
              <a:rPr lang="en-IN" sz="1200" b="1" dirty="0"/>
              <a:t>("OR - Value of c is %d\n", c );</a:t>
            </a:r>
          </a:p>
          <a:p>
            <a:endParaRPr lang="en-IN" sz="1200" b="1" dirty="0"/>
          </a:p>
          <a:p>
            <a:r>
              <a:rPr lang="en-IN" sz="1200" b="1" dirty="0"/>
              <a:t>   	c = a ^ b;       /* 1 = 0001 */</a:t>
            </a:r>
          </a:p>
          <a:p>
            <a:r>
              <a:rPr lang="en-IN" sz="1200" b="1" dirty="0"/>
              <a:t>   	</a:t>
            </a:r>
            <a:r>
              <a:rPr lang="en-IN" sz="1200" b="1" dirty="0" err="1"/>
              <a:t>printf</a:t>
            </a:r>
            <a:r>
              <a:rPr lang="en-IN" sz="1200" b="1" dirty="0"/>
              <a:t>("Exclusive-OR - Value of c is %d\n", c );</a:t>
            </a:r>
          </a:p>
          <a:p>
            <a:pPr marL="0" indent="0">
              <a:buNone/>
            </a:pPr>
            <a:endParaRPr lang="en-IN" sz="1200" b="1" dirty="0"/>
          </a:p>
          <a:p>
            <a:r>
              <a:rPr lang="en-IN" sz="1200" b="1" dirty="0"/>
              <a:t>}</a:t>
            </a:r>
          </a:p>
          <a:p>
            <a:r>
              <a:rPr lang="en-IN" sz="1200" b="1" dirty="0"/>
              <a:t>Output:</a:t>
            </a:r>
          </a:p>
          <a:p>
            <a:endParaRPr lang="en-IN" sz="1200" b="1" dirty="0"/>
          </a:p>
          <a:p>
            <a:r>
              <a:rPr lang="en-IN" sz="1200" b="1" dirty="0"/>
              <a:t>AND - Value of c is 20</a:t>
            </a:r>
          </a:p>
          <a:p>
            <a:r>
              <a:rPr lang="en-IN" sz="1200" b="1" dirty="0"/>
              <a:t>OR - Value of c is 21</a:t>
            </a:r>
          </a:p>
          <a:p>
            <a:r>
              <a:rPr lang="en-IN" sz="1200" b="1" dirty="0"/>
              <a:t>Exclusive-OR - Value of c is 1</a:t>
            </a:r>
          </a:p>
        </p:txBody>
      </p:sp>
    </p:spTree>
    <p:extLst>
      <p:ext uri="{BB962C8B-B14F-4D97-AF65-F5344CB8AC3E}">
        <p14:creationId xmlns:p14="http://schemas.microsoft.com/office/powerpoint/2010/main" val="427137262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a:t>
            </a:r>
            <a:endParaRPr lang="en-IN" dirty="0"/>
          </a:p>
        </p:txBody>
      </p:sp>
      <p:sp>
        <p:nvSpPr>
          <p:cNvPr id="3" name="Content Placeholder 2"/>
          <p:cNvSpPr>
            <a:spLocks noGrp="1"/>
          </p:cNvSpPr>
          <p:nvPr>
            <p:ph idx="1"/>
          </p:nvPr>
        </p:nvSpPr>
        <p:spPr/>
        <p:txBody>
          <a:bodyPr>
            <a:normAutofit fontScale="55000" lnSpcReduction="20000"/>
          </a:bodyPr>
          <a:lstStyle/>
          <a:p>
            <a:r>
              <a:rPr lang="en-IN" dirty="0"/>
              <a:t>#include &lt;</a:t>
            </a:r>
            <a:r>
              <a:rPr lang="en-IN" dirty="0" err="1"/>
              <a:t>stdio.h</a:t>
            </a:r>
            <a:r>
              <a:rPr lang="en-IN" dirty="0"/>
              <a:t>&gt;</a:t>
            </a:r>
          </a:p>
          <a:p>
            <a:r>
              <a:rPr lang="en-IN" dirty="0" err="1"/>
              <a:t>int</a:t>
            </a:r>
            <a:r>
              <a:rPr lang="en-IN" dirty="0"/>
              <a:t> main() {</a:t>
            </a:r>
          </a:p>
          <a:p>
            <a:r>
              <a:rPr lang="en-IN" dirty="0"/>
              <a:t>   </a:t>
            </a:r>
            <a:r>
              <a:rPr lang="en-IN" dirty="0" err="1"/>
              <a:t>int</a:t>
            </a:r>
            <a:r>
              <a:rPr lang="en-IN" dirty="0"/>
              <a:t> a = 20;	/* 20 = 010100 */  </a:t>
            </a:r>
          </a:p>
          <a:p>
            <a:r>
              <a:rPr lang="en-IN" dirty="0"/>
              <a:t>   </a:t>
            </a:r>
            <a:r>
              <a:rPr lang="en-IN" dirty="0" err="1"/>
              <a:t>int</a:t>
            </a:r>
            <a:r>
              <a:rPr lang="en-IN" dirty="0"/>
              <a:t> </a:t>
            </a:r>
            <a:r>
              <a:rPr lang="en-IN"/>
              <a:t>c </a:t>
            </a:r>
            <a:r>
              <a:rPr lang="en-IN" smtClean="0"/>
              <a:t>;           </a:t>
            </a:r>
            <a:endParaRPr lang="en-IN" dirty="0"/>
          </a:p>
          <a:p>
            <a:endParaRPr lang="en-IN" dirty="0"/>
          </a:p>
          <a:p>
            <a:r>
              <a:rPr lang="en-IN" dirty="0"/>
              <a:t>   c = a &lt;&lt; 2;	/* 80 = 101000 */</a:t>
            </a:r>
          </a:p>
          <a:p>
            <a:r>
              <a:rPr lang="en-IN" dirty="0"/>
              <a:t>   </a:t>
            </a:r>
            <a:r>
              <a:rPr lang="en-IN" dirty="0" err="1"/>
              <a:t>printf</a:t>
            </a:r>
            <a:r>
              <a:rPr lang="en-IN" dirty="0"/>
              <a:t>("Left shift - Value of c is %d\n", c );</a:t>
            </a:r>
          </a:p>
          <a:p>
            <a:endParaRPr lang="en-IN" dirty="0"/>
          </a:p>
          <a:p>
            <a:r>
              <a:rPr lang="en-IN" dirty="0"/>
              <a:t>   c = a &gt;&gt; 2;	/*05 = 000101 */</a:t>
            </a:r>
          </a:p>
          <a:p>
            <a:r>
              <a:rPr lang="en-IN" dirty="0"/>
              <a:t>   </a:t>
            </a:r>
            <a:r>
              <a:rPr lang="en-IN" dirty="0" err="1"/>
              <a:t>printf</a:t>
            </a:r>
            <a:r>
              <a:rPr lang="en-IN" dirty="0"/>
              <a:t>("Right shift - Value of c is %d\n", c );</a:t>
            </a:r>
          </a:p>
          <a:p>
            <a:r>
              <a:rPr lang="en-IN" dirty="0"/>
              <a:t>   return 0;</a:t>
            </a:r>
          </a:p>
          <a:p>
            <a:r>
              <a:rPr lang="en-IN" dirty="0"/>
              <a:t>}</a:t>
            </a:r>
          </a:p>
          <a:p>
            <a:r>
              <a:rPr lang="en-IN" dirty="0"/>
              <a:t>Output:</a:t>
            </a:r>
          </a:p>
          <a:p>
            <a:endParaRPr lang="en-IN" dirty="0"/>
          </a:p>
          <a:p>
            <a:r>
              <a:rPr lang="en-IN" dirty="0"/>
              <a:t>Left shift - Value of c is 80</a:t>
            </a:r>
          </a:p>
          <a:p>
            <a:r>
              <a:rPr lang="en-IN" dirty="0"/>
              <a:t>Right shift - Value of c is 5</a:t>
            </a:r>
          </a:p>
        </p:txBody>
      </p:sp>
    </p:spTree>
    <p:extLst>
      <p:ext uri="{BB962C8B-B14F-4D97-AF65-F5344CB8AC3E}">
        <p14:creationId xmlns:p14="http://schemas.microsoft.com/office/powerpoint/2010/main" val="204545708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a:t>
            </a:r>
            <a:endParaRPr lang="en-IN" dirty="0"/>
          </a:p>
        </p:txBody>
      </p:sp>
      <p:sp>
        <p:nvSpPr>
          <p:cNvPr id="3" name="Content Placeholder 2"/>
          <p:cNvSpPr>
            <a:spLocks noGrp="1"/>
          </p:cNvSpPr>
          <p:nvPr>
            <p:ph idx="1"/>
          </p:nvPr>
        </p:nvSpPr>
        <p:spPr/>
        <p:txBody>
          <a:bodyPr>
            <a:normAutofit fontScale="62500" lnSpcReduction="20000"/>
          </a:bodyPr>
          <a:lstStyle/>
          <a:p>
            <a:r>
              <a:rPr lang="en-IN" dirty="0"/>
              <a:t># include &lt;</a:t>
            </a:r>
            <a:r>
              <a:rPr lang="en-IN" dirty="0" err="1"/>
              <a:t>stdio.h</a:t>
            </a:r>
            <a:r>
              <a:rPr lang="en-IN" dirty="0"/>
              <a:t>&gt;</a:t>
            </a:r>
          </a:p>
          <a:p>
            <a:r>
              <a:rPr lang="en-IN" dirty="0"/>
              <a:t> </a:t>
            </a:r>
          </a:p>
          <a:p>
            <a:r>
              <a:rPr lang="en-IN" dirty="0"/>
              <a:t>void main()</a:t>
            </a:r>
          </a:p>
          <a:p>
            <a:r>
              <a:rPr lang="en-IN" dirty="0"/>
              <a:t>{</a:t>
            </a:r>
          </a:p>
          <a:p>
            <a:r>
              <a:rPr lang="en-IN" dirty="0"/>
              <a:t>    </a:t>
            </a:r>
            <a:r>
              <a:rPr lang="en-IN" dirty="0" err="1"/>
              <a:t>int</a:t>
            </a:r>
            <a:r>
              <a:rPr lang="en-IN" dirty="0"/>
              <a:t> a, b, c, big ;</a:t>
            </a:r>
          </a:p>
          <a:p>
            <a:r>
              <a:rPr lang="en-IN" dirty="0"/>
              <a:t> </a:t>
            </a:r>
          </a:p>
          <a:p>
            <a:r>
              <a:rPr lang="en-IN" dirty="0"/>
              <a:t>    </a:t>
            </a:r>
            <a:r>
              <a:rPr lang="en-IN" dirty="0" err="1"/>
              <a:t>printf</a:t>
            </a:r>
            <a:r>
              <a:rPr lang="en-IN" dirty="0"/>
              <a:t>("Enter three numbers : ") ;</a:t>
            </a:r>
          </a:p>
          <a:p>
            <a:r>
              <a:rPr lang="en-IN" dirty="0"/>
              <a:t> </a:t>
            </a:r>
          </a:p>
          <a:p>
            <a:r>
              <a:rPr lang="en-IN" dirty="0"/>
              <a:t>    </a:t>
            </a:r>
            <a:r>
              <a:rPr lang="en-IN" dirty="0" err="1"/>
              <a:t>scanf</a:t>
            </a:r>
            <a:r>
              <a:rPr lang="en-IN" dirty="0"/>
              <a:t>("%d %d %d", &amp;a, &amp;b, &amp;c) ;</a:t>
            </a:r>
          </a:p>
          <a:p>
            <a:r>
              <a:rPr lang="en-IN" dirty="0"/>
              <a:t> </a:t>
            </a:r>
          </a:p>
          <a:p>
            <a:r>
              <a:rPr lang="en-IN" dirty="0"/>
              <a:t>    big = a &gt; b ? (a &gt; c ? a : c) : (b &gt; c ? b : c) ;</a:t>
            </a:r>
          </a:p>
          <a:p>
            <a:r>
              <a:rPr lang="en-IN" dirty="0"/>
              <a:t> </a:t>
            </a:r>
          </a:p>
          <a:p>
            <a:r>
              <a:rPr lang="en-IN" dirty="0"/>
              <a:t>    </a:t>
            </a:r>
            <a:r>
              <a:rPr lang="en-IN" dirty="0" err="1"/>
              <a:t>printf</a:t>
            </a:r>
            <a:r>
              <a:rPr lang="en-IN" dirty="0"/>
              <a:t>("\</a:t>
            </a:r>
            <a:r>
              <a:rPr lang="en-IN" dirty="0" err="1"/>
              <a:t>nThe</a:t>
            </a:r>
            <a:r>
              <a:rPr lang="en-IN" dirty="0"/>
              <a:t> biggest number is : %d", big) ;</a:t>
            </a:r>
          </a:p>
          <a:p>
            <a:r>
              <a:rPr lang="en-IN" dirty="0"/>
              <a:t>}</a:t>
            </a:r>
          </a:p>
          <a:p>
            <a:endParaRPr lang="en-IN" dirty="0"/>
          </a:p>
        </p:txBody>
      </p:sp>
    </p:spTree>
    <p:extLst>
      <p:ext uri="{BB962C8B-B14F-4D97-AF65-F5344CB8AC3E}">
        <p14:creationId xmlns:p14="http://schemas.microsoft.com/office/powerpoint/2010/main" val="354451293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237</TotalTime>
  <Words>1620</Words>
  <Application>Microsoft Office PowerPoint</Application>
  <PresentationFormat>On-screen Show (4:3)</PresentationFormat>
  <Paragraphs>289</Paragraphs>
  <Slides>29</Slides>
  <Notes>0</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Office Theme</vt:lpstr>
      <vt:lpstr>Operators</vt:lpstr>
      <vt:lpstr>Introduction</vt:lpstr>
      <vt:lpstr>Types</vt:lpstr>
      <vt:lpstr>Arithmetic operators </vt:lpstr>
      <vt:lpstr>Relational operators</vt:lpstr>
      <vt:lpstr>Logical operators</vt:lpstr>
      <vt:lpstr>Bitwise operators</vt:lpstr>
      <vt:lpstr>Cont..</vt:lpstr>
      <vt:lpstr>Cont..</vt:lpstr>
      <vt:lpstr>Cont..</vt:lpstr>
      <vt:lpstr>Cont..</vt:lpstr>
      <vt:lpstr>Cont..</vt:lpstr>
      <vt:lpstr>Example</vt:lpstr>
      <vt:lpstr>Assignment Operators </vt:lpstr>
      <vt:lpstr>Conditional operator </vt:lpstr>
      <vt:lpstr>Explanation:</vt:lpstr>
      <vt:lpstr>Special operator</vt:lpstr>
      <vt:lpstr>Comma Operator </vt:lpstr>
      <vt:lpstr>Type cast Operator</vt:lpstr>
      <vt:lpstr>Reference operator or Address Operater ("&amp;")</vt:lpstr>
      <vt:lpstr>Dereference operator ("*") or Pointer Operater</vt:lpstr>
      <vt:lpstr>Double Pointer operator ("**")</vt:lpstr>
      <vt:lpstr>sizeof operator</vt:lpstr>
      <vt:lpstr>Increment and decrement operators in C </vt:lpstr>
      <vt:lpstr>Prefix and Postfix in C</vt:lpstr>
      <vt:lpstr>PowerPoint Presentation</vt:lpstr>
      <vt:lpstr>examples</vt:lpstr>
      <vt:lpstr>Examples</vt:lpstr>
      <vt:lpstr>examples</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Operators</dc:title>
  <dc:creator>gift</dc:creator>
  <cp:lastModifiedBy>Jyotsna</cp:lastModifiedBy>
  <cp:revision>20</cp:revision>
  <dcterms:created xsi:type="dcterms:W3CDTF">2006-08-16T00:00:00Z</dcterms:created>
  <dcterms:modified xsi:type="dcterms:W3CDTF">2021-07-06T06:04:50Z</dcterms:modified>
</cp:coreProperties>
</file>