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71" r:id="rId7"/>
    <p:sldId id="272" r:id="rId8"/>
    <p:sldId id="273" r:id="rId9"/>
    <p:sldId id="274" r:id="rId10"/>
    <p:sldId id="275" r:id="rId11"/>
    <p:sldId id="276" r:id="rId12"/>
    <p:sldId id="292" r:id="rId13"/>
    <p:sldId id="277" r:id="rId14"/>
    <p:sldId id="278" r:id="rId15"/>
    <p:sldId id="27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1752599"/>
          </a:xfrm>
        </p:spPr>
        <p:txBody>
          <a:bodyPr>
            <a:normAutofit/>
          </a:bodyPr>
          <a:lstStyle/>
          <a:p>
            <a:r>
              <a:rPr lang="en-US" sz="8000" dirty="0" smtClean="0">
                <a:solidFill>
                  <a:srgbClr val="FF0000"/>
                </a:solidFill>
              </a:rPr>
              <a:t>C Programming</a:t>
            </a:r>
            <a:endParaRPr lang="en-IN" sz="80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Presented By:</a:t>
            </a:r>
          </a:p>
          <a:p>
            <a:pPr algn="l"/>
            <a:r>
              <a:rPr lang="en-US" dirty="0" err="1" smtClean="0">
                <a:solidFill>
                  <a:srgbClr val="FF0000"/>
                </a:solidFill>
              </a:rPr>
              <a:t>Asst.Prof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en-US" dirty="0" err="1" smtClean="0">
                <a:solidFill>
                  <a:srgbClr val="FF0000"/>
                </a:solidFill>
              </a:rPr>
              <a:t>Jyotsnarani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Tripathy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14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spc="-1100" dirty="0">
                <a:latin typeface="Times New Roman"/>
                <a:cs typeface="Times New Roman"/>
              </a:rPr>
              <a:t> </a:t>
            </a:r>
            <a:r>
              <a:rPr spc="-465" dirty="0"/>
              <a:t>Basic </a:t>
            </a:r>
            <a:r>
              <a:rPr spc="-310" dirty="0"/>
              <a:t>Structure </a:t>
            </a:r>
            <a:r>
              <a:rPr spc="-280" dirty="0"/>
              <a:t>Of </a:t>
            </a:r>
            <a:r>
              <a:rPr spc="-455" dirty="0"/>
              <a:t>“C”</a:t>
            </a:r>
            <a:r>
              <a:rPr spc="105" dirty="0"/>
              <a:t> </a:t>
            </a:r>
            <a:r>
              <a:rPr spc="-360" dirty="0"/>
              <a:t>Programs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374394" y="1638195"/>
            <a:ext cx="6753987" cy="4378376"/>
            <a:chOff x="1374394" y="1638195"/>
            <a:chExt cx="6753987" cy="4378376"/>
          </a:xfrm>
        </p:grpSpPr>
        <p:sp>
          <p:nvSpPr>
            <p:cNvPr id="12" name="object 3"/>
            <p:cNvSpPr txBox="1"/>
            <p:nvPr/>
          </p:nvSpPr>
          <p:spPr>
            <a:xfrm>
              <a:off x="1374394" y="1638195"/>
              <a:ext cx="3524250" cy="126873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000"/>
                </a:lnSpc>
                <a:spcBef>
                  <a:spcPts val="95"/>
                </a:spcBef>
              </a:pPr>
              <a:r>
                <a:rPr sz="3400" spc="-5" dirty="0">
                  <a:latin typeface="Arial"/>
                  <a:cs typeface="Arial"/>
                </a:rPr>
                <a:t>#include&lt;stdio.h&gt;  #inclu</a:t>
              </a:r>
              <a:r>
                <a:rPr sz="3400" spc="-20" dirty="0">
                  <a:latin typeface="Arial"/>
                  <a:cs typeface="Arial"/>
                </a:rPr>
                <a:t>d</a:t>
              </a:r>
              <a:r>
                <a:rPr sz="3400" spc="-5" dirty="0">
                  <a:latin typeface="Arial"/>
                  <a:cs typeface="Arial"/>
                </a:rPr>
                <a:t>e</a:t>
              </a:r>
              <a:r>
                <a:rPr sz="3400" spc="-15" dirty="0">
                  <a:latin typeface="Arial"/>
                  <a:cs typeface="Arial"/>
                </a:rPr>
                <a:t>&lt;</a:t>
              </a:r>
              <a:r>
                <a:rPr sz="3400" spc="-5" dirty="0">
                  <a:latin typeface="Arial"/>
                  <a:cs typeface="Arial"/>
                </a:rPr>
                <a:t>conio.</a:t>
              </a:r>
              <a:r>
                <a:rPr sz="3400" spc="-20" dirty="0">
                  <a:latin typeface="Arial"/>
                  <a:cs typeface="Arial"/>
                </a:rPr>
                <a:t>h</a:t>
              </a:r>
              <a:r>
                <a:rPr sz="3400" spc="-5" dirty="0">
                  <a:latin typeface="Arial"/>
                  <a:cs typeface="Arial"/>
                </a:rPr>
                <a:t>&gt;</a:t>
              </a:r>
              <a:endParaRPr sz="3400" dirty="0">
                <a:latin typeface="Arial"/>
                <a:cs typeface="Arial"/>
              </a:endParaRPr>
            </a:p>
          </p:txBody>
        </p:sp>
        <p:sp>
          <p:nvSpPr>
            <p:cNvPr id="13" name="object 4"/>
            <p:cNvSpPr txBox="1"/>
            <p:nvPr/>
          </p:nvSpPr>
          <p:spPr>
            <a:xfrm>
              <a:off x="1374394" y="3502748"/>
              <a:ext cx="2158365" cy="1270635"/>
            </a:xfrm>
            <a:prstGeom prst="rect">
              <a:avLst/>
            </a:prstGeom>
          </p:spPr>
          <p:txBody>
            <a:bodyPr vert="horz" wrap="square" lIns="0" tIns="11683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19"/>
                </a:spcBef>
              </a:pPr>
              <a:r>
                <a:rPr sz="3400" spc="-5" dirty="0">
                  <a:latin typeface="Arial"/>
                  <a:cs typeface="Arial"/>
                </a:rPr>
                <a:t>void</a:t>
              </a:r>
              <a:r>
                <a:rPr sz="3400" spc="-75" dirty="0">
                  <a:latin typeface="Arial"/>
                  <a:cs typeface="Arial"/>
                </a:rPr>
                <a:t> </a:t>
              </a:r>
              <a:r>
                <a:rPr sz="3400" spc="-5" dirty="0">
                  <a:latin typeface="Arial"/>
                  <a:cs typeface="Arial"/>
                </a:rPr>
                <a:t>main()</a:t>
              </a:r>
              <a:endParaRPr sz="3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819"/>
                </a:spcBef>
              </a:pPr>
              <a:r>
                <a:rPr sz="3400" spc="-5" dirty="0">
                  <a:latin typeface="Arial"/>
                  <a:cs typeface="Arial"/>
                </a:rPr>
                <a:t>{</a:t>
              </a:r>
              <a:endParaRPr sz="3400" dirty="0">
                <a:latin typeface="Arial"/>
                <a:cs typeface="Arial"/>
              </a:endParaRPr>
            </a:p>
          </p:txBody>
        </p:sp>
        <p:sp>
          <p:nvSpPr>
            <p:cNvPr id="14" name="object 5"/>
            <p:cNvSpPr txBox="1"/>
            <p:nvPr/>
          </p:nvSpPr>
          <p:spPr>
            <a:xfrm>
              <a:off x="1374394" y="4747841"/>
              <a:ext cx="3992245" cy="1268730"/>
            </a:xfrm>
            <a:prstGeom prst="rect">
              <a:avLst/>
            </a:prstGeom>
          </p:spPr>
          <p:txBody>
            <a:bodyPr vert="horz" wrap="square" lIns="0" tIns="115570" rIns="0" bIns="0" rtlCol="0">
              <a:spAutoFit/>
            </a:bodyPr>
            <a:lstStyle/>
            <a:p>
              <a:pPr marL="355600">
                <a:lnSpc>
                  <a:spcPct val="100000"/>
                </a:lnSpc>
                <a:spcBef>
                  <a:spcPts val="910"/>
                </a:spcBef>
              </a:pPr>
              <a:r>
                <a:rPr sz="3400" spc="-5" dirty="0">
                  <a:latin typeface="Arial"/>
                  <a:cs typeface="Arial"/>
                </a:rPr>
                <a:t>-- other</a:t>
              </a:r>
              <a:r>
                <a:rPr sz="3400" spc="-15" dirty="0">
                  <a:latin typeface="Arial"/>
                  <a:cs typeface="Arial"/>
                </a:rPr>
                <a:t> </a:t>
              </a:r>
              <a:r>
                <a:rPr sz="3400" spc="-5" dirty="0">
                  <a:latin typeface="Arial"/>
                  <a:cs typeface="Arial"/>
                </a:rPr>
                <a:t>statements</a:t>
              </a:r>
              <a:endParaRPr sz="3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820"/>
                </a:spcBef>
              </a:pPr>
              <a:r>
                <a:rPr sz="3400" spc="-5" dirty="0">
                  <a:latin typeface="Arial"/>
                  <a:cs typeface="Arial"/>
                </a:rPr>
                <a:t>}</a:t>
              </a:r>
              <a:endParaRPr sz="3400" dirty="0">
                <a:latin typeface="Arial"/>
                <a:cs typeface="Arial"/>
              </a:endParaRPr>
            </a:p>
          </p:txBody>
        </p:sp>
        <p:sp>
          <p:nvSpPr>
            <p:cNvPr id="15" name="object 8"/>
            <p:cNvSpPr txBox="1"/>
            <p:nvPr/>
          </p:nvSpPr>
          <p:spPr>
            <a:xfrm>
              <a:off x="6424676" y="2092579"/>
              <a:ext cx="1703705" cy="42227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600" b="1" i="1" u="heavy" spc="-16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Header</a:t>
              </a:r>
              <a:r>
                <a:rPr sz="2600" b="1" i="1" u="heavy" spc="-245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 </a:t>
              </a:r>
              <a:r>
                <a:rPr sz="2600" b="1" i="1" u="heavy" spc="-229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Files</a:t>
              </a:r>
              <a:endParaRPr sz="2600" dirty="0">
                <a:latin typeface="Arial"/>
                <a:cs typeface="Arial"/>
              </a:endParaRPr>
            </a:p>
          </p:txBody>
        </p:sp>
        <p:sp>
          <p:nvSpPr>
            <p:cNvPr id="16" name="object 10"/>
            <p:cNvSpPr txBox="1"/>
            <p:nvPr/>
          </p:nvSpPr>
          <p:spPr>
            <a:xfrm>
              <a:off x="5144515" y="4055745"/>
              <a:ext cx="2054225" cy="6959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72110" marR="5080" indent="-360045">
                <a:lnSpc>
                  <a:spcPct val="100000"/>
                </a:lnSpc>
                <a:spcBef>
                  <a:spcPts val="95"/>
                </a:spcBef>
              </a:pPr>
              <a:r>
                <a:rPr sz="2200" b="1" i="1" u="heavy" spc="-155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Indicates </a:t>
              </a:r>
              <a:r>
                <a:rPr sz="2200" b="1" i="1" u="heavy" spc="-13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Starting </a:t>
              </a:r>
              <a:r>
                <a:rPr sz="2200" b="1" i="1" spc="-130" dirty="0">
                  <a:solidFill>
                    <a:srgbClr val="974707"/>
                  </a:solidFill>
                  <a:latin typeface="Arial"/>
                  <a:cs typeface="Arial"/>
                </a:rPr>
                <a:t> </a:t>
              </a:r>
              <a:r>
                <a:rPr sz="2200" b="1" i="1" u="heavy" spc="-114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of</a:t>
              </a:r>
              <a:r>
                <a:rPr sz="2200" b="1" i="1" u="heavy" spc="-13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 </a:t>
              </a:r>
              <a:r>
                <a:rPr sz="2200" b="1" i="1" u="heavy" spc="-16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Program</a:t>
              </a:r>
              <a:endParaRPr sz="2200" dirty="0">
                <a:latin typeface="Arial"/>
                <a:cs typeface="Arial"/>
              </a:endParaRPr>
            </a:p>
          </p:txBody>
        </p:sp>
        <p:sp>
          <p:nvSpPr>
            <p:cNvPr id="17" name="object 11"/>
            <p:cNvSpPr/>
            <p:nvPr/>
          </p:nvSpPr>
          <p:spPr>
            <a:xfrm>
              <a:off x="3530600" y="2972561"/>
              <a:ext cx="4166870" cy="838200"/>
            </a:xfrm>
            <a:custGeom>
              <a:avLst/>
              <a:gdLst/>
              <a:ahLst/>
              <a:cxnLst/>
              <a:rect l="l" t="t" r="r" b="b"/>
              <a:pathLst>
                <a:path w="4166870" h="838200">
                  <a:moveTo>
                    <a:pt x="1651762" y="838200"/>
                  </a:moveTo>
                  <a:lnTo>
                    <a:pt x="4166361" y="838200"/>
                  </a:lnTo>
                  <a:lnTo>
                    <a:pt x="4166361" y="0"/>
                  </a:lnTo>
                  <a:lnTo>
                    <a:pt x="1651762" y="0"/>
                  </a:lnTo>
                  <a:lnTo>
                    <a:pt x="1651762" y="838200"/>
                  </a:lnTo>
                  <a:close/>
                </a:path>
                <a:path w="4166870" h="838200">
                  <a:moveTo>
                    <a:pt x="1442212" y="157099"/>
                  </a:moveTo>
                  <a:lnTo>
                    <a:pt x="1007617" y="171196"/>
                  </a:lnTo>
                  <a:lnTo>
                    <a:pt x="0" y="68973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2"/>
            <p:cNvSpPr txBox="1"/>
            <p:nvPr/>
          </p:nvSpPr>
          <p:spPr>
            <a:xfrm>
              <a:off x="5473700" y="2961258"/>
              <a:ext cx="1931670" cy="8191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65760" marR="5080" indent="-353695">
                <a:lnSpc>
                  <a:spcPct val="100000"/>
                </a:lnSpc>
                <a:spcBef>
                  <a:spcPts val="105"/>
                </a:spcBef>
              </a:pPr>
              <a:r>
                <a:rPr sz="2600" b="1" i="1" u="heavy" spc="-20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Entry </a:t>
              </a:r>
              <a:r>
                <a:rPr sz="2600" b="1" i="1" u="heavy" spc="-18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Point </a:t>
              </a:r>
              <a:r>
                <a:rPr sz="2600" b="1" i="1" u="heavy" spc="-17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Of </a:t>
              </a:r>
              <a:r>
                <a:rPr sz="2600" b="1" i="1" spc="-170" dirty="0">
                  <a:solidFill>
                    <a:srgbClr val="974707"/>
                  </a:solidFill>
                  <a:latin typeface="Arial"/>
                  <a:cs typeface="Arial"/>
                </a:rPr>
                <a:t> </a:t>
              </a:r>
              <a:r>
                <a:rPr sz="2600" b="1" i="1" u="heavy" spc="-185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Program</a:t>
              </a:r>
              <a:endParaRPr sz="2600" dirty="0">
                <a:latin typeface="Arial"/>
                <a:cs typeface="Arial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374394" y="1638195"/>
            <a:ext cx="7160767" cy="4378376"/>
            <a:chOff x="1374394" y="1638195"/>
            <a:chExt cx="7160767" cy="4378376"/>
          </a:xfrm>
        </p:grpSpPr>
        <p:sp>
          <p:nvSpPr>
            <p:cNvPr id="20" name="object 7"/>
            <p:cNvSpPr/>
            <p:nvPr/>
          </p:nvSpPr>
          <p:spPr>
            <a:xfrm>
              <a:off x="4847082" y="1905761"/>
              <a:ext cx="3688079" cy="838200"/>
            </a:xfrm>
            <a:custGeom>
              <a:avLst/>
              <a:gdLst/>
              <a:ahLst/>
              <a:cxnLst/>
              <a:rect l="l" t="t" r="r" b="b"/>
              <a:pathLst>
                <a:path w="3688079" h="838200">
                  <a:moveTo>
                    <a:pt x="1173479" y="838200"/>
                  </a:moveTo>
                  <a:lnTo>
                    <a:pt x="3688079" y="838200"/>
                  </a:lnTo>
                  <a:lnTo>
                    <a:pt x="3688079" y="0"/>
                  </a:lnTo>
                  <a:lnTo>
                    <a:pt x="1173479" y="0"/>
                  </a:lnTo>
                  <a:lnTo>
                    <a:pt x="1173479" y="838200"/>
                  </a:lnTo>
                  <a:close/>
                </a:path>
                <a:path w="3688079" h="838200">
                  <a:moveTo>
                    <a:pt x="963929" y="157099"/>
                  </a:moveTo>
                  <a:lnTo>
                    <a:pt x="754379" y="157099"/>
                  </a:lnTo>
                  <a:lnTo>
                    <a:pt x="0" y="56311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3"/>
            <p:cNvSpPr txBox="1"/>
            <p:nvPr/>
          </p:nvSpPr>
          <p:spPr>
            <a:xfrm>
              <a:off x="1374394" y="1638195"/>
              <a:ext cx="3524250" cy="126873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000"/>
                </a:lnSpc>
                <a:spcBef>
                  <a:spcPts val="95"/>
                </a:spcBef>
              </a:pPr>
              <a:r>
                <a:rPr sz="3400" spc="-5" dirty="0">
                  <a:latin typeface="Arial"/>
                  <a:cs typeface="Arial"/>
                </a:rPr>
                <a:t>#include&lt;stdio.h&gt;  #inclu</a:t>
              </a:r>
              <a:r>
                <a:rPr sz="3400" spc="-20" dirty="0">
                  <a:latin typeface="Arial"/>
                  <a:cs typeface="Arial"/>
                </a:rPr>
                <a:t>d</a:t>
              </a:r>
              <a:r>
                <a:rPr sz="3400" spc="-5" dirty="0">
                  <a:latin typeface="Arial"/>
                  <a:cs typeface="Arial"/>
                </a:rPr>
                <a:t>e</a:t>
              </a:r>
              <a:r>
                <a:rPr sz="3400" spc="-15" dirty="0">
                  <a:latin typeface="Arial"/>
                  <a:cs typeface="Arial"/>
                </a:rPr>
                <a:t>&lt;</a:t>
              </a:r>
              <a:r>
                <a:rPr sz="3400" spc="-5" dirty="0">
                  <a:latin typeface="Arial"/>
                  <a:cs typeface="Arial"/>
                </a:rPr>
                <a:t>conio.</a:t>
              </a:r>
              <a:r>
                <a:rPr sz="3400" spc="-20" dirty="0">
                  <a:latin typeface="Arial"/>
                  <a:cs typeface="Arial"/>
                </a:rPr>
                <a:t>h</a:t>
              </a:r>
              <a:r>
                <a:rPr sz="3400" spc="-5" dirty="0">
                  <a:latin typeface="Arial"/>
                  <a:cs typeface="Arial"/>
                </a:rPr>
                <a:t>&gt;</a:t>
              </a:r>
              <a:endParaRPr sz="3400" dirty="0">
                <a:latin typeface="Arial"/>
                <a:cs typeface="Arial"/>
              </a:endParaRPr>
            </a:p>
          </p:txBody>
        </p:sp>
        <p:sp>
          <p:nvSpPr>
            <p:cNvPr id="22" name="object 4"/>
            <p:cNvSpPr txBox="1"/>
            <p:nvPr/>
          </p:nvSpPr>
          <p:spPr>
            <a:xfrm>
              <a:off x="1374394" y="3502748"/>
              <a:ext cx="2158365" cy="1270635"/>
            </a:xfrm>
            <a:prstGeom prst="rect">
              <a:avLst/>
            </a:prstGeom>
          </p:spPr>
          <p:txBody>
            <a:bodyPr vert="horz" wrap="square" lIns="0" tIns="11683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19"/>
                </a:spcBef>
              </a:pPr>
              <a:r>
                <a:rPr sz="3400" spc="-5" dirty="0">
                  <a:latin typeface="Arial"/>
                  <a:cs typeface="Arial"/>
                </a:rPr>
                <a:t>void</a:t>
              </a:r>
              <a:r>
                <a:rPr sz="3400" spc="-75" dirty="0">
                  <a:latin typeface="Arial"/>
                  <a:cs typeface="Arial"/>
                </a:rPr>
                <a:t> </a:t>
              </a:r>
              <a:r>
                <a:rPr sz="3400" spc="-5" dirty="0">
                  <a:latin typeface="Arial"/>
                  <a:cs typeface="Arial"/>
                </a:rPr>
                <a:t>main()</a:t>
              </a:r>
              <a:endParaRPr sz="3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819"/>
                </a:spcBef>
              </a:pPr>
              <a:r>
                <a:rPr sz="3400" spc="-5" dirty="0">
                  <a:latin typeface="Arial"/>
                  <a:cs typeface="Arial"/>
                </a:rPr>
                <a:t>{</a:t>
              </a:r>
              <a:endParaRPr sz="3400" dirty="0">
                <a:latin typeface="Arial"/>
                <a:cs typeface="Arial"/>
              </a:endParaRPr>
            </a:p>
          </p:txBody>
        </p:sp>
        <p:sp>
          <p:nvSpPr>
            <p:cNvPr id="23" name="object 5"/>
            <p:cNvSpPr txBox="1"/>
            <p:nvPr/>
          </p:nvSpPr>
          <p:spPr>
            <a:xfrm>
              <a:off x="1374394" y="4747841"/>
              <a:ext cx="3992245" cy="1268730"/>
            </a:xfrm>
            <a:prstGeom prst="rect">
              <a:avLst/>
            </a:prstGeom>
          </p:spPr>
          <p:txBody>
            <a:bodyPr vert="horz" wrap="square" lIns="0" tIns="115570" rIns="0" bIns="0" rtlCol="0">
              <a:spAutoFit/>
            </a:bodyPr>
            <a:lstStyle/>
            <a:p>
              <a:pPr marL="355600">
                <a:lnSpc>
                  <a:spcPct val="100000"/>
                </a:lnSpc>
                <a:spcBef>
                  <a:spcPts val="910"/>
                </a:spcBef>
              </a:pPr>
              <a:r>
                <a:rPr sz="3400" spc="-5" dirty="0">
                  <a:latin typeface="Arial"/>
                  <a:cs typeface="Arial"/>
                </a:rPr>
                <a:t>-- other</a:t>
              </a:r>
              <a:r>
                <a:rPr sz="3400" spc="-15" dirty="0">
                  <a:latin typeface="Arial"/>
                  <a:cs typeface="Arial"/>
                </a:rPr>
                <a:t> </a:t>
              </a:r>
              <a:r>
                <a:rPr sz="3400" spc="-5" dirty="0">
                  <a:latin typeface="Arial"/>
                  <a:cs typeface="Arial"/>
                </a:rPr>
                <a:t>statements</a:t>
              </a:r>
              <a:endParaRPr sz="34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820"/>
                </a:spcBef>
              </a:pPr>
              <a:r>
                <a:rPr sz="3400" spc="-5" dirty="0">
                  <a:latin typeface="Arial"/>
                  <a:cs typeface="Arial"/>
                </a:rPr>
                <a:t>}</a:t>
              </a:r>
              <a:endParaRPr sz="3400">
                <a:latin typeface="Arial"/>
                <a:cs typeface="Arial"/>
              </a:endParaRPr>
            </a:p>
          </p:txBody>
        </p:sp>
        <p:sp>
          <p:nvSpPr>
            <p:cNvPr id="24" name="object 8"/>
            <p:cNvSpPr txBox="1"/>
            <p:nvPr/>
          </p:nvSpPr>
          <p:spPr>
            <a:xfrm>
              <a:off x="6424676" y="2092579"/>
              <a:ext cx="1703705" cy="42227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600" b="1" i="1" u="heavy" spc="-16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Header</a:t>
              </a:r>
              <a:r>
                <a:rPr sz="2600" b="1" i="1" u="heavy" spc="-245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 </a:t>
              </a:r>
              <a:r>
                <a:rPr sz="2600" b="1" i="1" u="heavy" spc="-229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Files</a:t>
              </a:r>
              <a:endParaRPr sz="2600" dirty="0">
                <a:latin typeface="Arial"/>
                <a:cs typeface="Arial"/>
              </a:endParaRPr>
            </a:p>
          </p:txBody>
        </p:sp>
        <p:sp>
          <p:nvSpPr>
            <p:cNvPr id="25" name="object 10"/>
            <p:cNvSpPr txBox="1"/>
            <p:nvPr/>
          </p:nvSpPr>
          <p:spPr>
            <a:xfrm>
              <a:off x="5144515" y="4055745"/>
              <a:ext cx="2054225" cy="6959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72110" marR="5080" indent="-360045">
                <a:lnSpc>
                  <a:spcPct val="100000"/>
                </a:lnSpc>
                <a:spcBef>
                  <a:spcPts val="95"/>
                </a:spcBef>
              </a:pPr>
              <a:r>
                <a:rPr sz="2200" b="1" i="1" u="heavy" spc="-155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Indicates </a:t>
              </a:r>
              <a:r>
                <a:rPr sz="2200" b="1" i="1" u="heavy" spc="-13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Starting </a:t>
              </a:r>
              <a:r>
                <a:rPr sz="2200" b="1" i="1" spc="-130" dirty="0">
                  <a:solidFill>
                    <a:srgbClr val="974707"/>
                  </a:solidFill>
                  <a:latin typeface="Arial"/>
                  <a:cs typeface="Arial"/>
                </a:rPr>
                <a:t> </a:t>
              </a:r>
              <a:r>
                <a:rPr sz="2200" b="1" i="1" u="heavy" spc="-114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of</a:t>
              </a:r>
              <a:r>
                <a:rPr sz="2200" b="1" i="1" u="heavy" spc="-13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 </a:t>
              </a:r>
              <a:r>
                <a:rPr sz="2200" b="1" i="1" u="heavy" spc="-16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Program</a:t>
              </a:r>
              <a:endParaRPr sz="2200" dirty="0">
                <a:latin typeface="Arial"/>
                <a:cs typeface="Arial"/>
              </a:endParaRPr>
            </a:p>
          </p:txBody>
        </p:sp>
        <p:sp>
          <p:nvSpPr>
            <p:cNvPr id="26" name="object 11"/>
            <p:cNvSpPr/>
            <p:nvPr/>
          </p:nvSpPr>
          <p:spPr>
            <a:xfrm>
              <a:off x="3530600" y="2972561"/>
              <a:ext cx="4166870" cy="838200"/>
            </a:xfrm>
            <a:custGeom>
              <a:avLst/>
              <a:gdLst/>
              <a:ahLst/>
              <a:cxnLst/>
              <a:rect l="l" t="t" r="r" b="b"/>
              <a:pathLst>
                <a:path w="4166870" h="838200">
                  <a:moveTo>
                    <a:pt x="1651762" y="838200"/>
                  </a:moveTo>
                  <a:lnTo>
                    <a:pt x="4166361" y="838200"/>
                  </a:lnTo>
                  <a:lnTo>
                    <a:pt x="4166361" y="0"/>
                  </a:lnTo>
                  <a:lnTo>
                    <a:pt x="1651762" y="0"/>
                  </a:lnTo>
                  <a:lnTo>
                    <a:pt x="1651762" y="838200"/>
                  </a:lnTo>
                  <a:close/>
                </a:path>
                <a:path w="4166870" h="838200">
                  <a:moveTo>
                    <a:pt x="1442212" y="157099"/>
                  </a:moveTo>
                  <a:lnTo>
                    <a:pt x="1007617" y="171196"/>
                  </a:lnTo>
                  <a:lnTo>
                    <a:pt x="0" y="68973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2"/>
            <p:cNvSpPr txBox="1"/>
            <p:nvPr/>
          </p:nvSpPr>
          <p:spPr>
            <a:xfrm>
              <a:off x="5473700" y="2961258"/>
              <a:ext cx="1931670" cy="8191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65760" marR="5080" indent="-353695">
                <a:lnSpc>
                  <a:spcPct val="100000"/>
                </a:lnSpc>
                <a:spcBef>
                  <a:spcPts val="105"/>
                </a:spcBef>
              </a:pPr>
              <a:r>
                <a:rPr sz="2600" b="1" i="1" u="heavy" spc="-20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Entry </a:t>
              </a:r>
              <a:r>
                <a:rPr sz="2600" b="1" i="1" u="heavy" spc="-18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Point </a:t>
              </a:r>
              <a:r>
                <a:rPr sz="2600" b="1" i="1" u="heavy" spc="-170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Of </a:t>
              </a:r>
              <a:r>
                <a:rPr sz="2600" b="1" i="1" spc="-170" dirty="0">
                  <a:solidFill>
                    <a:srgbClr val="974707"/>
                  </a:solidFill>
                  <a:latin typeface="Arial"/>
                  <a:cs typeface="Arial"/>
                </a:rPr>
                <a:t> </a:t>
              </a:r>
              <a:r>
                <a:rPr sz="2600" b="1" i="1" u="heavy" spc="-185" dirty="0">
                  <a:solidFill>
                    <a:srgbClr val="974707"/>
                  </a:solidFill>
                  <a:uFill>
                    <a:solidFill>
                      <a:srgbClr val="974707"/>
                    </a:solidFill>
                  </a:uFill>
                  <a:latin typeface="Arial"/>
                  <a:cs typeface="Arial"/>
                </a:rPr>
                <a:t>Program</a:t>
              </a:r>
              <a:endParaRPr sz="26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238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Header</a:t>
            </a:r>
            <a:r>
              <a:rPr spc="-315" dirty="0"/>
              <a:t> </a:t>
            </a:r>
            <a:r>
              <a:rPr spc="-275" dirty="0"/>
              <a:t>files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114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573405" algn="l"/>
                <a:tab pos="574040" algn="l"/>
              </a:tabLst>
            </a:pPr>
            <a:r>
              <a:rPr sz="3200" dirty="0">
                <a:latin typeface="Arial"/>
                <a:cs typeface="Arial"/>
              </a:rPr>
              <a:t>The files </a:t>
            </a:r>
            <a:r>
              <a:rPr sz="3200" spc="-5" dirty="0">
                <a:latin typeface="Arial"/>
                <a:cs typeface="Arial"/>
              </a:rPr>
              <a:t>that are </a:t>
            </a:r>
            <a:r>
              <a:rPr sz="3200" dirty="0">
                <a:latin typeface="Arial"/>
                <a:cs typeface="Arial"/>
              </a:rPr>
              <a:t>specified in the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include  </a:t>
            </a:r>
            <a:r>
              <a:rPr sz="3200" dirty="0">
                <a:latin typeface="Arial"/>
                <a:cs typeface="Arial"/>
              </a:rPr>
              <a:t>section is </a:t>
            </a:r>
            <a:r>
              <a:rPr sz="3200" spc="-5" dirty="0">
                <a:latin typeface="Arial"/>
                <a:cs typeface="Arial"/>
              </a:rPr>
              <a:t>called </a:t>
            </a:r>
            <a:r>
              <a:rPr sz="3200" spc="-10" dirty="0">
                <a:latin typeface="Arial"/>
                <a:cs typeface="Arial"/>
              </a:rPr>
              <a:t>as </a:t>
            </a:r>
            <a:r>
              <a:rPr sz="3200" dirty="0">
                <a:latin typeface="Arial"/>
                <a:cs typeface="Arial"/>
              </a:rPr>
              <a:t>Header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File.</a:t>
            </a:r>
            <a:endParaRPr sz="32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573405" algn="l"/>
                <a:tab pos="574040" algn="l"/>
              </a:tabLst>
            </a:pPr>
            <a:r>
              <a:rPr sz="3200" spc="-5" dirty="0">
                <a:latin typeface="Arial"/>
                <a:cs typeface="Arial"/>
              </a:rPr>
              <a:t>These </a:t>
            </a:r>
            <a:r>
              <a:rPr sz="3200" dirty="0">
                <a:latin typeface="Arial"/>
                <a:cs typeface="Arial"/>
              </a:rPr>
              <a:t>are </a:t>
            </a:r>
            <a:r>
              <a:rPr sz="3200" spc="-5" dirty="0">
                <a:latin typeface="Arial"/>
                <a:cs typeface="Arial"/>
              </a:rPr>
              <a:t>precompiled files that has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some  functions </a:t>
            </a:r>
            <a:r>
              <a:rPr sz="3200" spc="-5" dirty="0">
                <a:latin typeface="Arial"/>
                <a:cs typeface="Arial"/>
              </a:rPr>
              <a:t>defined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them.</a:t>
            </a:r>
          </a:p>
          <a:p>
            <a:pPr marL="355600" marR="1583055" indent="-34290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581025" algn="l"/>
                <a:tab pos="581660" algn="l"/>
              </a:tabLst>
            </a:pPr>
            <a:r>
              <a:rPr sz="3200" spc="-30" dirty="0">
                <a:latin typeface="Arial"/>
                <a:cs typeface="Arial"/>
              </a:rPr>
              <a:t>We </a:t>
            </a:r>
            <a:r>
              <a:rPr sz="3200" dirty="0">
                <a:latin typeface="Arial"/>
                <a:cs typeface="Arial"/>
              </a:rPr>
              <a:t>can call </a:t>
            </a:r>
            <a:r>
              <a:rPr sz="3200" spc="-5" dirty="0">
                <a:latin typeface="Arial"/>
                <a:cs typeface="Arial"/>
              </a:rPr>
              <a:t>those functions </a:t>
            </a:r>
            <a:r>
              <a:rPr sz="3200" spc="-10" dirty="0">
                <a:latin typeface="Arial"/>
                <a:cs typeface="Arial"/>
              </a:rPr>
              <a:t>in </a:t>
            </a:r>
            <a:r>
              <a:rPr sz="3200" spc="-5" dirty="0">
                <a:latin typeface="Arial"/>
                <a:cs typeface="Arial"/>
              </a:rPr>
              <a:t>our  </a:t>
            </a:r>
            <a:r>
              <a:rPr sz="3200" dirty="0">
                <a:latin typeface="Arial"/>
                <a:cs typeface="Arial"/>
              </a:rPr>
              <a:t>program by supplying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parameters.</a:t>
            </a:r>
          </a:p>
          <a:p>
            <a:pPr marL="581025" indent="-56896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581025" algn="l"/>
                <a:tab pos="581660" algn="l"/>
              </a:tabLst>
            </a:pPr>
            <a:r>
              <a:rPr sz="3200" spc="-5" dirty="0">
                <a:latin typeface="Arial"/>
                <a:cs typeface="Arial"/>
              </a:rPr>
              <a:t>Header file </a:t>
            </a:r>
            <a:r>
              <a:rPr sz="3200" dirty="0">
                <a:latin typeface="Arial"/>
                <a:cs typeface="Arial"/>
              </a:rPr>
              <a:t>is </a:t>
            </a:r>
            <a:r>
              <a:rPr sz="3200" spc="-5" dirty="0">
                <a:latin typeface="Arial"/>
                <a:cs typeface="Arial"/>
              </a:rPr>
              <a:t>given </a:t>
            </a:r>
            <a:r>
              <a:rPr sz="3200" dirty="0">
                <a:latin typeface="Arial"/>
                <a:cs typeface="Arial"/>
              </a:rPr>
              <a:t>an extension .h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.</a:t>
            </a:r>
          </a:p>
          <a:p>
            <a:pPr marL="581025" indent="-56896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581025" algn="l"/>
                <a:tab pos="581660" algn="l"/>
              </a:tabLst>
            </a:pPr>
            <a:r>
              <a:rPr sz="3200" dirty="0">
                <a:latin typeface="Arial"/>
                <a:cs typeface="Arial"/>
              </a:rPr>
              <a:t>C </a:t>
            </a:r>
            <a:r>
              <a:rPr sz="3200" spc="-5" dirty="0">
                <a:latin typeface="Arial"/>
                <a:cs typeface="Arial"/>
              </a:rPr>
              <a:t>Source </a:t>
            </a:r>
            <a:r>
              <a:rPr sz="3200" dirty="0">
                <a:latin typeface="Arial"/>
                <a:cs typeface="Arial"/>
              </a:rPr>
              <a:t>file is </a:t>
            </a:r>
            <a:r>
              <a:rPr sz="3200" spc="-5" dirty="0">
                <a:latin typeface="Arial"/>
                <a:cs typeface="Arial"/>
              </a:rPr>
              <a:t>given </a:t>
            </a:r>
            <a:r>
              <a:rPr sz="3200" dirty="0">
                <a:latin typeface="Arial"/>
                <a:cs typeface="Arial"/>
              </a:rPr>
              <a:t>an extension .c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47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Main</a:t>
            </a:r>
            <a:r>
              <a:rPr spc="-315" dirty="0"/>
              <a:t> </a:t>
            </a:r>
            <a:r>
              <a:rPr spc="-285" dirty="0"/>
              <a:t>function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573405" indent="-561340">
              <a:lnSpc>
                <a:spcPct val="100000"/>
              </a:lnSpc>
              <a:spcBef>
                <a:spcPts val="484"/>
              </a:spcBef>
              <a:buFont typeface="Wingdings"/>
              <a:buChar char=""/>
              <a:tabLst>
                <a:tab pos="573405" algn="l"/>
                <a:tab pos="574040" algn="l"/>
              </a:tabLst>
            </a:pPr>
            <a:r>
              <a:rPr sz="3200" dirty="0">
                <a:latin typeface="Arial"/>
                <a:cs typeface="Arial"/>
              </a:rPr>
              <a:t>This is the </a:t>
            </a:r>
            <a:r>
              <a:rPr sz="3200" i="1" dirty="0">
                <a:latin typeface="Arial"/>
                <a:cs typeface="Arial"/>
              </a:rPr>
              <a:t>“Entry </a:t>
            </a:r>
            <a:r>
              <a:rPr sz="3200" i="1" spc="-5" dirty="0">
                <a:latin typeface="Arial"/>
                <a:cs typeface="Arial"/>
              </a:rPr>
              <a:t>Point” </a:t>
            </a:r>
            <a:r>
              <a:rPr sz="3200" dirty="0">
                <a:latin typeface="Arial"/>
                <a:cs typeface="Arial"/>
              </a:rPr>
              <a:t>of a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program.</a:t>
            </a:r>
            <a:endParaRPr sz="3200" dirty="0">
              <a:latin typeface="Arial"/>
              <a:cs typeface="Arial"/>
            </a:endParaRPr>
          </a:p>
          <a:p>
            <a:pPr marL="355600" marR="29209" indent="-342900">
              <a:lnSpc>
                <a:spcPts val="3460"/>
              </a:lnSpc>
              <a:spcBef>
                <a:spcPts val="819"/>
              </a:spcBef>
              <a:buFont typeface="Wingdings"/>
              <a:buChar char=""/>
              <a:tabLst>
                <a:tab pos="581025" algn="l"/>
                <a:tab pos="581660" algn="l"/>
              </a:tabLst>
            </a:pPr>
            <a:r>
              <a:rPr sz="3200" spc="-5" dirty="0">
                <a:latin typeface="Arial"/>
                <a:cs typeface="Arial"/>
              </a:rPr>
              <a:t>When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file </a:t>
            </a:r>
            <a:r>
              <a:rPr sz="3200" spc="-10" dirty="0">
                <a:latin typeface="Arial"/>
                <a:cs typeface="Arial"/>
              </a:rPr>
              <a:t>is </a:t>
            </a:r>
            <a:r>
              <a:rPr sz="3200" spc="-5" dirty="0">
                <a:latin typeface="Arial"/>
                <a:cs typeface="Arial"/>
              </a:rPr>
              <a:t>executed, </a:t>
            </a:r>
            <a:r>
              <a:rPr sz="3200" dirty="0">
                <a:latin typeface="Arial"/>
                <a:cs typeface="Arial"/>
              </a:rPr>
              <a:t>the start </a:t>
            </a:r>
            <a:r>
              <a:rPr sz="3200" spc="-5" dirty="0">
                <a:latin typeface="Arial"/>
                <a:cs typeface="Arial"/>
              </a:rPr>
              <a:t>point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  </a:t>
            </a:r>
            <a:r>
              <a:rPr sz="3200" spc="-5" dirty="0">
                <a:latin typeface="Arial"/>
                <a:cs typeface="Arial"/>
              </a:rPr>
              <a:t>the main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function.</a:t>
            </a:r>
            <a:endParaRPr sz="3200" dirty="0">
              <a:latin typeface="Arial"/>
              <a:cs typeface="Arial"/>
            </a:endParaRPr>
          </a:p>
          <a:p>
            <a:pPr marL="355600" marR="97155" indent="-342900">
              <a:lnSpc>
                <a:spcPts val="3460"/>
              </a:lnSpc>
              <a:spcBef>
                <a:spcPts val="760"/>
              </a:spcBef>
              <a:buFont typeface="Wingdings"/>
              <a:buChar char=""/>
              <a:tabLst>
                <a:tab pos="581025" algn="l"/>
                <a:tab pos="581660" algn="l"/>
              </a:tabLst>
            </a:pPr>
            <a:r>
              <a:rPr sz="3200" dirty="0">
                <a:latin typeface="Arial"/>
                <a:cs typeface="Arial"/>
              </a:rPr>
              <a:t>From </a:t>
            </a:r>
            <a:r>
              <a:rPr sz="3200" spc="-5" dirty="0">
                <a:latin typeface="Arial"/>
                <a:cs typeface="Arial"/>
              </a:rPr>
              <a:t>main function </a:t>
            </a:r>
            <a:r>
              <a:rPr sz="3200" dirty="0">
                <a:latin typeface="Arial"/>
                <a:cs typeface="Arial"/>
              </a:rPr>
              <a:t>the </a:t>
            </a:r>
            <a:r>
              <a:rPr sz="3200" spc="-5" dirty="0">
                <a:latin typeface="Arial"/>
                <a:cs typeface="Arial"/>
              </a:rPr>
              <a:t>flow goes </a:t>
            </a:r>
            <a:r>
              <a:rPr sz="3200" dirty="0">
                <a:latin typeface="Arial"/>
                <a:cs typeface="Arial"/>
              </a:rPr>
              <a:t>as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per  </a:t>
            </a:r>
            <a:r>
              <a:rPr sz="3200" dirty="0">
                <a:latin typeface="Arial"/>
                <a:cs typeface="Arial"/>
              </a:rPr>
              <a:t>the programmers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choice.</a:t>
            </a: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Wingdings"/>
              <a:buChar char=""/>
              <a:tabLst>
                <a:tab pos="573405" algn="l"/>
                <a:tab pos="574040" algn="l"/>
              </a:tabLst>
            </a:pPr>
            <a:r>
              <a:rPr sz="3200" dirty="0">
                <a:latin typeface="Arial"/>
                <a:cs typeface="Arial"/>
              </a:rPr>
              <a:t>There may </a:t>
            </a:r>
            <a:r>
              <a:rPr sz="3200" spc="-10" dirty="0">
                <a:latin typeface="Arial"/>
                <a:cs typeface="Arial"/>
              </a:rPr>
              <a:t>or </a:t>
            </a:r>
            <a:r>
              <a:rPr sz="3200" spc="-5" dirty="0">
                <a:latin typeface="Arial"/>
                <a:cs typeface="Arial"/>
              </a:rPr>
              <a:t>may not </a:t>
            </a:r>
            <a:r>
              <a:rPr sz="3200" dirty="0">
                <a:latin typeface="Arial"/>
                <a:cs typeface="Arial"/>
              </a:rPr>
              <a:t>be </a:t>
            </a:r>
            <a:r>
              <a:rPr sz="3200" spc="-5" dirty="0">
                <a:latin typeface="Arial"/>
                <a:cs typeface="Arial"/>
              </a:rPr>
              <a:t>other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functions  written by user in a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program.</a:t>
            </a:r>
          </a:p>
          <a:p>
            <a:pPr marL="355600" marR="547370" indent="-342900">
              <a:lnSpc>
                <a:spcPts val="3460"/>
              </a:lnSpc>
              <a:spcBef>
                <a:spcPts val="760"/>
              </a:spcBef>
              <a:buFont typeface="Wingdings"/>
              <a:buChar char=""/>
              <a:tabLst>
                <a:tab pos="581025" algn="l"/>
                <a:tab pos="581660" algn="l"/>
              </a:tabLst>
            </a:pPr>
            <a:r>
              <a:rPr sz="3200" spc="-5" dirty="0">
                <a:latin typeface="Arial"/>
                <a:cs typeface="Arial"/>
              </a:rPr>
              <a:t>Main function </a:t>
            </a:r>
            <a:r>
              <a:rPr sz="3200" dirty="0">
                <a:latin typeface="Arial"/>
                <a:cs typeface="Arial"/>
              </a:rPr>
              <a:t>is compulsory </a:t>
            </a:r>
            <a:r>
              <a:rPr sz="3200" spc="-5" dirty="0">
                <a:latin typeface="Arial"/>
                <a:cs typeface="Arial"/>
              </a:rPr>
              <a:t>for any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  program.</a:t>
            </a:r>
          </a:p>
        </p:txBody>
      </p:sp>
    </p:spTree>
    <p:extLst>
      <p:ext uri="{BB962C8B-B14F-4D97-AF65-F5344CB8AC3E}">
        <p14:creationId xmlns:p14="http://schemas.microsoft.com/office/powerpoint/2010/main" val="337424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spc="-1100" dirty="0">
                <a:latin typeface="Times New Roman"/>
                <a:cs typeface="Times New Roman"/>
              </a:rPr>
              <a:t> </a:t>
            </a:r>
            <a:r>
              <a:rPr spc="-385" dirty="0"/>
              <a:t>Running </a:t>
            </a:r>
            <a:r>
              <a:rPr spc="-125" dirty="0"/>
              <a:t>a </a:t>
            </a:r>
            <a:r>
              <a:rPr spc="-320" dirty="0"/>
              <a:t>‘C’</a:t>
            </a:r>
            <a:r>
              <a:rPr spc="-204" dirty="0"/>
              <a:t> </a:t>
            </a:r>
            <a:r>
              <a:rPr spc="-310" dirty="0"/>
              <a:t>Program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spc="-35" dirty="0">
                <a:latin typeface="Arial"/>
                <a:cs typeface="Arial"/>
              </a:rPr>
              <a:t>Type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program.</a:t>
            </a: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Save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it.</a:t>
            </a:r>
          </a:p>
          <a:p>
            <a:pPr marL="355600" marR="5080" indent="-342900">
              <a:lnSpc>
                <a:spcPct val="100000"/>
              </a:lnSpc>
              <a:spcBef>
                <a:spcPts val="630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Compile the program – This will generate an .exe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file  </a:t>
            </a:r>
            <a:r>
              <a:rPr sz="2600" dirty="0">
                <a:latin typeface="Arial"/>
                <a:cs typeface="Arial"/>
              </a:rPr>
              <a:t>(executable)</a:t>
            </a:r>
          </a:p>
          <a:p>
            <a:pPr marL="355600" marR="584835" indent="-342900">
              <a:lnSpc>
                <a:spcPct val="100000"/>
              </a:lnSpc>
              <a:spcBef>
                <a:spcPts val="620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Run the program (Actually the exe created out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  compilation will run and not the .c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file)</a:t>
            </a:r>
            <a:endParaRPr sz="2600" dirty="0">
              <a:latin typeface="Arial"/>
              <a:cs typeface="Arial"/>
            </a:endParaRPr>
          </a:p>
          <a:p>
            <a:pPr marL="355600" marR="744220" indent="-342900">
              <a:lnSpc>
                <a:spcPct val="100000"/>
              </a:lnSpc>
              <a:spcBef>
                <a:spcPts val="630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In </a:t>
            </a:r>
            <a:r>
              <a:rPr sz="2600" spc="-5" dirty="0">
                <a:latin typeface="Arial"/>
                <a:cs typeface="Arial"/>
              </a:rPr>
              <a:t>different </a:t>
            </a:r>
            <a:r>
              <a:rPr sz="2600" dirty="0">
                <a:latin typeface="Arial"/>
                <a:cs typeface="Arial"/>
              </a:rPr>
              <a:t>compiler we have </a:t>
            </a:r>
            <a:r>
              <a:rPr sz="2600" spc="-5" dirty="0">
                <a:latin typeface="Arial"/>
                <a:cs typeface="Arial"/>
              </a:rPr>
              <a:t>different </a:t>
            </a:r>
            <a:r>
              <a:rPr sz="2600" dirty="0">
                <a:latin typeface="Arial"/>
                <a:cs typeface="Arial"/>
              </a:rPr>
              <a:t>option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for  compiling and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running.</a:t>
            </a:r>
          </a:p>
        </p:txBody>
      </p:sp>
    </p:spTree>
    <p:extLst>
      <p:ext uri="{BB962C8B-B14F-4D97-AF65-F5344CB8AC3E}">
        <p14:creationId xmlns:p14="http://schemas.microsoft.com/office/powerpoint/2010/main" val="360348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3042" y="140919"/>
            <a:ext cx="31832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5" dirty="0"/>
              <a:t>DECLARATIONS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740" y="911097"/>
            <a:ext cx="8183880" cy="56591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46100" marR="117475" indent="-534035">
              <a:lnSpc>
                <a:spcPct val="70000"/>
              </a:lnSpc>
              <a:spcBef>
                <a:spcPts val="960"/>
              </a:spcBef>
              <a:buFont typeface="Wingdings"/>
              <a:buChar char=""/>
              <a:tabLst>
                <a:tab pos="546100" algn="l"/>
                <a:tab pos="546735" algn="l"/>
              </a:tabLst>
            </a:pPr>
            <a:r>
              <a:rPr sz="2400" spc="130" dirty="0">
                <a:latin typeface="Arial"/>
                <a:cs typeface="Arial"/>
              </a:rPr>
              <a:t>Constants </a:t>
            </a:r>
            <a:r>
              <a:rPr sz="2400" spc="95" dirty="0">
                <a:latin typeface="Arial"/>
                <a:cs typeface="Arial"/>
              </a:rPr>
              <a:t>and </a:t>
            </a:r>
            <a:r>
              <a:rPr sz="2400" spc="130" dirty="0">
                <a:latin typeface="Arial"/>
                <a:cs typeface="Arial"/>
              </a:rPr>
              <a:t>variables </a:t>
            </a:r>
            <a:r>
              <a:rPr sz="2400" spc="110" dirty="0">
                <a:latin typeface="Arial"/>
                <a:cs typeface="Arial"/>
              </a:rPr>
              <a:t>must </a:t>
            </a:r>
            <a:r>
              <a:rPr sz="2400" spc="70" dirty="0">
                <a:latin typeface="Arial"/>
                <a:cs typeface="Arial"/>
              </a:rPr>
              <a:t>be </a:t>
            </a:r>
            <a:r>
              <a:rPr sz="2400" spc="130" dirty="0">
                <a:latin typeface="Arial"/>
                <a:cs typeface="Arial"/>
              </a:rPr>
              <a:t>declared </a:t>
            </a:r>
            <a:r>
              <a:rPr sz="2400" spc="125" dirty="0">
                <a:latin typeface="Arial"/>
                <a:cs typeface="Arial"/>
              </a:rPr>
              <a:t>before  </a:t>
            </a:r>
            <a:r>
              <a:rPr sz="2400" spc="110" dirty="0">
                <a:latin typeface="Arial"/>
                <a:cs typeface="Arial"/>
              </a:rPr>
              <a:t>they </a:t>
            </a:r>
            <a:r>
              <a:rPr sz="2400" spc="95" dirty="0">
                <a:latin typeface="Arial"/>
                <a:cs typeface="Arial"/>
              </a:rPr>
              <a:t>can </a:t>
            </a:r>
            <a:r>
              <a:rPr sz="2400" spc="70" dirty="0">
                <a:latin typeface="Arial"/>
                <a:cs typeface="Arial"/>
              </a:rPr>
              <a:t>be</a:t>
            </a:r>
            <a:r>
              <a:rPr sz="2400" spc="645" dirty="0">
                <a:latin typeface="Arial"/>
                <a:cs typeface="Arial"/>
              </a:rPr>
              <a:t> </a:t>
            </a:r>
            <a:r>
              <a:rPr sz="2400" spc="114" dirty="0">
                <a:latin typeface="Arial"/>
                <a:cs typeface="Arial"/>
              </a:rPr>
              <a:t>used.</a:t>
            </a:r>
            <a:endParaRPr sz="2400">
              <a:latin typeface="Arial"/>
              <a:cs typeface="Arial"/>
            </a:endParaRPr>
          </a:p>
          <a:p>
            <a:pPr marL="546100" marR="737235" indent="-534035">
              <a:lnSpc>
                <a:spcPct val="70000"/>
              </a:lnSpc>
              <a:spcBef>
                <a:spcPts val="580"/>
              </a:spcBef>
              <a:buFont typeface="Wingdings"/>
              <a:buChar char=""/>
              <a:tabLst>
                <a:tab pos="546100" algn="l"/>
                <a:tab pos="546735" algn="l"/>
                <a:tab pos="6116955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130" dirty="0">
                <a:latin typeface="Arial"/>
                <a:cs typeface="Arial"/>
              </a:rPr>
              <a:t>constant </a:t>
            </a:r>
            <a:r>
              <a:rPr sz="2400" spc="135" dirty="0">
                <a:latin typeface="Arial"/>
                <a:cs typeface="Arial"/>
              </a:rPr>
              <a:t>declaration</a:t>
            </a:r>
            <a:r>
              <a:rPr sz="2400" spc="575" dirty="0">
                <a:latin typeface="Arial"/>
                <a:cs typeface="Arial"/>
              </a:rPr>
              <a:t> </a:t>
            </a:r>
            <a:r>
              <a:rPr sz="2400" spc="130" dirty="0">
                <a:latin typeface="Arial"/>
                <a:cs typeface="Arial"/>
              </a:rPr>
              <a:t>specifies</a:t>
            </a:r>
            <a:r>
              <a:rPr sz="2400" spc="270" dirty="0">
                <a:latin typeface="Arial"/>
                <a:cs typeface="Arial"/>
              </a:rPr>
              <a:t> </a:t>
            </a:r>
            <a:r>
              <a:rPr sz="2400" spc="100" dirty="0">
                <a:latin typeface="Arial"/>
                <a:cs typeface="Arial"/>
              </a:rPr>
              <a:t>the	</a:t>
            </a:r>
            <a:r>
              <a:rPr sz="2400" u="heavy" spc="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</a:t>
            </a:r>
            <a:r>
              <a:rPr sz="2400" spc="120" dirty="0">
                <a:latin typeface="Arial"/>
                <a:cs typeface="Arial"/>
              </a:rPr>
              <a:t>, </a:t>
            </a:r>
            <a:r>
              <a:rPr sz="2400" spc="100" dirty="0">
                <a:latin typeface="Arial"/>
                <a:cs typeface="Arial"/>
              </a:rPr>
              <a:t>the </a:t>
            </a:r>
            <a:r>
              <a:rPr sz="240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spc="95" dirty="0">
                <a:latin typeface="Arial"/>
                <a:cs typeface="Arial"/>
              </a:rPr>
              <a:t>and </a:t>
            </a:r>
            <a:r>
              <a:rPr sz="2400" spc="100" dirty="0">
                <a:latin typeface="Arial"/>
                <a:cs typeface="Arial"/>
              </a:rPr>
              <a:t>the </a:t>
            </a:r>
            <a:r>
              <a:rPr sz="2400" u="heavy" spc="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value </a:t>
            </a:r>
            <a:r>
              <a:rPr sz="2400" u="heavy" spc="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</a:t>
            </a:r>
            <a:r>
              <a:rPr sz="240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400" u="heavy" spc="4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constant</a:t>
            </a:r>
            <a:r>
              <a:rPr sz="2400" spc="13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546100" marR="1144905" indent="-534035">
              <a:lnSpc>
                <a:spcPct val="70000"/>
              </a:lnSpc>
              <a:spcBef>
                <a:spcPts val="575"/>
              </a:spcBef>
              <a:buFont typeface="Wingdings"/>
              <a:buChar char=""/>
              <a:tabLst>
                <a:tab pos="546100" algn="l"/>
                <a:tab pos="546735" algn="l"/>
              </a:tabLst>
            </a:pPr>
            <a:r>
              <a:rPr sz="2400" spc="95" dirty="0">
                <a:latin typeface="Arial"/>
                <a:cs typeface="Arial"/>
              </a:rPr>
              <a:t>any </a:t>
            </a:r>
            <a:r>
              <a:rPr sz="2400" spc="125" dirty="0">
                <a:latin typeface="Arial"/>
                <a:cs typeface="Arial"/>
              </a:rPr>
              <a:t>attempt </a:t>
            </a:r>
            <a:r>
              <a:rPr sz="2400" spc="75" dirty="0">
                <a:latin typeface="Arial"/>
                <a:cs typeface="Arial"/>
              </a:rPr>
              <a:t>to </a:t>
            </a:r>
            <a:r>
              <a:rPr sz="2400" spc="114" dirty="0">
                <a:latin typeface="Arial"/>
                <a:cs typeface="Arial"/>
              </a:rPr>
              <a:t>alter </a:t>
            </a:r>
            <a:r>
              <a:rPr sz="2400" spc="100" dirty="0">
                <a:latin typeface="Arial"/>
                <a:cs typeface="Arial"/>
              </a:rPr>
              <a:t>the </a:t>
            </a:r>
            <a:r>
              <a:rPr sz="2400" spc="114" dirty="0">
                <a:latin typeface="Arial"/>
                <a:cs typeface="Arial"/>
              </a:rPr>
              <a:t>value </a:t>
            </a:r>
            <a:r>
              <a:rPr sz="2400" spc="75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spc="130" dirty="0">
                <a:latin typeface="Arial"/>
                <a:cs typeface="Arial"/>
              </a:rPr>
              <a:t>variable  </a:t>
            </a:r>
            <a:r>
              <a:rPr sz="2400" spc="125" dirty="0">
                <a:latin typeface="Arial"/>
                <a:cs typeface="Arial"/>
              </a:rPr>
              <a:t>defined</a:t>
            </a:r>
            <a:endParaRPr sz="2400">
              <a:latin typeface="Arial"/>
              <a:cs typeface="Arial"/>
            </a:endParaRPr>
          </a:p>
          <a:p>
            <a:pPr marL="546100" marR="380365" indent="-534035">
              <a:lnSpc>
                <a:spcPct val="70000"/>
              </a:lnSpc>
              <a:spcBef>
                <a:spcPts val="580"/>
              </a:spcBef>
              <a:buFont typeface="Wingdings"/>
              <a:buChar char=""/>
              <a:tabLst>
                <a:tab pos="1268095" algn="l"/>
                <a:tab pos="1268730" algn="l"/>
                <a:tab pos="5135245" algn="l"/>
              </a:tabLst>
            </a:pPr>
            <a:r>
              <a:rPr dirty="0"/>
              <a:t>	</a:t>
            </a:r>
            <a:r>
              <a:rPr sz="2400" spc="70" dirty="0">
                <a:latin typeface="Arial"/>
                <a:cs typeface="Arial"/>
              </a:rPr>
              <a:t>as </a:t>
            </a:r>
            <a:r>
              <a:rPr sz="2400" spc="130" dirty="0">
                <a:latin typeface="Arial"/>
                <a:cs typeface="Arial"/>
              </a:rPr>
              <a:t>constant  </a:t>
            </a:r>
            <a:r>
              <a:rPr sz="2400" spc="125" dirty="0">
                <a:latin typeface="Arial"/>
                <a:cs typeface="Arial"/>
              </a:rPr>
              <a:t>results</a:t>
            </a:r>
            <a:r>
              <a:rPr sz="2400" spc="270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in</a:t>
            </a:r>
            <a:r>
              <a:rPr sz="2400" spc="310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an	</a:t>
            </a:r>
            <a:r>
              <a:rPr sz="2400" u="heavy" spc="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error </a:t>
            </a:r>
            <a:r>
              <a:rPr sz="2400" u="heavy" spc="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message</a:t>
            </a:r>
            <a:r>
              <a:rPr sz="2400" spc="125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by  </a:t>
            </a:r>
            <a:r>
              <a:rPr sz="2400" spc="100" dirty="0">
                <a:latin typeface="Arial"/>
                <a:cs typeface="Arial"/>
              </a:rPr>
              <a:t>the</a:t>
            </a:r>
            <a:r>
              <a:rPr sz="2400" spc="265" dirty="0">
                <a:latin typeface="Arial"/>
                <a:cs typeface="Arial"/>
              </a:rPr>
              <a:t> </a:t>
            </a:r>
            <a:r>
              <a:rPr sz="2400" spc="130" dirty="0">
                <a:latin typeface="Arial"/>
                <a:cs typeface="Arial"/>
              </a:rPr>
              <a:t>compiler</a:t>
            </a:r>
            <a:endParaRPr sz="2400">
              <a:latin typeface="Arial"/>
              <a:cs typeface="Arial"/>
            </a:endParaRPr>
          </a:p>
          <a:p>
            <a:pPr marL="546100" indent="-534035">
              <a:lnSpc>
                <a:spcPts val="2160"/>
              </a:lnSpc>
              <a:buFont typeface="Wingdings"/>
              <a:buChar char=""/>
              <a:tabLst>
                <a:tab pos="546100" algn="l"/>
                <a:tab pos="546735" algn="l"/>
                <a:tab pos="6033135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125" dirty="0">
                <a:latin typeface="Arial"/>
                <a:cs typeface="Arial"/>
              </a:rPr>
              <a:t>variable </a:t>
            </a:r>
            <a:r>
              <a:rPr sz="2400" spc="130" dirty="0">
                <a:latin typeface="Arial"/>
                <a:cs typeface="Arial"/>
              </a:rPr>
              <a:t>declaration</a:t>
            </a:r>
            <a:r>
              <a:rPr sz="2400" spc="640" dirty="0">
                <a:latin typeface="Arial"/>
                <a:cs typeface="Arial"/>
              </a:rPr>
              <a:t> </a:t>
            </a:r>
            <a:r>
              <a:rPr sz="2400" spc="130" dirty="0">
                <a:latin typeface="Arial"/>
                <a:cs typeface="Arial"/>
              </a:rPr>
              <a:t>specifies</a:t>
            </a:r>
            <a:r>
              <a:rPr sz="2400" spc="285" dirty="0">
                <a:latin typeface="Arial"/>
                <a:cs typeface="Arial"/>
              </a:rPr>
              <a:t> </a:t>
            </a:r>
            <a:r>
              <a:rPr sz="2400" spc="100" dirty="0">
                <a:latin typeface="Arial"/>
                <a:cs typeface="Arial"/>
              </a:rPr>
              <a:t>the	</a:t>
            </a:r>
            <a:r>
              <a:rPr sz="2400" u="heavy" spc="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</a:t>
            </a:r>
            <a:r>
              <a:rPr sz="2400" spc="120" dirty="0">
                <a:latin typeface="Arial"/>
                <a:cs typeface="Arial"/>
              </a:rPr>
              <a:t>,</a:t>
            </a:r>
            <a:r>
              <a:rPr sz="2400" spc="260" dirty="0">
                <a:latin typeface="Arial"/>
                <a:cs typeface="Arial"/>
              </a:rPr>
              <a:t> </a:t>
            </a:r>
            <a:r>
              <a:rPr sz="2400" spc="100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546100">
              <a:lnSpc>
                <a:spcPts val="2014"/>
              </a:lnSpc>
            </a:pPr>
            <a:r>
              <a:rPr sz="2400" u="heavy" spc="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r>
              <a:rPr sz="2400" spc="290" dirty="0">
                <a:latin typeface="Arial"/>
                <a:cs typeface="Arial"/>
              </a:rPr>
              <a:t> </a:t>
            </a:r>
            <a:r>
              <a:rPr sz="2400" spc="95" dirty="0">
                <a:latin typeface="Arial"/>
                <a:cs typeface="Arial"/>
              </a:rPr>
              <a:t>and</a:t>
            </a:r>
            <a:r>
              <a:rPr sz="2400" spc="280" dirty="0">
                <a:latin typeface="Arial"/>
                <a:cs typeface="Arial"/>
              </a:rPr>
              <a:t> </a:t>
            </a:r>
            <a:r>
              <a:rPr sz="2400" spc="125" dirty="0">
                <a:latin typeface="Arial"/>
                <a:cs typeface="Arial"/>
              </a:rPr>
              <a:t>possibly</a:t>
            </a:r>
            <a:r>
              <a:rPr sz="2400" spc="285" dirty="0">
                <a:latin typeface="Arial"/>
                <a:cs typeface="Arial"/>
              </a:rPr>
              <a:t> </a:t>
            </a:r>
            <a:r>
              <a:rPr sz="2400" spc="100" dirty="0">
                <a:latin typeface="Arial"/>
                <a:cs typeface="Arial"/>
              </a:rPr>
              <a:t>the</a:t>
            </a:r>
            <a:r>
              <a:rPr sz="2400" spc="320" dirty="0">
                <a:latin typeface="Arial"/>
                <a:cs typeface="Arial"/>
              </a:rPr>
              <a:t> </a:t>
            </a:r>
            <a:r>
              <a:rPr sz="2400" u="heavy" spc="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initial</a:t>
            </a:r>
            <a:r>
              <a:rPr sz="2400" u="heavy" spc="2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value</a:t>
            </a:r>
            <a:r>
              <a:rPr sz="2400" u="heavy" spc="2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400" u="heavy" spc="2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546100">
              <a:lnSpc>
                <a:spcPts val="2450"/>
              </a:lnSpc>
            </a:pPr>
            <a:r>
              <a:rPr sz="2400" u="heavy" spc="1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variable</a:t>
            </a:r>
            <a:r>
              <a:rPr sz="2400" spc="13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"/>
              <a:cs typeface="Arial"/>
            </a:endParaRPr>
          </a:p>
          <a:p>
            <a:pPr marL="546100" marR="478155" indent="-534035">
              <a:lnSpc>
                <a:spcPct val="70000"/>
              </a:lnSpc>
              <a:buFont typeface="Wingdings"/>
              <a:buChar char=""/>
              <a:tabLst>
                <a:tab pos="546100" algn="l"/>
                <a:tab pos="546735" algn="l"/>
              </a:tabLst>
            </a:pPr>
            <a:r>
              <a:rPr sz="2400" spc="110" dirty="0">
                <a:latin typeface="Arial"/>
                <a:cs typeface="Arial"/>
              </a:rPr>
              <a:t>When </a:t>
            </a:r>
            <a:r>
              <a:rPr sz="2400" spc="95" dirty="0">
                <a:latin typeface="Arial"/>
                <a:cs typeface="Arial"/>
              </a:rPr>
              <a:t>you </a:t>
            </a:r>
            <a:r>
              <a:rPr sz="2400" spc="125" dirty="0">
                <a:latin typeface="Arial"/>
                <a:cs typeface="Arial"/>
              </a:rPr>
              <a:t>declare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spc="130" dirty="0">
                <a:latin typeface="Arial"/>
                <a:cs typeface="Arial"/>
              </a:rPr>
              <a:t>constant </a:t>
            </a:r>
            <a:r>
              <a:rPr sz="2400" spc="70" dirty="0">
                <a:latin typeface="Arial"/>
                <a:cs typeface="Arial"/>
              </a:rPr>
              <a:t>or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spc="130" dirty="0">
                <a:latin typeface="Arial"/>
                <a:cs typeface="Arial"/>
              </a:rPr>
              <a:t>variable, </a:t>
            </a:r>
            <a:r>
              <a:rPr sz="2400" spc="100" dirty="0">
                <a:latin typeface="Arial"/>
                <a:cs typeface="Arial"/>
              </a:rPr>
              <a:t>the  </a:t>
            </a:r>
            <a:r>
              <a:rPr sz="2400" spc="130" dirty="0">
                <a:latin typeface="Arial"/>
                <a:cs typeface="Arial"/>
              </a:rPr>
              <a:t>compiler: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750">
              <a:latin typeface="Arial"/>
              <a:cs typeface="Arial"/>
            </a:endParaRPr>
          </a:p>
          <a:p>
            <a:pPr marL="927100" marR="5080" lvl="1" indent="-457834">
              <a:lnSpc>
                <a:spcPct val="70000"/>
              </a:lnSpc>
              <a:spcBef>
                <a:spcPts val="5"/>
              </a:spcBef>
              <a:buFont typeface="Wingdings"/>
              <a:buChar char=""/>
              <a:tabLst>
                <a:tab pos="927100" algn="l"/>
                <a:tab pos="927735" algn="l"/>
              </a:tabLst>
            </a:pPr>
            <a:r>
              <a:rPr sz="2400" spc="75" dirty="0">
                <a:latin typeface="Arial"/>
                <a:cs typeface="Arial"/>
              </a:rPr>
              <a:t>Reserves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spc="75" dirty="0">
                <a:latin typeface="Arial"/>
                <a:cs typeface="Arial"/>
              </a:rPr>
              <a:t>memory location </a:t>
            </a:r>
            <a:r>
              <a:rPr sz="2400" spc="40" dirty="0">
                <a:latin typeface="Arial"/>
                <a:cs typeface="Arial"/>
              </a:rPr>
              <a:t>in </a:t>
            </a:r>
            <a:r>
              <a:rPr sz="2400" spc="65" dirty="0">
                <a:latin typeface="Arial"/>
                <a:cs typeface="Arial"/>
              </a:rPr>
              <a:t>which </a:t>
            </a:r>
            <a:r>
              <a:rPr sz="2400" spc="45" dirty="0">
                <a:latin typeface="Arial"/>
                <a:cs typeface="Arial"/>
              </a:rPr>
              <a:t>to </a:t>
            </a:r>
            <a:r>
              <a:rPr sz="2400" spc="70" dirty="0">
                <a:latin typeface="Arial"/>
                <a:cs typeface="Arial"/>
              </a:rPr>
              <a:t>store </a:t>
            </a:r>
            <a:r>
              <a:rPr sz="2400" spc="60" dirty="0">
                <a:latin typeface="Arial"/>
                <a:cs typeface="Arial"/>
              </a:rPr>
              <a:t>the  </a:t>
            </a:r>
            <a:r>
              <a:rPr sz="2400" spc="70" dirty="0">
                <a:latin typeface="Arial"/>
                <a:cs typeface="Arial"/>
              </a:rPr>
              <a:t>value </a:t>
            </a:r>
            <a:r>
              <a:rPr sz="2400" spc="45" dirty="0">
                <a:latin typeface="Arial"/>
                <a:cs typeface="Arial"/>
              </a:rPr>
              <a:t>of </a:t>
            </a:r>
            <a:r>
              <a:rPr sz="2400" spc="60" dirty="0">
                <a:latin typeface="Arial"/>
                <a:cs typeface="Arial"/>
              </a:rPr>
              <a:t>the </a:t>
            </a:r>
            <a:r>
              <a:rPr sz="2400" spc="75" dirty="0">
                <a:latin typeface="Arial"/>
                <a:cs typeface="Arial"/>
              </a:rPr>
              <a:t>constant </a:t>
            </a:r>
            <a:r>
              <a:rPr sz="2400" spc="40" dirty="0">
                <a:latin typeface="Arial"/>
                <a:cs typeface="Arial"/>
              </a:rPr>
              <a:t>or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75" dirty="0">
                <a:latin typeface="Arial"/>
                <a:cs typeface="Arial"/>
              </a:rPr>
              <a:t>variable.</a:t>
            </a:r>
            <a:endParaRPr sz="2400">
              <a:latin typeface="Arial"/>
              <a:cs typeface="Arial"/>
            </a:endParaRPr>
          </a:p>
          <a:p>
            <a:pPr marL="927100" marR="262255" lvl="1" indent="-457834">
              <a:lnSpc>
                <a:spcPct val="70000"/>
              </a:lnSpc>
              <a:spcBef>
                <a:spcPts val="575"/>
              </a:spcBef>
              <a:buFont typeface="Wingdings"/>
              <a:buChar char=""/>
              <a:tabLst>
                <a:tab pos="927100" algn="l"/>
                <a:tab pos="927735" algn="l"/>
              </a:tabLst>
            </a:pPr>
            <a:r>
              <a:rPr sz="2400" spc="80" dirty="0">
                <a:latin typeface="Arial"/>
                <a:cs typeface="Arial"/>
              </a:rPr>
              <a:t>Associates </a:t>
            </a:r>
            <a:r>
              <a:rPr sz="2400" spc="60" dirty="0">
                <a:latin typeface="Arial"/>
                <a:cs typeface="Arial"/>
              </a:rPr>
              <a:t>the </a:t>
            </a:r>
            <a:r>
              <a:rPr sz="2400" spc="65" dirty="0">
                <a:latin typeface="Arial"/>
                <a:cs typeface="Arial"/>
              </a:rPr>
              <a:t>name </a:t>
            </a:r>
            <a:r>
              <a:rPr sz="2400" spc="45" dirty="0">
                <a:latin typeface="Arial"/>
                <a:cs typeface="Arial"/>
              </a:rPr>
              <a:t>of </a:t>
            </a:r>
            <a:r>
              <a:rPr sz="2400" spc="60" dirty="0">
                <a:latin typeface="Arial"/>
                <a:cs typeface="Arial"/>
              </a:rPr>
              <a:t>the </a:t>
            </a:r>
            <a:r>
              <a:rPr sz="2400" spc="75" dirty="0">
                <a:latin typeface="Arial"/>
                <a:cs typeface="Arial"/>
              </a:rPr>
              <a:t>constant </a:t>
            </a:r>
            <a:r>
              <a:rPr sz="2400" spc="40" dirty="0">
                <a:latin typeface="Arial"/>
                <a:cs typeface="Arial"/>
              </a:rPr>
              <a:t>or </a:t>
            </a:r>
            <a:r>
              <a:rPr sz="2400" spc="75" dirty="0">
                <a:latin typeface="Arial"/>
                <a:cs typeface="Arial"/>
              </a:rPr>
              <a:t>variable  </a:t>
            </a:r>
            <a:r>
              <a:rPr sz="2400" spc="65" dirty="0">
                <a:latin typeface="Arial"/>
                <a:cs typeface="Arial"/>
              </a:rPr>
              <a:t>with </a:t>
            </a:r>
            <a:r>
              <a:rPr sz="2400" spc="60" dirty="0">
                <a:latin typeface="Arial"/>
                <a:cs typeface="Arial"/>
              </a:rPr>
              <a:t>the </a:t>
            </a:r>
            <a:r>
              <a:rPr sz="2400" spc="75" dirty="0">
                <a:latin typeface="Arial"/>
                <a:cs typeface="Arial"/>
              </a:rPr>
              <a:t>memory</a:t>
            </a:r>
            <a:r>
              <a:rPr sz="2400" spc="475" dirty="0">
                <a:latin typeface="Arial"/>
                <a:cs typeface="Arial"/>
              </a:rPr>
              <a:t> </a:t>
            </a:r>
            <a:r>
              <a:rPr sz="2400" spc="80" dirty="0">
                <a:latin typeface="Arial"/>
                <a:cs typeface="Arial"/>
              </a:rPr>
              <a:t>location.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1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313434"/>
            <a:ext cx="8066405" cy="46901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Arial"/>
                <a:cs typeface="Arial"/>
              </a:rPr>
              <a:t>A </a:t>
            </a:r>
            <a:r>
              <a:rPr sz="27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Variable</a:t>
            </a:r>
            <a:r>
              <a:rPr sz="2700" b="1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is a data name </a:t>
            </a:r>
            <a:r>
              <a:rPr sz="2700" dirty="0">
                <a:latin typeface="Arial"/>
                <a:cs typeface="Arial"/>
              </a:rPr>
              <a:t>that </a:t>
            </a:r>
            <a:r>
              <a:rPr sz="2700" spc="-5" dirty="0">
                <a:latin typeface="Arial"/>
                <a:cs typeface="Arial"/>
              </a:rPr>
              <a:t>is used </a:t>
            </a:r>
            <a:r>
              <a:rPr sz="2700" dirty="0">
                <a:latin typeface="Arial"/>
                <a:cs typeface="Arial"/>
              </a:rPr>
              <a:t>to store</a:t>
            </a:r>
            <a:r>
              <a:rPr sz="2700" spc="-1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any  </a:t>
            </a:r>
            <a:r>
              <a:rPr sz="2700" dirty="0">
                <a:latin typeface="Arial"/>
                <a:cs typeface="Arial"/>
              </a:rPr>
              <a:t>data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value.</a:t>
            </a:r>
            <a:endParaRPr sz="2700">
              <a:latin typeface="Arial"/>
              <a:cs typeface="Arial"/>
            </a:endParaRPr>
          </a:p>
          <a:p>
            <a:pPr marL="355600" marR="647700" indent="-342900">
              <a:lnSpc>
                <a:spcPts val="259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b="1" i="1" u="heavy" spc="-1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Arial"/>
                <a:cs typeface="Arial"/>
              </a:rPr>
              <a:t>Variables</a:t>
            </a:r>
            <a:r>
              <a:rPr sz="2700" b="1" i="1" spc="-1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are </a:t>
            </a:r>
            <a:r>
              <a:rPr sz="2700" dirty="0">
                <a:latin typeface="Arial"/>
                <a:cs typeface="Arial"/>
              </a:rPr>
              <a:t>used to store </a:t>
            </a:r>
            <a:r>
              <a:rPr sz="2700" spc="-5" dirty="0">
                <a:latin typeface="Arial"/>
                <a:cs typeface="Arial"/>
              </a:rPr>
              <a:t>values </a:t>
            </a:r>
            <a:r>
              <a:rPr sz="2700" dirty="0">
                <a:latin typeface="Arial"/>
                <a:cs typeface="Arial"/>
              </a:rPr>
              <a:t>that </a:t>
            </a:r>
            <a:r>
              <a:rPr sz="2700" spc="-5" dirty="0">
                <a:latin typeface="Arial"/>
                <a:cs typeface="Arial"/>
              </a:rPr>
              <a:t>can be  changed during </a:t>
            </a:r>
            <a:r>
              <a:rPr sz="2700" dirty="0">
                <a:latin typeface="Arial"/>
                <a:cs typeface="Arial"/>
              </a:rPr>
              <a:t>the </a:t>
            </a:r>
            <a:r>
              <a:rPr sz="2700" spc="-5" dirty="0">
                <a:latin typeface="Arial"/>
                <a:cs typeface="Arial"/>
              </a:rPr>
              <a:t>program </a:t>
            </a:r>
            <a:r>
              <a:rPr sz="2700" dirty="0">
                <a:latin typeface="Arial"/>
                <a:cs typeface="Arial"/>
              </a:rPr>
              <a:t>execution.</a:t>
            </a:r>
            <a:endParaRPr sz="2700">
              <a:latin typeface="Arial"/>
              <a:cs typeface="Arial"/>
            </a:endParaRPr>
          </a:p>
          <a:p>
            <a:pPr marL="355600" marR="107314" indent="-3429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  <a:tab pos="3607435" algn="l"/>
              </a:tabLst>
            </a:pPr>
            <a:r>
              <a:rPr sz="2700" b="1" spc="-20" dirty="0">
                <a:latin typeface="Arial"/>
                <a:cs typeface="Arial"/>
              </a:rPr>
              <a:t>Variables </a:t>
            </a:r>
            <a:r>
              <a:rPr sz="2700" spc="-5" dirty="0">
                <a:latin typeface="Arial"/>
                <a:cs typeface="Arial"/>
              </a:rPr>
              <a:t>in C </a:t>
            </a:r>
            <a:r>
              <a:rPr sz="2700" dirty="0">
                <a:latin typeface="Arial"/>
                <a:cs typeface="Arial"/>
              </a:rPr>
              <a:t>have the </a:t>
            </a:r>
            <a:r>
              <a:rPr sz="2700" spc="-5" dirty="0">
                <a:latin typeface="Arial"/>
                <a:cs typeface="Arial"/>
              </a:rPr>
              <a:t>same meaning as  </a:t>
            </a:r>
            <a:r>
              <a:rPr sz="2700" dirty="0">
                <a:latin typeface="Arial"/>
                <a:cs typeface="Arial"/>
              </a:rPr>
              <a:t>variables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in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algebra.	That </a:t>
            </a:r>
            <a:r>
              <a:rPr sz="2700" dirty="0">
                <a:latin typeface="Arial"/>
                <a:cs typeface="Arial"/>
              </a:rPr>
              <a:t>is, they </a:t>
            </a:r>
            <a:r>
              <a:rPr sz="2700" spc="-5" dirty="0">
                <a:latin typeface="Arial"/>
                <a:cs typeface="Arial"/>
              </a:rPr>
              <a:t>represent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some  </a:t>
            </a:r>
            <a:r>
              <a:rPr sz="2700" spc="-5" dirty="0">
                <a:latin typeface="Arial"/>
                <a:cs typeface="Arial"/>
              </a:rPr>
              <a:t>unknown, </a:t>
            </a:r>
            <a:r>
              <a:rPr sz="2700" dirty="0">
                <a:latin typeface="Arial"/>
                <a:cs typeface="Arial"/>
              </a:rPr>
              <a:t>or variable,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value.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2800">
              <a:latin typeface="Arial"/>
              <a:cs typeface="Arial"/>
            </a:endParaRPr>
          </a:p>
          <a:p>
            <a:pPr marL="81280" algn="ctr">
              <a:lnSpc>
                <a:spcPct val="100000"/>
              </a:lnSpc>
            </a:pPr>
            <a:r>
              <a:rPr sz="2700" dirty="0">
                <a:latin typeface="Arial"/>
                <a:cs typeface="Arial"/>
              </a:rPr>
              <a:t>x = </a:t>
            </a:r>
            <a:r>
              <a:rPr sz="2700" spc="-5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+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b</a:t>
            </a:r>
            <a:endParaRPr sz="2700">
              <a:latin typeface="Arial"/>
              <a:cs typeface="Arial"/>
            </a:endParaRPr>
          </a:p>
          <a:p>
            <a:pPr marL="81915" algn="ctr">
              <a:lnSpc>
                <a:spcPct val="100000"/>
              </a:lnSpc>
            </a:pPr>
            <a:r>
              <a:rPr sz="2700" dirty="0">
                <a:latin typeface="Arial"/>
                <a:cs typeface="Arial"/>
              </a:rPr>
              <a:t>z + 2 = 3(y -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5)</a:t>
            </a:r>
            <a:endParaRPr sz="2700">
              <a:latin typeface="Arial"/>
              <a:cs typeface="Arial"/>
            </a:endParaRPr>
          </a:p>
          <a:p>
            <a:pPr marL="355600" marR="878840" indent="-342900">
              <a:lnSpc>
                <a:spcPct val="80000"/>
              </a:lnSpc>
              <a:spcBef>
                <a:spcPts val="173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Arial"/>
                <a:cs typeface="Arial"/>
              </a:rPr>
              <a:t>Remember </a:t>
            </a:r>
            <a:r>
              <a:rPr sz="2700" dirty="0">
                <a:latin typeface="Arial"/>
                <a:cs typeface="Arial"/>
              </a:rPr>
              <a:t>that </a:t>
            </a:r>
            <a:r>
              <a:rPr sz="2700" spc="-5" dirty="0">
                <a:latin typeface="Arial"/>
                <a:cs typeface="Arial"/>
              </a:rPr>
              <a:t>variables in algebra are  represented by a single alphabetic</a:t>
            </a:r>
            <a:r>
              <a:rPr sz="2700" spc="50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character.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1249" y="187197"/>
            <a:ext cx="57715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What </a:t>
            </a:r>
            <a:r>
              <a:rPr spc="-320" dirty="0"/>
              <a:t>Are </a:t>
            </a:r>
            <a:r>
              <a:rPr spc="-290" dirty="0"/>
              <a:t>Variables </a:t>
            </a:r>
            <a:r>
              <a:rPr spc="-254" dirty="0"/>
              <a:t>in</a:t>
            </a:r>
            <a:r>
              <a:rPr spc="-225" dirty="0"/>
              <a:t> </a:t>
            </a:r>
            <a:r>
              <a:rPr spc="-775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308653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0992" y="0"/>
            <a:ext cx="37738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4" dirty="0"/>
              <a:t>Naming</a:t>
            </a:r>
            <a:r>
              <a:rPr sz="4000" spc="-260" dirty="0"/>
              <a:t> </a:t>
            </a:r>
            <a:r>
              <a:rPr sz="4000" spc="-265" dirty="0"/>
              <a:t>Variables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27736" y="940054"/>
            <a:ext cx="8229600" cy="448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70815" indent="-2286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95454"/>
              <a:buFont typeface="Wingdings"/>
              <a:buChar char=""/>
              <a:tabLst>
                <a:tab pos="241300" algn="l"/>
                <a:tab pos="3235960" algn="l"/>
              </a:tabLst>
            </a:pPr>
            <a:r>
              <a:rPr sz="2200" spc="105" dirty="0">
                <a:solidFill>
                  <a:srgbClr val="0D0D0D"/>
                </a:solidFill>
                <a:latin typeface="Arial"/>
                <a:cs typeface="Arial"/>
              </a:rPr>
              <a:t>Variables </a:t>
            </a:r>
            <a:r>
              <a:rPr sz="2200" spc="70" dirty="0">
                <a:solidFill>
                  <a:srgbClr val="0D0D0D"/>
                </a:solidFill>
                <a:latin typeface="Arial"/>
                <a:cs typeface="Arial"/>
              </a:rPr>
              <a:t>in </a:t>
            </a:r>
            <a:r>
              <a:rPr sz="2200" spc="-5" dirty="0">
                <a:solidFill>
                  <a:srgbClr val="0D0D0D"/>
                </a:solidFill>
                <a:latin typeface="Arial"/>
                <a:cs typeface="Arial"/>
              </a:rPr>
              <a:t>C </a:t>
            </a:r>
            <a:r>
              <a:rPr sz="2200" spc="85" dirty="0">
                <a:solidFill>
                  <a:srgbClr val="0D0D0D"/>
                </a:solidFill>
                <a:latin typeface="Arial"/>
                <a:cs typeface="Arial"/>
              </a:rPr>
              <a:t>may </a:t>
            </a:r>
            <a:r>
              <a:rPr sz="2200" spc="65" dirty="0">
                <a:solidFill>
                  <a:srgbClr val="0D0D0D"/>
                </a:solidFill>
                <a:latin typeface="Arial"/>
                <a:cs typeface="Arial"/>
              </a:rPr>
              <a:t>be </a:t>
            </a:r>
            <a:r>
              <a:rPr sz="2200" spc="105" dirty="0">
                <a:solidFill>
                  <a:srgbClr val="0D0D0D"/>
                </a:solidFill>
                <a:latin typeface="Arial"/>
                <a:cs typeface="Arial"/>
              </a:rPr>
              <a:t>given </a:t>
            </a:r>
            <a:r>
              <a:rPr sz="2200" spc="130" dirty="0">
                <a:solidFill>
                  <a:srgbClr val="0D0D0D"/>
                </a:solidFill>
                <a:latin typeface="Arial"/>
                <a:cs typeface="Arial"/>
              </a:rPr>
              <a:t>representations </a:t>
            </a:r>
            <a:r>
              <a:rPr sz="2200" spc="125" dirty="0">
                <a:solidFill>
                  <a:srgbClr val="0D0D0D"/>
                </a:solidFill>
                <a:latin typeface="Arial"/>
                <a:cs typeface="Arial"/>
              </a:rPr>
              <a:t>containing  </a:t>
            </a:r>
            <a:r>
              <a:rPr sz="2200" spc="120" dirty="0">
                <a:solidFill>
                  <a:srgbClr val="0D0D0D"/>
                </a:solidFill>
                <a:latin typeface="Arial"/>
                <a:cs typeface="Arial"/>
              </a:rPr>
              <a:t>multiple</a:t>
            </a:r>
            <a:r>
              <a:rPr sz="2200" spc="36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125" dirty="0">
                <a:solidFill>
                  <a:srgbClr val="0D0D0D"/>
                </a:solidFill>
                <a:latin typeface="Arial"/>
                <a:cs typeface="Arial"/>
              </a:rPr>
              <a:t>characters.	</a:t>
            </a:r>
            <a:r>
              <a:rPr sz="2200" spc="90" dirty="0">
                <a:solidFill>
                  <a:srgbClr val="0D0D0D"/>
                </a:solidFill>
                <a:latin typeface="Arial"/>
                <a:cs typeface="Arial"/>
              </a:rPr>
              <a:t>But </a:t>
            </a:r>
            <a:r>
              <a:rPr sz="2200" spc="110" dirty="0">
                <a:solidFill>
                  <a:srgbClr val="0D0D0D"/>
                </a:solidFill>
                <a:latin typeface="Arial"/>
                <a:cs typeface="Arial"/>
              </a:rPr>
              <a:t>there </a:t>
            </a:r>
            <a:r>
              <a:rPr sz="2200" spc="90" dirty="0">
                <a:solidFill>
                  <a:srgbClr val="0D0D0D"/>
                </a:solidFill>
                <a:latin typeface="Arial"/>
                <a:cs typeface="Arial"/>
              </a:rPr>
              <a:t>are </a:t>
            </a:r>
            <a:r>
              <a:rPr sz="2200" spc="110" dirty="0">
                <a:solidFill>
                  <a:srgbClr val="0D0D0D"/>
                </a:solidFill>
                <a:latin typeface="Arial"/>
                <a:cs typeface="Arial"/>
              </a:rPr>
              <a:t>rules </a:t>
            </a:r>
            <a:r>
              <a:rPr sz="2200" spc="90" dirty="0">
                <a:solidFill>
                  <a:srgbClr val="0D0D0D"/>
                </a:solidFill>
                <a:latin typeface="Arial"/>
                <a:cs typeface="Arial"/>
              </a:rPr>
              <a:t>for </a:t>
            </a:r>
            <a:r>
              <a:rPr sz="2200" spc="110" dirty="0">
                <a:solidFill>
                  <a:srgbClr val="0D0D0D"/>
                </a:solidFill>
                <a:latin typeface="Arial"/>
                <a:cs typeface="Arial"/>
              </a:rPr>
              <a:t>these  </a:t>
            </a:r>
            <a:r>
              <a:rPr sz="2200" spc="130" dirty="0">
                <a:solidFill>
                  <a:srgbClr val="0D0D0D"/>
                </a:solidFill>
                <a:latin typeface="Arial"/>
                <a:cs typeface="Arial"/>
              </a:rPr>
              <a:t>representations.</a:t>
            </a:r>
            <a:endParaRPr sz="22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SzPct val="95454"/>
              <a:buFont typeface="Wingdings"/>
              <a:buChar char=""/>
              <a:tabLst>
                <a:tab pos="241300" algn="l"/>
              </a:tabLst>
            </a:pPr>
            <a:r>
              <a:rPr sz="2200" spc="100" dirty="0">
                <a:solidFill>
                  <a:srgbClr val="0D0D0D"/>
                </a:solidFill>
                <a:latin typeface="Arial"/>
                <a:cs typeface="Arial"/>
              </a:rPr>
              <a:t>Variable </a:t>
            </a:r>
            <a:r>
              <a:rPr sz="2200" spc="105" dirty="0">
                <a:solidFill>
                  <a:srgbClr val="0D0D0D"/>
                </a:solidFill>
                <a:latin typeface="Arial"/>
                <a:cs typeface="Arial"/>
              </a:rPr>
              <a:t>names </a:t>
            </a:r>
            <a:r>
              <a:rPr sz="2200" spc="70" dirty="0">
                <a:solidFill>
                  <a:srgbClr val="0D0D0D"/>
                </a:solidFill>
                <a:latin typeface="Arial"/>
                <a:cs typeface="Arial"/>
              </a:rPr>
              <a:t>in </a:t>
            </a:r>
            <a:r>
              <a:rPr sz="2200" spc="-5" dirty="0">
                <a:solidFill>
                  <a:srgbClr val="0D0D0D"/>
                </a:solidFill>
                <a:latin typeface="Arial"/>
                <a:cs typeface="Arial"/>
              </a:rPr>
              <a:t>C</a:t>
            </a:r>
            <a:r>
              <a:rPr sz="2200" spc="29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endParaRPr sz="2200" dirty="0">
              <a:latin typeface="Arial"/>
              <a:cs typeface="Arial"/>
            </a:endParaRPr>
          </a:p>
          <a:p>
            <a:pPr marL="516890" lvl="1" indent="-183515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Wingdings"/>
              <a:buChar char=""/>
              <a:tabLst>
                <a:tab pos="517525" algn="l"/>
                <a:tab pos="5853430" algn="l"/>
              </a:tabLst>
            </a:pPr>
            <a:r>
              <a:rPr sz="2200" spc="55" dirty="0">
                <a:solidFill>
                  <a:srgbClr val="0D0D0D"/>
                </a:solidFill>
                <a:latin typeface="Arial"/>
                <a:cs typeface="Arial"/>
              </a:rPr>
              <a:t>May </a:t>
            </a:r>
            <a:r>
              <a:rPr sz="2200" spc="70" dirty="0">
                <a:solidFill>
                  <a:srgbClr val="0D0D0D"/>
                </a:solidFill>
                <a:latin typeface="Arial"/>
                <a:cs typeface="Arial"/>
              </a:rPr>
              <a:t>only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consist </a:t>
            </a:r>
            <a:r>
              <a:rPr sz="2200" spc="45" dirty="0">
                <a:solidFill>
                  <a:srgbClr val="0D0D0D"/>
                </a:solidFill>
                <a:latin typeface="Arial"/>
                <a:cs typeface="Arial"/>
              </a:rPr>
              <a:t>of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letters, </a:t>
            </a:r>
            <a:r>
              <a:rPr sz="2200" spc="18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digits,</a:t>
            </a:r>
            <a:r>
              <a:rPr sz="2200" spc="22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and	</a:t>
            </a:r>
            <a:r>
              <a:rPr sz="2200" spc="85" dirty="0">
                <a:solidFill>
                  <a:srgbClr val="0D0D0D"/>
                </a:solidFill>
                <a:latin typeface="Arial"/>
                <a:cs typeface="Arial"/>
              </a:rPr>
              <a:t>underscores</a:t>
            </a:r>
            <a:endParaRPr sz="2200" dirty="0">
              <a:latin typeface="Arial"/>
              <a:cs typeface="Arial"/>
            </a:endParaRPr>
          </a:p>
          <a:p>
            <a:pPr marL="516890" marR="1280795" lvl="1" indent="-182880">
              <a:lnSpc>
                <a:spcPct val="100000"/>
              </a:lnSpc>
              <a:spcBef>
                <a:spcPts val="525"/>
              </a:spcBef>
              <a:buClr>
                <a:srgbClr val="000000"/>
              </a:buClr>
              <a:buFont typeface="Wingdings"/>
              <a:buChar char=""/>
              <a:tabLst>
                <a:tab pos="517525" algn="l"/>
              </a:tabLst>
            </a:pPr>
            <a:r>
              <a:rPr sz="2200" spc="55" dirty="0">
                <a:solidFill>
                  <a:srgbClr val="0D0D0D"/>
                </a:solidFill>
                <a:latin typeface="Arial"/>
                <a:cs typeface="Arial"/>
              </a:rPr>
              <a:t>May </a:t>
            </a:r>
            <a:r>
              <a:rPr sz="2200" spc="40" dirty="0">
                <a:solidFill>
                  <a:srgbClr val="0D0D0D"/>
                </a:solidFill>
                <a:latin typeface="Arial"/>
                <a:cs typeface="Arial"/>
              </a:rPr>
              <a:t>be </a:t>
            </a:r>
            <a:r>
              <a:rPr sz="2200" spc="45" dirty="0">
                <a:solidFill>
                  <a:srgbClr val="0D0D0D"/>
                </a:solidFill>
                <a:latin typeface="Arial"/>
                <a:cs typeface="Arial"/>
              </a:rPr>
              <a:t>as </a:t>
            </a:r>
            <a:r>
              <a:rPr sz="2200" spc="70" dirty="0">
                <a:solidFill>
                  <a:srgbClr val="0D0D0D"/>
                </a:solidFill>
                <a:latin typeface="Arial"/>
                <a:cs typeface="Arial"/>
              </a:rPr>
              <a:t>long </a:t>
            </a:r>
            <a:r>
              <a:rPr sz="2200" spc="45" dirty="0">
                <a:solidFill>
                  <a:srgbClr val="0D0D0D"/>
                </a:solidFill>
                <a:latin typeface="Arial"/>
                <a:cs typeface="Arial"/>
              </a:rPr>
              <a:t>as </a:t>
            </a:r>
            <a:r>
              <a:rPr sz="2200" spc="55" dirty="0">
                <a:solidFill>
                  <a:srgbClr val="0D0D0D"/>
                </a:solidFill>
                <a:latin typeface="Arial"/>
                <a:cs typeface="Arial"/>
              </a:rPr>
              <a:t>you </a:t>
            </a:r>
            <a:r>
              <a:rPr sz="2200" spc="75" dirty="0">
                <a:solidFill>
                  <a:srgbClr val="0D0D0D"/>
                </a:solidFill>
                <a:latin typeface="Arial"/>
                <a:cs typeface="Arial"/>
              </a:rPr>
              <a:t>like,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but </a:t>
            </a:r>
            <a:r>
              <a:rPr sz="2200" spc="70" dirty="0">
                <a:solidFill>
                  <a:srgbClr val="0D0D0D"/>
                </a:solidFill>
                <a:latin typeface="Arial"/>
                <a:cs typeface="Arial"/>
              </a:rPr>
              <a:t>only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sz="2200" spc="75" dirty="0">
                <a:solidFill>
                  <a:srgbClr val="0D0D0D"/>
                </a:solidFill>
                <a:latin typeface="Arial"/>
                <a:cs typeface="Arial"/>
              </a:rPr>
              <a:t>first </a:t>
            </a:r>
            <a:r>
              <a:rPr sz="2200" spc="40" dirty="0">
                <a:solidFill>
                  <a:srgbClr val="0D0D0D"/>
                </a:solidFill>
                <a:latin typeface="Arial"/>
                <a:cs typeface="Arial"/>
              </a:rPr>
              <a:t>31 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characters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are</a:t>
            </a:r>
            <a:r>
              <a:rPr sz="2200" spc="37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5" dirty="0">
                <a:solidFill>
                  <a:srgbClr val="0D0D0D"/>
                </a:solidFill>
                <a:latin typeface="Arial"/>
                <a:cs typeface="Arial"/>
              </a:rPr>
              <a:t>significant</a:t>
            </a:r>
            <a:endParaRPr sz="2200" dirty="0">
              <a:latin typeface="Arial"/>
              <a:cs typeface="Arial"/>
            </a:endParaRPr>
          </a:p>
          <a:p>
            <a:pPr marL="516890" lvl="1" indent="-183515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Wingdings"/>
              <a:buChar char=""/>
              <a:tabLst>
                <a:tab pos="517525" algn="l"/>
              </a:tabLst>
            </a:pPr>
            <a:r>
              <a:rPr sz="2200" spc="55" dirty="0">
                <a:solidFill>
                  <a:srgbClr val="0D0D0D"/>
                </a:solidFill>
                <a:latin typeface="Arial"/>
                <a:cs typeface="Arial"/>
              </a:rPr>
              <a:t>May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not </a:t>
            </a:r>
            <a:r>
              <a:rPr sz="2200" spc="70" dirty="0">
                <a:solidFill>
                  <a:srgbClr val="0D0D0D"/>
                </a:solidFill>
                <a:latin typeface="Arial"/>
                <a:cs typeface="Arial"/>
              </a:rPr>
              <a:t>begin </a:t>
            </a:r>
            <a:r>
              <a:rPr sz="2200" spc="65" dirty="0">
                <a:solidFill>
                  <a:srgbClr val="0D0D0D"/>
                </a:solidFill>
                <a:latin typeface="Arial"/>
                <a:cs typeface="Arial"/>
              </a:rPr>
              <a:t>with </a:t>
            </a:r>
            <a:r>
              <a:rPr sz="2200" spc="-5" dirty="0">
                <a:solidFill>
                  <a:srgbClr val="0D0D0D"/>
                </a:solidFill>
                <a:latin typeface="Arial"/>
                <a:cs typeface="Arial"/>
              </a:rPr>
              <a:t>a </a:t>
            </a:r>
            <a:r>
              <a:rPr sz="2200" spc="16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75" dirty="0">
                <a:solidFill>
                  <a:srgbClr val="0D0D0D"/>
                </a:solidFill>
                <a:latin typeface="Arial"/>
                <a:cs typeface="Arial"/>
              </a:rPr>
              <a:t>number</a:t>
            </a:r>
            <a:endParaRPr sz="2200" dirty="0">
              <a:latin typeface="Arial"/>
              <a:cs typeface="Arial"/>
            </a:endParaRPr>
          </a:p>
          <a:p>
            <a:pPr marL="516890" lvl="1" indent="-183515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Wingdings"/>
              <a:buChar char=""/>
              <a:tabLst>
                <a:tab pos="517525" algn="l"/>
              </a:tabLst>
            </a:pPr>
            <a:r>
              <a:rPr sz="2200" spc="55" dirty="0">
                <a:solidFill>
                  <a:srgbClr val="0D0D0D"/>
                </a:solidFill>
                <a:latin typeface="Arial"/>
                <a:cs typeface="Arial"/>
              </a:rPr>
              <a:t>May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not </a:t>
            </a:r>
            <a:r>
              <a:rPr sz="2200" spc="40" dirty="0">
                <a:solidFill>
                  <a:srgbClr val="0D0D0D"/>
                </a:solidFill>
                <a:latin typeface="Arial"/>
                <a:cs typeface="Arial"/>
              </a:rPr>
              <a:t>be </a:t>
            </a:r>
            <a:r>
              <a:rPr sz="2200" spc="-5" dirty="0">
                <a:solidFill>
                  <a:srgbClr val="0D0D0D"/>
                </a:solidFill>
                <a:latin typeface="Arial"/>
                <a:cs typeface="Arial"/>
              </a:rPr>
              <a:t>a C </a:t>
            </a:r>
            <a:r>
              <a:rPr sz="2200" b="1" spc="75" dirty="0">
                <a:solidFill>
                  <a:srgbClr val="0D0D0D"/>
                </a:solidFill>
                <a:latin typeface="Arial"/>
                <a:cs typeface="Arial"/>
              </a:rPr>
              <a:t>reserved </a:t>
            </a:r>
            <a:r>
              <a:rPr sz="2200" b="1" spc="70" dirty="0">
                <a:solidFill>
                  <a:srgbClr val="0D0D0D"/>
                </a:solidFill>
                <a:latin typeface="Arial"/>
                <a:cs typeface="Arial"/>
              </a:rPr>
              <a:t>word</a:t>
            </a:r>
            <a:r>
              <a:rPr sz="2200" b="1" spc="4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b="1" spc="80" dirty="0">
                <a:solidFill>
                  <a:srgbClr val="0D0D0D"/>
                </a:solidFill>
                <a:latin typeface="Arial"/>
                <a:cs typeface="Arial"/>
              </a:rPr>
              <a:t>(keyword)</a:t>
            </a:r>
            <a:endParaRPr sz="2200" dirty="0">
              <a:latin typeface="Arial"/>
              <a:cs typeface="Arial"/>
            </a:endParaRPr>
          </a:p>
          <a:p>
            <a:pPr marL="333375" lvl="1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tabLst>
                <a:tab pos="517525" algn="l"/>
              </a:tabLst>
            </a:pPr>
            <a:endParaRPr sz="2200">
              <a:latin typeface="Arial"/>
              <a:cs typeface="Arial"/>
            </a:endParaRPr>
          </a:p>
          <a:p>
            <a:pPr marL="516890" lvl="1" indent="-183515">
              <a:lnSpc>
                <a:spcPct val="100000"/>
              </a:lnSpc>
              <a:spcBef>
                <a:spcPts val="260"/>
              </a:spcBef>
              <a:buClr>
                <a:srgbClr val="000000"/>
              </a:buClr>
              <a:buFont typeface="Wingdings"/>
              <a:buChar char=""/>
              <a:tabLst>
                <a:tab pos="517525" algn="l"/>
              </a:tabLst>
            </a:pPr>
            <a:r>
              <a:rPr sz="2200" spc="55" dirty="0">
                <a:solidFill>
                  <a:srgbClr val="0D0D0D"/>
                </a:solidFill>
                <a:latin typeface="Arial"/>
                <a:cs typeface="Arial"/>
              </a:rPr>
              <a:t>Can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contain letters, </a:t>
            </a:r>
            <a:r>
              <a:rPr sz="2200" spc="75" dirty="0">
                <a:solidFill>
                  <a:srgbClr val="0D0D0D"/>
                </a:solidFill>
                <a:latin typeface="Arial"/>
                <a:cs typeface="Arial"/>
              </a:rPr>
              <a:t>numbers </a:t>
            </a:r>
            <a:r>
              <a:rPr sz="2200" spc="45" dirty="0">
                <a:solidFill>
                  <a:srgbClr val="0D0D0D"/>
                </a:solidFill>
                <a:latin typeface="Arial"/>
                <a:cs typeface="Arial"/>
              </a:rPr>
              <a:t>or</a:t>
            </a:r>
            <a:r>
              <a:rPr sz="2200" spc="16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5" dirty="0">
                <a:solidFill>
                  <a:srgbClr val="0D0D0D"/>
                </a:solidFill>
                <a:latin typeface="Arial"/>
                <a:cs typeface="Arial"/>
              </a:rPr>
              <a:t>underscore.</a:t>
            </a:r>
            <a:endParaRPr sz="2200" dirty="0">
              <a:latin typeface="Arial"/>
              <a:cs typeface="Arial"/>
            </a:endParaRPr>
          </a:p>
          <a:p>
            <a:pPr marL="516890" lvl="1" indent="-18351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Wingdings"/>
              <a:buChar char=""/>
              <a:tabLst>
                <a:tab pos="517525" algn="l"/>
              </a:tabLst>
            </a:pPr>
            <a:r>
              <a:rPr sz="2200" spc="40" dirty="0">
                <a:solidFill>
                  <a:srgbClr val="0D0D0D"/>
                </a:solidFill>
                <a:latin typeface="Arial"/>
                <a:cs typeface="Arial"/>
              </a:rPr>
              <a:t>No</a:t>
            </a:r>
            <a:r>
              <a:rPr sz="2200" spc="20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75" dirty="0">
                <a:solidFill>
                  <a:srgbClr val="0D0D0D"/>
                </a:solidFill>
                <a:latin typeface="Arial"/>
                <a:cs typeface="Arial"/>
              </a:rPr>
              <a:t>other</a:t>
            </a:r>
            <a:r>
              <a:rPr sz="2200" spc="229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special</a:t>
            </a:r>
            <a:r>
              <a:rPr sz="2200" spc="21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5" dirty="0">
                <a:solidFill>
                  <a:srgbClr val="0D0D0D"/>
                </a:solidFill>
                <a:latin typeface="Arial"/>
                <a:cs typeface="Arial"/>
              </a:rPr>
              <a:t>characters</a:t>
            </a:r>
            <a:r>
              <a:rPr sz="2200" spc="24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60" dirty="0">
                <a:solidFill>
                  <a:srgbClr val="0D0D0D"/>
                </a:solidFill>
                <a:latin typeface="Arial"/>
                <a:cs typeface="Arial"/>
              </a:rPr>
              <a:t>are</a:t>
            </a:r>
            <a:r>
              <a:rPr sz="2200" spc="21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0D0D0D"/>
                </a:solidFill>
                <a:latin typeface="Arial"/>
                <a:cs typeface="Arial"/>
              </a:rPr>
              <a:t>allowed</a:t>
            </a:r>
            <a:r>
              <a:rPr sz="2200" spc="21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85" dirty="0">
                <a:solidFill>
                  <a:srgbClr val="0D0D0D"/>
                </a:solidFill>
                <a:latin typeface="Arial"/>
                <a:cs typeface="Arial"/>
              </a:rPr>
              <a:t>including</a:t>
            </a:r>
            <a:r>
              <a:rPr sz="2200" spc="22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spc="75" dirty="0">
                <a:solidFill>
                  <a:srgbClr val="0D0D0D"/>
                </a:solidFill>
                <a:latin typeface="Arial"/>
                <a:cs typeface="Arial"/>
              </a:rPr>
              <a:t>space.</a:t>
            </a:r>
            <a:endParaRPr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38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041" y="0"/>
            <a:ext cx="3614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5" dirty="0"/>
              <a:t>Case</a:t>
            </a:r>
            <a:r>
              <a:rPr spc="-250" dirty="0"/>
              <a:t> </a:t>
            </a:r>
            <a:r>
              <a:rPr spc="-305" dirty="0"/>
              <a:t>Sensitivity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736" y="1005354"/>
            <a:ext cx="8046720" cy="4976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C </a:t>
            </a:r>
            <a:r>
              <a:rPr sz="2800" spc="70" dirty="0">
                <a:latin typeface="Arial"/>
                <a:cs typeface="Arial"/>
              </a:rPr>
              <a:t>is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b="1" spc="105" dirty="0">
                <a:latin typeface="Arial"/>
                <a:cs typeface="Arial"/>
              </a:rPr>
              <a:t>case </a:t>
            </a:r>
            <a:r>
              <a:rPr sz="2800" b="1" spc="125" dirty="0">
                <a:latin typeface="Arial"/>
                <a:cs typeface="Arial"/>
              </a:rPr>
              <a:t>sensitive</a:t>
            </a:r>
            <a:r>
              <a:rPr sz="2800" b="1" spc="-155" dirty="0">
                <a:latin typeface="Arial"/>
                <a:cs typeface="Arial"/>
              </a:rPr>
              <a:t> </a:t>
            </a:r>
            <a:r>
              <a:rPr sz="2800" b="1" spc="120" dirty="0">
                <a:latin typeface="Arial"/>
                <a:cs typeface="Arial"/>
              </a:rPr>
              <a:t>language.</a:t>
            </a:r>
            <a:endParaRPr sz="2800">
              <a:latin typeface="Arial"/>
              <a:cs typeface="Arial"/>
            </a:endParaRPr>
          </a:p>
          <a:p>
            <a:pPr marL="516890" marR="5080" lvl="1" indent="-182880">
              <a:lnSpc>
                <a:spcPct val="100000"/>
              </a:lnSpc>
              <a:spcBef>
                <a:spcPts val="670"/>
              </a:spcBef>
              <a:buFont typeface="Wingdings"/>
              <a:buChar char=""/>
              <a:tabLst>
                <a:tab pos="835660" algn="l"/>
                <a:tab pos="836294" algn="l"/>
              </a:tabLst>
            </a:pPr>
            <a:r>
              <a:rPr sz="2800" spc="45" dirty="0">
                <a:latin typeface="Arial"/>
                <a:cs typeface="Arial"/>
              </a:rPr>
              <a:t>It </a:t>
            </a:r>
            <a:r>
              <a:rPr sz="2800" spc="75" dirty="0">
                <a:latin typeface="Arial"/>
                <a:cs typeface="Arial"/>
              </a:rPr>
              <a:t>matters whether </a:t>
            </a:r>
            <a:r>
              <a:rPr sz="2800" spc="45" dirty="0">
                <a:latin typeface="Arial"/>
                <a:cs typeface="Arial"/>
              </a:rPr>
              <a:t>an </a:t>
            </a:r>
            <a:r>
              <a:rPr sz="2800" b="1" spc="85" dirty="0">
                <a:latin typeface="Arial"/>
                <a:cs typeface="Arial"/>
              </a:rPr>
              <a:t>identifier</a:t>
            </a:r>
            <a:r>
              <a:rPr sz="2800" spc="85" dirty="0">
                <a:latin typeface="Arial"/>
                <a:cs typeface="Arial"/>
              </a:rPr>
              <a:t>, </a:t>
            </a:r>
            <a:r>
              <a:rPr sz="2800" spc="70" dirty="0">
                <a:latin typeface="Arial"/>
                <a:cs typeface="Arial"/>
              </a:rPr>
              <a:t>such </a:t>
            </a:r>
            <a:r>
              <a:rPr sz="2800" spc="45" dirty="0">
                <a:latin typeface="Arial"/>
                <a:cs typeface="Arial"/>
              </a:rPr>
              <a:t>as </a:t>
            </a:r>
            <a:r>
              <a:rPr sz="2800" spc="-5" dirty="0">
                <a:latin typeface="Arial"/>
                <a:cs typeface="Arial"/>
              </a:rPr>
              <a:t>a  </a:t>
            </a:r>
            <a:r>
              <a:rPr sz="2800" spc="80" dirty="0">
                <a:latin typeface="Arial"/>
                <a:cs typeface="Arial"/>
              </a:rPr>
              <a:t>variable </a:t>
            </a:r>
            <a:r>
              <a:rPr sz="2800" spc="75" dirty="0">
                <a:latin typeface="Arial"/>
                <a:cs typeface="Arial"/>
              </a:rPr>
              <a:t>name, </a:t>
            </a:r>
            <a:r>
              <a:rPr sz="2800" spc="45" dirty="0">
                <a:latin typeface="Arial"/>
                <a:cs typeface="Arial"/>
              </a:rPr>
              <a:t>is </a:t>
            </a:r>
            <a:r>
              <a:rPr sz="2800" spc="85" dirty="0">
                <a:latin typeface="Arial"/>
                <a:cs typeface="Arial"/>
              </a:rPr>
              <a:t>uppercase </a:t>
            </a:r>
            <a:r>
              <a:rPr sz="2800" spc="45" dirty="0">
                <a:latin typeface="Arial"/>
                <a:cs typeface="Arial"/>
              </a:rPr>
              <a:t>or</a:t>
            </a:r>
            <a:r>
              <a:rPr sz="2800" spc="800" dirty="0">
                <a:latin typeface="Arial"/>
                <a:cs typeface="Arial"/>
              </a:rPr>
              <a:t> </a:t>
            </a:r>
            <a:r>
              <a:rPr sz="2800" spc="85" dirty="0">
                <a:latin typeface="Arial"/>
                <a:cs typeface="Arial"/>
              </a:rPr>
              <a:t>lowercase.</a:t>
            </a:r>
            <a:endParaRPr sz="2800">
              <a:latin typeface="Arial"/>
              <a:cs typeface="Arial"/>
            </a:endParaRPr>
          </a:p>
          <a:p>
            <a:pPr marL="835660" lvl="1" indent="-502284">
              <a:lnSpc>
                <a:spcPct val="100000"/>
              </a:lnSpc>
              <a:spcBef>
                <a:spcPts val="675"/>
              </a:spcBef>
              <a:buFont typeface="Wingdings"/>
              <a:buChar char=""/>
              <a:tabLst>
                <a:tab pos="835660" algn="l"/>
                <a:tab pos="836294" algn="l"/>
              </a:tabLst>
            </a:pPr>
            <a:r>
              <a:rPr sz="2800" spc="75" dirty="0"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 marL="1797050" marR="5239385">
              <a:lnSpc>
                <a:spcPct val="120000"/>
              </a:lnSpc>
            </a:pPr>
            <a:r>
              <a:rPr sz="2800" spc="95" dirty="0">
                <a:latin typeface="Arial"/>
                <a:cs typeface="Arial"/>
              </a:rPr>
              <a:t>area  </a:t>
            </a:r>
            <a:r>
              <a:rPr sz="2800" spc="65" dirty="0">
                <a:latin typeface="Arial"/>
                <a:cs typeface="Arial"/>
              </a:rPr>
              <a:t>Area  </a:t>
            </a:r>
            <a:r>
              <a:rPr sz="2800" spc="80" dirty="0">
                <a:latin typeface="Arial"/>
                <a:cs typeface="Arial"/>
              </a:rPr>
              <a:t>ARE</a:t>
            </a:r>
            <a:r>
              <a:rPr sz="2800" spc="-5" dirty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  <a:p>
            <a:pPr marL="1797050">
              <a:lnSpc>
                <a:spcPct val="100000"/>
              </a:lnSpc>
              <a:spcBef>
                <a:spcPts val="670"/>
              </a:spcBef>
            </a:pPr>
            <a:r>
              <a:rPr sz="2800" spc="60" dirty="0">
                <a:latin typeface="Arial"/>
                <a:cs typeface="Arial"/>
              </a:rPr>
              <a:t>ArEa</a:t>
            </a:r>
            <a:endParaRPr sz="2800">
              <a:latin typeface="Arial"/>
              <a:cs typeface="Arial"/>
            </a:endParaRPr>
          </a:p>
          <a:p>
            <a:pPr marL="516890" marR="712470">
              <a:lnSpc>
                <a:spcPct val="100000"/>
              </a:lnSpc>
              <a:spcBef>
                <a:spcPts val="675"/>
              </a:spcBef>
            </a:pPr>
            <a:r>
              <a:rPr sz="2800" spc="60" dirty="0">
                <a:latin typeface="Arial"/>
                <a:cs typeface="Arial"/>
              </a:rPr>
              <a:t>are all </a:t>
            </a:r>
            <a:r>
              <a:rPr sz="2800" spc="70" dirty="0">
                <a:latin typeface="Arial"/>
                <a:cs typeface="Arial"/>
              </a:rPr>
              <a:t>seen </a:t>
            </a:r>
            <a:r>
              <a:rPr sz="2800" spc="45" dirty="0">
                <a:latin typeface="Arial"/>
                <a:cs typeface="Arial"/>
              </a:rPr>
              <a:t>as </a:t>
            </a:r>
            <a:r>
              <a:rPr sz="2800" u="heavy" spc="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different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spc="85" dirty="0">
                <a:latin typeface="Arial"/>
                <a:cs typeface="Arial"/>
              </a:rPr>
              <a:t>variables </a:t>
            </a:r>
            <a:r>
              <a:rPr sz="2800" spc="45" dirty="0">
                <a:latin typeface="Arial"/>
                <a:cs typeface="Arial"/>
              </a:rPr>
              <a:t>by </a:t>
            </a:r>
            <a:r>
              <a:rPr sz="2800" spc="60" dirty="0">
                <a:latin typeface="Arial"/>
                <a:cs typeface="Arial"/>
              </a:rPr>
              <a:t>the  </a:t>
            </a:r>
            <a:r>
              <a:rPr sz="2800" spc="65" dirty="0">
                <a:latin typeface="Arial"/>
                <a:cs typeface="Arial"/>
              </a:rPr>
              <a:t>compiler.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899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780" y="0"/>
            <a:ext cx="41090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75" dirty="0"/>
              <a:t>Declaring</a:t>
            </a:r>
            <a:r>
              <a:rPr sz="4000" spc="-240" dirty="0"/>
              <a:t> </a:t>
            </a:r>
            <a:r>
              <a:rPr sz="4000" spc="-265" dirty="0"/>
              <a:t>Variables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44853"/>
            <a:ext cx="8340725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1500" marR="337820" indent="-51562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658495" algn="l"/>
                <a:tab pos="659130" algn="l"/>
              </a:tabLst>
            </a:pPr>
            <a:r>
              <a:rPr dirty="0"/>
              <a:t>	</a:t>
            </a:r>
            <a:r>
              <a:rPr sz="1950" spc="125" dirty="0">
                <a:latin typeface="Arial"/>
                <a:cs typeface="Arial"/>
              </a:rPr>
              <a:t>Before using </a:t>
            </a:r>
            <a:r>
              <a:rPr sz="1950" dirty="0">
                <a:latin typeface="Arial"/>
                <a:cs typeface="Arial"/>
              </a:rPr>
              <a:t>a </a:t>
            </a:r>
            <a:r>
              <a:rPr sz="1950" spc="135" dirty="0">
                <a:latin typeface="Arial"/>
                <a:cs typeface="Arial"/>
              </a:rPr>
              <a:t>variable, </a:t>
            </a:r>
            <a:r>
              <a:rPr sz="1950" spc="100" dirty="0">
                <a:latin typeface="Arial"/>
                <a:cs typeface="Arial"/>
              </a:rPr>
              <a:t>you </a:t>
            </a:r>
            <a:r>
              <a:rPr sz="1950" spc="120" dirty="0">
                <a:latin typeface="Arial"/>
                <a:cs typeface="Arial"/>
              </a:rPr>
              <a:t>must </a:t>
            </a:r>
            <a:r>
              <a:rPr sz="1950" spc="114" dirty="0">
                <a:latin typeface="Arial"/>
                <a:cs typeface="Arial"/>
              </a:rPr>
              <a:t>give </a:t>
            </a:r>
            <a:r>
              <a:rPr sz="1950" spc="100" dirty="0">
                <a:latin typeface="Arial"/>
                <a:cs typeface="Arial"/>
              </a:rPr>
              <a:t>the </a:t>
            </a:r>
            <a:r>
              <a:rPr sz="1950" spc="135" dirty="0">
                <a:latin typeface="Arial"/>
                <a:cs typeface="Arial"/>
              </a:rPr>
              <a:t>compiler </a:t>
            </a:r>
            <a:r>
              <a:rPr sz="1950" spc="114" dirty="0">
                <a:latin typeface="Arial"/>
                <a:cs typeface="Arial"/>
              </a:rPr>
              <a:t>some  </a:t>
            </a:r>
            <a:r>
              <a:rPr sz="1950" spc="135" dirty="0">
                <a:latin typeface="Arial"/>
                <a:cs typeface="Arial"/>
              </a:rPr>
              <a:t>information</a:t>
            </a:r>
            <a:r>
              <a:rPr sz="1950" spc="250" dirty="0">
                <a:latin typeface="Arial"/>
                <a:cs typeface="Arial"/>
              </a:rPr>
              <a:t> </a:t>
            </a:r>
            <a:r>
              <a:rPr sz="1950" spc="125" dirty="0">
                <a:latin typeface="Arial"/>
                <a:cs typeface="Arial"/>
              </a:rPr>
              <a:t>about</a:t>
            </a:r>
            <a:r>
              <a:rPr sz="1950" spc="240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the</a:t>
            </a:r>
            <a:r>
              <a:rPr sz="1950" spc="275" dirty="0">
                <a:latin typeface="Arial"/>
                <a:cs typeface="Arial"/>
              </a:rPr>
              <a:t> </a:t>
            </a:r>
            <a:r>
              <a:rPr sz="1950" spc="135" dirty="0">
                <a:latin typeface="Arial"/>
                <a:cs typeface="Arial"/>
              </a:rPr>
              <a:t>variable;</a:t>
            </a:r>
            <a:r>
              <a:rPr sz="1950" spc="240" dirty="0">
                <a:latin typeface="Arial"/>
                <a:cs typeface="Arial"/>
              </a:rPr>
              <a:t> </a:t>
            </a:r>
            <a:r>
              <a:rPr sz="1950" spc="120" dirty="0">
                <a:latin typeface="Arial"/>
                <a:cs typeface="Arial"/>
              </a:rPr>
              <a:t>i.e.,</a:t>
            </a:r>
            <a:r>
              <a:rPr sz="1950" spc="265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you</a:t>
            </a:r>
            <a:r>
              <a:rPr sz="1950" spc="275" dirty="0">
                <a:latin typeface="Arial"/>
                <a:cs typeface="Arial"/>
              </a:rPr>
              <a:t> </a:t>
            </a:r>
            <a:r>
              <a:rPr sz="1950" spc="120" dirty="0">
                <a:latin typeface="Arial"/>
                <a:cs typeface="Arial"/>
              </a:rPr>
              <a:t>must</a:t>
            </a:r>
            <a:r>
              <a:rPr sz="1950" spc="240" dirty="0">
                <a:latin typeface="Arial"/>
                <a:cs typeface="Arial"/>
              </a:rPr>
              <a:t> </a:t>
            </a:r>
            <a:r>
              <a:rPr sz="1950" spc="130" dirty="0">
                <a:latin typeface="Arial"/>
                <a:cs typeface="Arial"/>
              </a:rPr>
              <a:t>declare</a:t>
            </a:r>
            <a:r>
              <a:rPr sz="1950" spc="254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it.</a:t>
            </a:r>
            <a:endParaRPr sz="1950">
              <a:latin typeface="Arial"/>
              <a:cs typeface="Arial"/>
            </a:endParaRPr>
          </a:p>
          <a:p>
            <a:pPr marL="654050" indent="-598170">
              <a:lnSpc>
                <a:spcPct val="100000"/>
              </a:lnSpc>
              <a:spcBef>
                <a:spcPts val="470"/>
              </a:spcBef>
              <a:buFont typeface="Wingdings"/>
              <a:buChar char=""/>
              <a:tabLst>
                <a:tab pos="654050" algn="l"/>
                <a:tab pos="654685" algn="l"/>
              </a:tabLst>
            </a:pPr>
            <a:r>
              <a:rPr sz="1950" spc="105" dirty="0">
                <a:latin typeface="Arial"/>
                <a:cs typeface="Arial"/>
              </a:rPr>
              <a:t>The</a:t>
            </a:r>
            <a:r>
              <a:rPr sz="1950" spc="260" dirty="0">
                <a:latin typeface="Arial"/>
                <a:cs typeface="Arial"/>
              </a:rPr>
              <a:t> </a:t>
            </a:r>
            <a:r>
              <a:rPr sz="1950" spc="135" dirty="0">
                <a:latin typeface="Arial"/>
                <a:cs typeface="Arial"/>
              </a:rPr>
              <a:t>declaration</a:t>
            </a:r>
            <a:r>
              <a:rPr sz="1950" spc="250" dirty="0">
                <a:latin typeface="Arial"/>
                <a:cs typeface="Arial"/>
              </a:rPr>
              <a:t> </a:t>
            </a:r>
            <a:r>
              <a:rPr sz="1950" spc="130" dirty="0">
                <a:latin typeface="Arial"/>
                <a:cs typeface="Arial"/>
              </a:rPr>
              <a:t>statement</a:t>
            </a:r>
            <a:r>
              <a:rPr sz="1950" spc="240" dirty="0">
                <a:latin typeface="Arial"/>
                <a:cs typeface="Arial"/>
              </a:rPr>
              <a:t> </a:t>
            </a:r>
            <a:r>
              <a:rPr sz="1950" spc="130" dirty="0">
                <a:latin typeface="Arial"/>
                <a:cs typeface="Arial"/>
              </a:rPr>
              <a:t>includes</a:t>
            </a:r>
            <a:r>
              <a:rPr sz="1950" spc="265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the</a:t>
            </a:r>
            <a:r>
              <a:rPr sz="1950" spc="260" dirty="0">
                <a:latin typeface="Arial"/>
                <a:cs typeface="Arial"/>
              </a:rPr>
              <a:t> </a:t>
            </a:r>
            <a:r>
              <a:rPr sz="1950" spc="114" dirty="0">
                <a:latin typeface="Arial"/>
                <a:cs typeface="Arial"/>
              </a:rPr>
              <a:t>data</a:t>
            </a:r>
            <a:r>
              <a:rPr sz="1950" spc="265" dirty="0">
                <a:latin typeface="Arial"/>
                <a:cs typeface="Arial"/>
              </a:rPr>
              <a:t> </a:t>
            </a:r>
            <a:r>
              <a:rPr sz="1950" spc="114" dirty="0">
                <a:latin typeface="Arial"/>
                <a:cs typeface="Arial"/>
              </a:rPr>
              <a:t>type</a:t>
            </a:r>
            <a:r>
              <a:rPr sz="1950" spc="275" dirty="0">
                <a:latin typeface="Arial"/>
                <a:cs typeface="Arial"/>
              </a:rPr>
              <a:t> </a:t>
            </a:r>
            <a:r>
              <a:rPr sz="1950" spc="80" dirty="0">
                <a:latin typeface="Arial"/>
                <a:cs typeface="Arial"/>
              </a:rPr>
              <a:t>of</a:t>
            </a:r>
            <a:r>
              <a:rPr sz="1950" spc="280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the</a:t>
            </a:r>
            <a:endParaRPr sz="1950">
              <a:latin typeface="Arial"/>
              <a:cs typeface="Arial"/>
            </a:endParaRPr>
          </a:p>
          <a:p>
            <a:pPr marL="571500">
              <a:lnSpc>
                <a:spcPct val="100000"/>
              </a:lnSpc>
            </a:pPr>
            <a:r>
              <a:rPr sz="1950" spc="135" dirty="0">
                <a:latin typeface="Arial"/>
                <a:cs typeface="Arial"/>
              </a:rPr>
              <a:t>variable.</a:t>
            </a:r>
            <a:endParaRPr sz="1950">
              <a:latin typeface="Arial"/>
              <a:cs typeface="Arial"/>
            </a:endParaRPr>
          </a:p>
          <a:p>
            <a:pPr marL="746760" marR="3182620" indent="-746760">
              <a:lnSpc>
                <a:spcPct val="120000"/>
              </a:lnSpc>
              <a:buFont typeface="Wingdings"/>
              <a:buChar char=""/>
              <a:tabLst>
                <a:tab pos="746760" algn="l"/>
                <a:tab pos="747395" algn="l"/>
                <a:tab pos="2336800" algn="l"/>
              </a:tabLst>
            </a:pPr>
            <a:r>
              <a:rPr sz="1950" spc="130" dirty="0">
                <a:latin typeface="Arial"/>
                <a:cs typeface="Arial"/>
              </a:rPr>
              <a:t>Examples </a:t>
            </a:r>
            <a:r>
              <a:rPr sz="1950" spc="80" dirty="0">
                <a:latin typeface="Arial"/>
                <a:cs typeface="Arial"/>
              </a:rPr>
              <a:t>of </a:t>
            </a:r>
            <a:r>
              <a:rPr sz="1950" spc="130" dirty="0">
                <a:latin typeface="Arial"/>
                <a:cs typeface="Arial"/>
              </a:rPr>
              <a:t>variable </a:t>
            </a:r>
            <a:r>
              <a:rPr sz="1950" spc="135" dirty="0">
                <a:latin typeface="Arial"/>
                <a:cs typeface="Arial"/>
              </a:rPr>
              <a:t>declarations:  </a:t>
            </a:r>
            <a:r>
              <a:rPr sz="1950" spc="100" dirty="0">
                <a:latin typeface="Arial"/>
                <a:cs typeface="Arial"/>
              </a:rPr>
              <a:t>int	</a:t>
            </a:r>
            <a:r>
              <a:rPr sz="1950" spc="125" dirty="0">
                <a:latin typeface="Arial"/>
                <a:cs typeface="Arial"/>
              </a:rPr>
              <a:t>length</a:t>
            </a:r>
            <a:r>
              <a:rPr sz="1950" spc="24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;</a:t>
            </a:r>
            <a:endParaRPr sz="195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470"/>
              </a:spcBef>
              <a:tabLst>
                <a:tab pos="2578735" algn="l"/>
              </a:tabLst>
            </a:pPr>
            <a:r>
              <a:rPr sz="1950" spc="120" dirty="0">
                <a:latin typeface="Arial"/>
                <a:cs typeface="Arial"/>
              </a:rPr>
              <a:t>float	</a:t>
            </a:r>
            <a:r>
              <a:rPr sz="1950" spc="114" dirty="0">
                <a:latin typeface="Arial"/>
                <a:cs typeface="Arial"/>
              </a:rPr>
              <a:t>area</a:t>
            </a:r>
            <a:r>
              <a:rPr sz="1950" spc="254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;</a:t>
            </a:r>
            <a:endParaRPr sz="1950">
              <a:latin typeface="Arial"/>
              <a:cs typeface="Arial"/>
            </a:endParaRPr>
          </a:p>
          <a:p>
            <a:pPr marL="546100" marR="5080" indent="-533400">
              <a:lnSpc>
                <a:spcPct val="100000"/>
              </a:lnSpc>
              <a:spcBef>
                <a:spcPts val="470"/>
              </a:spcBef>
              <a:buFont typeface="Wingdings"/>
              <a:buChar char=""/>
              <a:tabLst>
                <a:tab pos="545465" algn="l"/>
                <a:tab pos="546100" algn="l"/>
              </a:tabLst>
            </a:pPr>
            <a:r>
              <a:rPr sz="1950" spc="120" dirty="0">
                <a:latin typeface="Arial"/>
                <a:cs typeface="Arial"/>
              </a:rPr>
              <a:t>Variables </a:t>
            </a:r>
            <a:r>
              <a:rPr sz="1950" spc="100" dirty="0">
                <a:latin typeface="Arial"/>
                <a:cs typeface="Arial"/>
              </a:rPr>
              <a:t>are </a:t>
            </a:r>
            <a:r>
              <a:rPr sz="1950" spc="105" dirty="0">
                <a:latin typeface="Arial"/>
                <a:cs typeface="Arial"/>
              </a:rPr>
              <a:t>not </a:t>
            </a:r>
            <a:r>
              <a:rPr sz="1950" spc="135" dirty="0">
                <a:latin typeface="Arial"/>
                <a:cs typeface="Arial"/>
              </a:rPr>
              <a:t>automatically initialized. </a:t>
            </a:r>
            <a:r>
              <a:rPr sz="1950" spc="105" dirty="0">
                <a:latin typeface="Arial"/>
                <a:cs typeface="Arial"/>
              </a:rPr>
              <a:t>For </a:t>
            </a:r>
            <a:r>
              <a:rPr sz="1950" spc="130" dirty="0">
                <a:latin typeface="Arial"/>
                <a:cs typeface="Arial"/>
              </a:rPr>
              <a:t>example, </a:t>
            </a:r>
            <a:r>
              <a:rPr sz="1950" spc="120" dirty="0">
                <a:latin typeface="Arial"/>
                <a:cs typeface="Arial"/>
              </a:rPr>
              <a:t>after  </a:t>
            </a:r>
            <a:r>
              <a:rPr sz="1950" spc="135" dirty="0">
                <a:latin typeface="Arial"/>
                <a:cs typeface="Arial"/>
              </a:rPr>
              <a:t>declaration</a:t>
            </a:r>
            <a:endParaRPr sz="195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465"/>
              </a:spcBef>
            </a:pPr>
            <a:r>
              <a:rPr sz="1950" spc="100" dirty="0">
                <a:latin typeface="Arial"/>
                <a:cs typeface="Arial"/>
              </a:rPr>
              <a:t>int</a:t>
            </a:r>
            <a:r>
              <a:rPr sz="1950" spc="280" dirty="0">
                <a:latin typeface="Arial"/>
                <a:cs typeface="Arial"/>
              </a:rPr>
              <a:t> </a:t>
            </a:r>
            <a:r>
              <a:rPr sz="1950" spc="114" dirty="0">
                <a:latin typeface="Arial"/>
                <a:cs typeface="Arial"/>
              </a:rPr>
              <a:t>sum;</a:t>
            </a:r>
            <a:endParaRPr sz="19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sz="1950" spc="100" dirty="0">
                <a:latin typeface="Arial"/>
                <a:cs typeface="Arial"/>
              </a:rPr>
              <a:t>the</a:t>
            </a:r>
            <a:r>
              <a:rPr sz="1950" spc="270" dirty="0">
                <a:latin typeface="Arial"/>
                <a:cs typeface="Arial"/>
              </a:rPr>
              <a:t> </a:t>
            </a:r>
            <a:r>
              <a:rPr sz="1950" spc="120" dirty="0">
                <a:latin typeface="Arial"/>
                <a:cs typeface="Arial"/>
              </a:rPr>
              <a:t>value</a:t>
            </a:r>
            <a:r>
              <a:rPr sz="1950" spc="265" dirty="0">
                <a:latin typeface="Arial"/>
                <a:cs typeface="Arial"/>
              </a:rPr>
              <a:t> </a:t>
            </a:r>
            <a:r>
              <a:rPr sz="1950" spc="80" dirty="0">
                <a:latin typeface="Arial"/>
                <a:cs typeface="Arial"/>
              </a:rPr>
              <a:t>of</a:t>
            </a:r>
            <a:r>
              <a:rPr sz="1950" spc="280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the</a:t>
            </a:r>
            <a:r>
              <a:rPr sz="1950" spc="275" dirty="0">
                <a:latin typeface="Arial"/>
                <a:cs typeface="Arial"/>
              </a:rPr>
              <a:t> </a:t>
            </a:r>
            <a:r>
              <a:rPr sz="1950" spc="130" dirty="0">
                <a:latin typeface="Arial"/>
                <a:cs typeface="Arial"/>
              </a:rPr>
              <a:t>variable</a:t>
            </a:r>
            <a:r>
              <a:rPr sz="1950" spc="260" dirty="0">
                <a:latin typeface="Arial"/>
                <a:cs typeface="Arial"/>
              </a:rPr>
              <a:t> </a:t>
            </a:r>
            <a:r>
              <a:rPr sz="1950" spc="105" dirty="0">
                <a:latin typeface="Arial"/>
                <a:cs typeface="Arial"/>
              </a:rPr>
              <a:t>sum</a:t>
            </a:r>
            <a:r>
              <a:rPr sz="1950" spc="265" dirty="0">
                <a:latin typeface="Arial"/>
                <a:cs typeface="Arial"/>
              </a:rPr>
              <a:t> </a:t>
            </a:r>
            <a:r>
              <a:rPr sz="1950" spc="105" dirty="0">
                <a:latin typeface="Arial"/>
                <a:cs typeface="Arial"/>
              </a:rPr>
              <a:t>can</a:t>
            </a:r>
            <a:r>
              <a:rPr sz="1950" spc="260" dirty="0">
                <a:latin typeface="Arial"/>
                <a:cs typeface="Arial"/>
              </a:rPr>
              <a:t> </a:t>
            </a:r>
            <a:r>
              <a:rPr sz="1950" spc="80" dirty="0">
                <a:latin typeface="Arial"/>
                <a:cs typeface="Arial"/>
              </a:rPr>
              <a:t>be</a:t>
            </a:r>
            <a:r>
              <a:rPr sz="1950" spc="290" dirty="0">
                <a:latin typeface="Arial"/>
                <a:cs typeface="Arial"/>
              </a:rPr>
              <a:t> </a:t>
            </a:r>
            <a:r>
              <a:rPr sz="1950" spc="130" dirty="0">
                <a:latin typeface="Arial"/>
                <a:cs typeface="Arial"/>
              </a:rPr>
              <a:t>anything</a:t>
            </a:r>
            <a:r>
              <a:rPr sz="1950" spc="260" dirty="0">
                <a:latin typeface="Arial"/>
                <a:cs typeface="Arial"/>
              </a:rPr>
              <a:t> </a:t>
            </a:r>
            <a:r>
              <a:rPr sz="1950" spc="135" dirty="0">
                <a:latin typeface="Arial"/>
                <a:cs typeface="Arial"/>
              </a:rPr>
              <a:t>(garbage).</a:t>
            </a:r>
            <a:endParaRPr sz="195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0"/>
              </a:spcBef>
              <a:buFont typeface="Wingdings"/>
              <a:buChar char=""/>
              <a:tabLst>
                <a:tab pos="545465" algn="l"/>
                <a:tab pos="546100" algn="l"/>
              </a:tabLst>
            </a:pPr>
            <a:r>
              <a:rPr sz="1950" spc="120" dirty="0">
                <a:latin typeface="Arial"/>
                <a:cs typeface="Arial"/>
              </a:rPr>
              <a:t>Thus, </a:t>
            </a:r>
            <a:r>
              <a:rPr sz="1950" spc="75" dirty="0">
                <a:latin typeface="Arial"/>
                <a:cs typeface="Arial"/>
              </a:rPr>
              <a:t>it is </a:t>
            </a:r>
            <a:r>
              <a:rPr sz="1950" spc="120" dirty="0">
                <a:latin typeface="Arial"/>
                <a:cs typeface="Arial"/>
              </a:rPr>
              <a:t>good </a:t>
            </a:r>
            <a:r>
              <a:rPr sz="1950" spc="130" dirty="0">
                <a:latin typeface="Arial"/>
                <a:cs typeface="Arial"/>
              </a:rPr>
              <a:t>practice </a:t>
            </a:r>
            <a:r>
              <a:rPr sz="1950" spc="75" dirty="0">
                <a:latin typeface="Arial"/>
                <a:cs typeface="Arial"/>
              </a:rPr>
              <a:t>to </a:t>
            </a:r>
            <a:r>
              <a:rPr sz="1950" spc="135" dirty="0">
                <a:latin typeface="Arial"/>
                <a:cs typeface="Arial"/>
              </a:rPr>
              <a:t>initialize variables </a:t>
            </a:r>
            <a:r>
              <a:rPr sz="1950" spc="110" dirty="0">
                <a:latin typeface="Arial"/>
                <a:cs typeface="Arial"/>
              </a:rPr>
              <a:t>when</a:t>
            </a:r>
            <a:r>
              <a:rPr sz="1950" spc="409" dirty="0">
                <a:latin typeface="Arial"/>
                <a:cs typeface="Arial"/>
              </a:rPr>
              <a:t> </a:t>
            </a:r>
            <a:r>
              <a:rPr sz="1950" spc="114" dirty="0">
                <a:latin typeface="Arial"/>
                <a:cs typeface="Arial"/>
              </a:rPr>
              <a:t>they </a:t>
            </a:r>
            <a:r>
              <a:rPr sz="1950" spc="105" dirty="0">
                <a:latin typeface="Arial"/>
                <a:cs typeface="Arial"/>
              </a:rPr>
              <a:t>are</a:t>
            </a:r>
            <a:endParaRPr sz="195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</a:pPr>
            <a:r>
              <a:rPr sz="1950" spc="135" dirty="0">
                <a:latin typeface="Arial"/>
                <a:cs typeface="Arial"/>
              </a:rPr>
              <a:t>declared.</a:t>
            </a:r>
            <a:endParaRPr sz="1950">
              <a:latin typeface="Arial"/>
              <a:cs typeface="Arial"/>
            </a:endParaRPr>
          </a:p>
          <a:p>
            <a:pPr marL="546100" marR="499745" indent="-533400">
              <a:lnSpc>
                <a:spcPct val="100000"/>
              </a:lnSpc>
              <a:spcBef>
                <a:spcPts val="470"/>
              </a:spcBef>
              <a:buFont typeface="Wingdings"/>
              <a:buChar char=""/>
              <a:tabLst>
                <a:tab pos="545465" algn="l"/>
                <a:tab pos="546100" algn="l"/>
              </a:tabLst>
            </a:pPr>
            <a:r>
              <a:rPr sz="1950" spc="114" dirty="0">
                <a:latin typeface="Arial"/>
                <a:cs typeface="Arial"/>
              </a:rPr>
              <a:t>Once </a:t>
            </a:r>
            <a:r>
              <a:rPr sz="1950" dirty="0">
                <a:latin typeface="Arial"/>
                <a:cs typeface="Arial"/>
              </a:rPr>
              <a:t>a </a:t>
            </a:r>
            <a:r>
              <a:rPr sz="1950" spc="120" dirty="0">
                <a:latin typeface="Arial"/>
                <a:cs typeface="Arial"/>
              </a:rPr>
              <a:t>value </a:t>
            </a:r>
            <a:r>
              <a:rPr sz="1950" spc="105" dirty="0">
                <a:latin typeface="Arial"/>
                <a:cs typeface="Arial"/>
              </a:rPr>
              <a:t>has </a:t>
            </a:r>
            <a:r>
              <a:rPr sz="1950" spc="114" dirty="0">
                <a:latin typeface="Arial"/>
                <a:cs typeface="Arial"/>
              </a:rPr>
              <a:t>been </a:t>
            </a:r>
            <a:r>
              <a:rPr sz="1950" spc="130" dirty="0">
                <a:latin typeface="Arial"/>
                <a:cs typeface="Arial"/>
              </a:rPr>
              <a:t>placed </a:t>
            </a:r>
            <a:r>
              <a:rPr sz="1950" spc="75" dirty="0">
                <a:latin typeface="Arial"/>
                <a:cs typeface="Arial"/>
              </a:rPr>
              <a:t>in </a:t>
            </a:r>
            <a:r>
              <a:rPr sz="1950" dirty="0">
                <a:latin typeface="Arial"/>
                <a:cs typeface="Arial"/>
              </a:rPr>
              <a:t>a </a:t>
            </a:r>
            <a:r>
              <a:rPr sz="1950" spc="130" dirty="0">
                <a:latin typeface="Arial"/>
                <a:cs typeface="Arial"/>
              </a:rPr>
              <a:t>variable </a:t>
            </a:r>
            <a:r>
              <a:rPr sz="1950" spc="75" dirty="0">
                <a:latin typeface="Arial"/>
                <a:cs typeface="Arial"/>
              </a:rPr>
              <a:t>it </a:t>
            </a:r>
            <a:r>
              <a:rPr sz="1950" spc="120" dirty="0">
                <a:latin typeface="Arial"/>
                <a:cs typeface="Arial"/>
              </a:rPr>
              <a:t>stays there  until </a:t>
            </a:r>
            <a:r>
              <a:rPr sz="1950" spc="100" dirty="0">
                <a:latin typeface="Arial"/>
                <a:cs typeface="Arial"/>
              </a:rPr>
              <a:t>the </a:t>
            </a:r>
            <a:r>
              <a:rPr sz="1950" spc="130" dirty="0">
                <a:latin typeface="Arial"/>
                <a:cs typeface="Arial"/>
              </a:rPr>
              <a:t>program </a:t>
            </a:r>
            <a:r>
              <a:rPr sz="1950" spc="125" dirty="0">
                <a:latin typeface="Arial"/>
                <a:cs typeface="Arial"/>
              </a:rPr>
              <a:t>alters</a:t>
            </a:r>
            <a:r>
              <a:rPr sz="1950" spc="690" dirty="0">
                <a:latin typeface="Arial"/>
                <a:cs typeface="Arial"/>
              </a:rPr>
              <a:t> </a:t>
            </a:r>
            <a:r>
              <a:rPr sz="1950" spc="100" dirty="0">
                <a:latin typeface="Arial"/>
                <a:cs typeface="Arial"/>
              </a:rPr>
              <a:t>it.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525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1061"/>
            <a:ext cx="8012430" cy="421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Arial"/>
                <a:cs typeface="Arial"/>
              </a:rPr>
              <a:t>There are three classes of data types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here::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1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Primitive </a:t>
            </a:r>
            <a:r>
              <a:rPr sz="30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</a:t>
            </a:r>
            <a:r>
              <a:rPr sz="30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types</a:t>
            </a:r>
            <a:endParaRPr sz="3000">
              <a:latin typeface="Arial"/>
              <a:cs typeface="Arial"/>
            </a:endParaRPr>
          </a:p>
          <a:p>
            <a:pPr marL="756285" lvl="1" indent="-287020">
              <a:lnSpc>
                <a:spcPts val="311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dirty="0">
                <a:latin typeface="Arial"/>
                <a:cs typeface="Arial"/>
              </a:rPr>
              <a:t>int, float, double,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char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ts val="3590"/>
              </a:lnSpc>
              <a:buChar char="•"/>
              <a:tabLst>
                <a:tab pos="354965" algn="l"/>
                <a:tab pos="355600" algn="l"/>
              </a:tabLst>
            </a:pPr>
            <a:r>
              <a:rPr sz="3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Aggregate OR derived data</a:t>
            </a:r>
            <a:r>
              <a:rPr sz="3000" u="heavy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types</a:t>
            </a:r>
            <a:endParaRPr sz="3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Char char="–"/>
              <a:tabLst>
                <a:tab pos="756920" algn="l"/>
              </a:tabLst>
            </a:pPr>
            <a:r>
              <a:rPr sz="2600" dirty="0">
                <a:latin typeface="Arial"/>
                <a:cs typeface="Arial"/>
              </a:rPr>
              <a:t>Arrays come under </a:t>
            </a:r>
            <a:r>
              <a:rPr sz="2600" spc="-5" dirty="0">
                <a:latin typeface="Arial"/>
                <a:cs typeface="Arial"/>
              </a:rPr>
              <a:t>this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category</a:t>
            </a:r>
            <a:endParaRPr sz="2600">
              <a:latin typeface="Arial"/>
              <a:cs typeface="Arial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620"/>
              </a:spcBef>
              <a:buChar char="–"/>
              <a:tabLst>
                <a:tab pos="756920" algn="l"/>
              </a:tabLst>
            </a:pPr>
            <a:r>
              <a:rPr sz="2600" dirty="0">
                <a:latin typeface="Arial"/>
                <a:cs typeface="Arial"/>
              </a:rPr>
              <a:t>Arrays can contain collection of int or float or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char  or double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data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ts val="3585"/>
              </a:lnSpc>
              <a:buChar char="•"/>
              <a:tabLst>
                <a:tab pos="354965" algn="l"/>
                <a:tab pos="355600" algn="l"/>
              </a:tabLst>
            </a:pPr>
            <a:r>
              <a:rPr sz="3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 defined data</a:t>
            </a:r>
            <a:r>
              <a:rPr sz="3000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types</a:t>
            </a:r>
            <a:endParaRPr sz="3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Char char="–"/>
              <a:tabLst>
                <a:tab pos="756920" algn="l"/>
              </a:tabLst>
            </a:pPr>
            <a:r>
              <a:rPr sz="2600" dirty="0">
                <a:latin typeface="Arial"/>
                <a:cs typeface="Arial"/>
              </a:rPr>
              <a:t>Structures and enum fall under this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category.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3351" y="461899"/>
            <a:ext cx="47974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spc="-1100" dirty="0">
                <a:latin typeface="Times New Roman"/>
                <a:cs typeface="Times New Roman"/>
              </a:rPr>
              <a:t> </a:t>
            </a:r>
            <a:r>
              <a:rPr spc="-165" dirty="0"/>
              <a:t>Data </a:t>
            </a:r>
            <a:r>
              <a:rPr spc="-335" dirty="0"/>
              <a:t>types </a:t>
            </a:r>
            <a:r>
              <a:rPr spc="-254" dirty="0"/>
              <a:t>in </a:t>
            </a:r>
            <a:r>
              <a:rPr spc="-310" dirty="0"/>
              <a:t>‘ansi</a:t>
            </a:r>
            <a:r>
              <a:rPr spc="-215" dirty="0"/>
              <a:t> </a:t>
            </a:r>
            <a:r>
              <a:rPr spc="-370" dirty="0"/>
              <a:t>c’</a:t>
            </a:r>
          </a:p>
        </p:txBody>
      </p:sp>
    </p:spTree>
    <p:extLst>
      <p:ext uri="{BB962C8B-B14F-4D97-AF65-F5344CB8AC3E}">
        <p14:creationId xmlns:p14="http://schemas.microsoft.com/office/powerpoint/2010/main" val="167296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smtClean="0"/>
              <a:t>Datatypes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Primary(Built-in) Data Types:</a:t>
            </a:r>
          </a:p>
          <a:p>
            <a:pPr marL="0" indent="0">
              <a:buNone/>
            </a:pPr>
            <a:r>
              <a:rPr lang="en-IN" dirty="0" smtClean="0"/>
              <a:t>   void</a:t>
            </a:r>
            <a:r>
              <a:rPr lang="en-IN" dirty="0"/>
              <a:t>, </a:t>
            </a:r>
            <a:r>
              <a:rPr lang="en-IN" dirty="0" err="1"/>
              <a:t>int</a:t>
            </a:r>
            <a:r>
              <a:rPr lang="en-IN" dirty="0"/>
              <a:t>, char, double and float.</a:t>
            </a:r>
          </a:p>
          <a:p>
            <a:r>
              <a:rPr lang="en-IN" dirty="0"/>
              <a:t>Derived Data Types:</a:t>
            </a:r>
          </a:p>
          <a:p>
            <a:pPr marL="0" indent="0">
              <a:buNone/>
            </a:pPr>
            <a:r>
              <a:rPr lang="en-IN" dirty="0" smtClean="0"/>
              <a:t>   Array</a:t>
            </a:r>
            <a:r>
              <a:rPr lang="en-IN" dirty="0"/>
              <a:t>, References, and Pointers.</a:t>
            </a:r>
          </a:p>
          <a:p>
            <a:r>
              <a:rPr lang="en-IN" dirty="0"/>
              <a:t>User Defined Data Types:</a:t>
            </a:r>
          </a:p>
          <a:p>
            <a:pPr marL="0" indent="0">
              <a:buNone/>
            </a:pPr>
            <a:r>
              <a:rPr lang="en-IN" dirty="0" smtClean="0"/>
              <a:t>   Structure</a:t>
            </a:r>
            <a:r>
              <a:rPr lang="en-IN" dirty="0"/>
              <a:t>, Union, and Enumeration.</a:t>
            </a:r>
          </a:p>
        </p:txBody>
      </p:sp>
    </p:spTree>
    <p:extLst>
      <p:ext uri="{BB962C8B-B14F-4D97-AF65-F5344CB8AC3E}">
        <p14:creationId xmlns:p14="http://schemas.microsoft.com/office/powerpoint/2010/main" val="202179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Data </a:t>
            </a:r>
            <a:r>
              <a:rPr spc="-415" dirty="0"/>
              <a:t>Types- </a:t>
            </a:r>
            <a:r>
              <a:rPr spc="-200" dirty="0"/>
              <a:t>different</a:t>
            </a:r>
            <a:r>
              <a:rPr spc="-165" dirty="0"/>
              <a:t> </a:t>
            </a:r>
            <a:r>
              <a:rPr spc="-204" dirty="0"/>
              <a:t>attributes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8450" y="1746250"/>
          <a:ext cx="8457562" cy="4724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4875"/>
                <a:gridCol w="1183004"/>
                <a:gridCol w="1782445"/>
                <a:gridCol w="1597659"/>
                <a:gridCol w="1719579"/>
              </a:tblGrid>
              <a:tr h="3270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35" dirty="0">
                          <a:latin typeface="Arial"/>
                          <a:cs typeface="Arial"/>
                        </a:rPr>
                        <a:t>Type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Size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Representation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Minimum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Maximum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range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9979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20" dirty="0">
                          <a:latin typeface="Liberation Sans Narrow"/>
                          <a:cs typeface="Liberation Sans Narrow"/>
                        </a:rPr>
                        <a:t>char,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signed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char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8</a:t>
                      </a:r>
                      <a:r>
                        <a:rPr sz="1600" b="1" spc="-1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ASCII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-128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127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unsigned</a:t>
                      </a:r>
                      <a:r>
                        <a:rPr sz="1600" b="1" spc="-3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char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bool 8</a:t>
                      </a:r>
                      <a:r>
                        <a:rPr sz="1600" b="1" spc="-4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ASCII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dirty="0">
                          <a:latin typeface="Liberation Sans Narrow"/>
                          <a:cs typeface="Liberation Sans Narrow"/>
                        </a:rPr>
                        <a:t>0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255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66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short, </a:t>
                      </a: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signed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short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16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2's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complement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-32768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32767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unsigned</a:t>
                      </a:r>
                      <a:r>
                        <a:rPr sz="1600" b="1" spc="-3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short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16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Binary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dirty="0">
                          <a:latin typeface="Liberation Sans Narrow"/>
                          <a:cs typeface="Liberation Sans Narrow"/>
                        </a:rPr>
                        <a:t>0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65535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int, signed</a:t>
                      </a:r>
                      <a:r>
                        <a:rPr sz="1600" b="1" spc="-3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int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16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2's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complement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-32768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32767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9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unsigned</a:t>
                      </a:r>
                      <a:r>
                        <a:rPr sz="1600" b="1" spc="-3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int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16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Binary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dirty="0">
                          <a:latin typeface="Liberation Sans Narrow"/>
                          <a:cs typeface="Liberation Sans Narrow"/>
                        </a:rPr>
                        <a:t>0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65535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66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long, signed</a:t>
                      </a:r>
                      <a:r>
                        <a:rPr sz="1600" b="1" spc="-4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long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</a:t>
                      </a:r>
                      <a:r>
                        <a:rPr sz="1600" b="1" spc="-3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2's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complement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-2,147,483,648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2,147,483,647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unsigned</a:t>
                      </a:r>
                      <a:r>
                        <a:rPr sz="1600" b="1" spc="-3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long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Binary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dirty="0">
                          <a:latin typeface="Liberation Sans Narrow"/>
                          <a:cs typeface="Liberation Sans Narrow"/>
                        </a:rPr>
                        <a:t>0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4,294,967,295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float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IEEE</a:t>
                      </a: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32-bit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1.175495e-38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3.4028235e+38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5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double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IEEE</a:t>
                      </a: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32-bit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1.175495e-38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3.4028235e+38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75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long</a:t>
                      </a:r>
                      <a:r>
                        <a:rPr sz="1600" b="1" spc="-2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double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</a:t>
                      </a:r>
                      <a:r>
                        <a:rPr sz="1600" b="1" spc="-2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bits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IEEE</a:t>
                      </a: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600" b="1" spc="-5" dirty="0">
                          <a:latin typeface="Liberation Sans Narrow"/>
                          <a:cs typeface="Liberation Sans Narrow"/>
                        </a:rPr>
                        <a:t>32-bit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1.175495e-38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Liberation Sans Narrow"/>
                          <a:cs typeface="Liberation Sans Narrow"/>
                        </a:rPr>
                        <a:t>3.4028235e+38</a:t>
                      </a:r>
                      <a:endParaRPr sz="16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82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918157"/>
            <a:ext cx="4113529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2400" spc="-15" dirty="0">
                <a:latin typeface="Trebuchet MS"/>
                <a:cs typeface="Trebuchet MS"/>
              </a:rPr>
              <a:t>/*	</a:t>
            </a:r>
            <a:r>
              <a:rPr sz="2400" spc="-175" dirty="0">
                <a:latin typeface="Trebuchet MS"/>
                <a:cs typeface="Trebuchet MS"/>
              </a:rPr>
              <a:t>HELLO.C </a:t>
            </a:r>
            <a:r>
              <a:rPr sz="2400" spc="-150" dirty="0">
                <a:latin typeface="Trebuchet MS"/>
                <a:cs typeface="Trebuchet MS"/>
              </a:rPr>
              <a:t>-- Hello, </a:t>
            </a:r>
            <a:r>
              <a:rPr sz="2400" spc="-95" dirty="0">
                <a:latin typeface="Trebuchet MS"/>
                <a:cs typeface="Trebuchet MS"/>
              </a:rPr>
              <a:t>world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*/</a:t>
            </a:r>
            <a:endParaRPr sz="2400" dirty="0">
              <a:latin typeface="Trebuchet MS"/>
              <a:cs typeface="Trebuchet MS"/>
            </a:endParaRPr>
          </a:p>
          <a:p>
            <a:pPr marL="12700" marR="1825625">
              <a:lnSpc>
                <a:spcPct val="200000"/>
              </a:lnSpc>
              <a:spcBef>
                <a:spcPts val="5"/>
              </a:spcBef>
            </a:pPr>
            <a:r>
              <a:rPr sz="2400" spc="-105" dirty="0">
                <a:latin typeface="Trebuchet MS"/>
                <a:cs typeface="Trebuchet MS"/>
              </a:rPr>
              <a:t>#include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&lt;stdio.h&gt;  </a:t>
            </a:r>
            <a:r>
              <a:rPr sz="2400" spc="-100" dirty="0">
                <a:latin typeface="Trebuchet MS"/>
                <a:cs typeface="Trebuchet MS"/>
              </a:rPr>
              <a:t>Void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main()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130" dirty="0">
                <a:latin typeface="Trebuchet MS"/>
                <a:cs typeface="Trebuchet MS"/>
              </a:rPr>
              <a:t>{</a:t>
            </a:r>
            <a:endParaRPr sz="24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2400" spc="-110" dirty="0">
                <a:latin typeface="Trebuchet MS"/>
                <a:cs typeface="Trebuchet MS"/>
              </a:rPr>
              <a:t>printf("Hello,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world\n");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30" dirty="0">
                <a:latin typeface="Trebuchet MS"/>
                <a:cs typeface="Trebuchet MS"/>
              </a:rPr>
              <a:t>}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5147" y="309117"/>
            <a:ext cx="4632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i="0" spc="-900" dirty="0">
                <a:latin typeface="Times New Roman"/>
                <a:cs typeface="Times New Roman"/>
              </a:rPr>
              <a:t> </a:t>
            </a:r>
            <a:r>
              <a:rPr sz="3600" spc="-310" dirty="0"/>
              <a:t>Example </a:t>
            </a:r>
            <a:r>
              <a:rPr sz="3600" spc="-190" dirty="0"/>
              <a:t>of </a:t>
            </a:r>
            <a:r>
              <a:rPr sz="3600" spc="-365" dirty="0"/>
              <a:t>“C”</a:t>
            </a:r>
            <a:r>
              <a:rPr sz="3600" spc="-130" dirty="0"/>
              <a:t> </a:t>
            </a:r>
            <a:r>
              <a:rPr sz="3600" spc="-260" dirty="0"/>
              <a:t>Program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81371" y="2061972"/>
            <a:ext cx="4086225" cy="3395979"/>
            <a:chOff x="4881371" y="2061972"/>
            <a:chExt cx="4086225" cy="3395979"/>
          </a:xfrm>
        </p:grpSpPr>
        <p:sp>
          <p:nvSpPr>
            <p:cNvPr id="5" name="object 5"/>
            <p:cNvSpPr/>
            <p:nvPr/>
          </p:nvSpPr>
          <p:spPr>
            <a:xfrm>
              <a:off x="4881371" y="2061972"/>
              <a:ext cx="4085844" cy="33954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52999" y="2133600"/>
              <a:ext cx="3888257" cy="31980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30139" y="2110740"/>
              <a:ext cx="3934460" cy="3244215"/>
            </a:xfrm>
            <a:custGeom>
              <a:avLst/>
              <a:gdLst/>
              <a:ahLst/>
              <a:cxnLst/>
              <a:rect l="l" t="t" r="r" b="b"/>
              <a:pathLst>
                <a:path w="3934459" h="3244215">
                  <a:moveTo>
                    <a:pt x="565785" y="0"/>
                  </a:moveTo>
                  <a:lnTo>
                    <a:pt x="3933952" y="770636"/>
                  </a:lnTo>
                  <a:lnTo>
                    <a:pt x="3368040" y="3243707"/>
                  </a:lnTo>
                  <a:lnTo>
                    <a:pt x="0" y="2473198"/>
                  </a:lnTo>
                  <a:lnTo>
                    <a:pt x="565785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7242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" y="6476999"/>
              <a:ext cx="381000" cy="380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8418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590</Words>
  <Application>Microsoft Office PowerPoint</Application>
  <PresentationFormat>On-screen Show (4:3)</PresentationFormat>
  <Paragraphs>174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 Programming</vt:lpstr>
      <vt:lpstr> Basic Structure Of “C” Programs</vt:lpstr>
      <vt:lpstr>Header files</vt:lpstr>
      <vt:lpstr>Main function</vt:lpstr>
      <vt:lpstr> Running a ‘C’ Program</vt:lpstr>
      <vt:lpstr>DECLARATIONS</vt:lpstr>
      <vt:lpstr>What Are Variables in C?</vt:lpstr>
      <vt:lpstr>Naming Variables</vt:lpstr>
      <vt:lpstr>Case Sensitivity</vt:lpstr>
      <vt:lpstr>Declaring Variables</vt:lpstr>
      <vt:lpstr> Data types in ‘ansi c’</vt:lpstr>
      <vt:lpstr>Types Of Datatypes</vt:lpstr>
      <vt:lpstr>Data Types- different attributes</vt:lpstr>
      <vt:lpstr> Example of “C” Program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</dc:title>
  <dc:creator>gift</dc:creator>
  <cp:lastModifiedBy>Jyotsna</cp:lastModifiedBy>
  <cp:revision>10</cp:revision>
  <dcterms:created xsi:type="dcterms:W3CDTF">2006-08-16T00:00:00Z</dcterms:created>
  <dcterms:modified xsi:type="dcterms:W3CDTF">2021-06-26T04:31:30Z</dcterms:modified>
</cp:coreProperties>
</file>