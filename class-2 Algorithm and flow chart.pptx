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72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7" r:id="rId28"/>
    <p:sldId id="288" r:id="rId29"/>
    <p:sldId id="289" r:id="rId30"/>
    <p:sldId id="290" r:id="rId31"/>
    <p:sldId id="291" r:id="rId32"/>
    <p:sldId id="292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981200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FF0000"/>
                </a:solidFill>
              </a:rPr>
              <a:t>Representation of Algorithm and Flowchart</a:t>
            </a:r>
            <a:endParaRPr lang="en-IN" sz="54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US" sz="4000" dirty="0" smtClean="0">
                <a:solidFill>
                  <a:srgbClr val="7030A0"/>
                </a:solidFill>
              </a:rPr>
              <a:t>Prepared By:</a:t>
            </a:r>
          </a:p>
          <a:p>
            <a:pPr algn="l"/>
            <a:r>
              <a:rPr lang="en-US" sz="4000" dirty="0" smtClean="0">
                <a:solidFill>
                  <a:srgbClr val="7030A0"/>
                </a:solidFill>
              </a:rPr>
              <a:t>Asst. Prof. </a:t>
            </a:r>
            <a:r>
              <a:rPr lang="en-US" sz="4000" dirty="0" err="1" smtClean="0">
                <a:solidFill>
                  <a:srgbClr val="7030A0"/>
                </a:solidFill>
              </a:rPr>
              <a:t>Jyotsnarani</a:t>
            </a:r>
            <a:r>
              <a:rPr lang="en-US" sz="4000" dirty="0" smtClean="0">
                <a:solidFill>
                  <a:srgbClr val="7030A0"/>
                </a:solidFill>
              </a:rPr>
              <a:t> </a:t>
            </a:r>
            <a:r>
              <a:rPr lang="en-US" sz="4000" dirty="0" err="1" smtClean="0">
                <a:solidFill>
                  <a:srgbClr val="7030A0"/>
                </a:solidFill>
              </a:rPr>
              <a:t>Tripathy</a:t>
            </a:r>
            <a:endParaRPr lang="en-US" sz="4000" dirty="0" smtClean="0">
              <a:solidFill>
                <a:srgbClr val="7030A0"/>
              </a:solidFill>
            </a:endParaRPr>
          </a:p>
          <a:p>
            <a:endParaRPr lang="en-US" sz="4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49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tr-TR" b="1" dirty="0">
                <a:solidFill>
                  <a:srgbClr val="F8742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endParaRPr lang="en-US" b="1" dirty="0">
              <a:solidFill>
                <a:srgbClr val="F874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algorithm</a:t>
            </a:r>
            <a:r>
              <a:rPr lang="en-US" dirty="0"/>
              <a:t> is a step-by-step procedure for</a:t>
            </a:r>
          </a:p>
          <a:p>
            <a:pPr marL="0" indent="0">
              <a:buNone/>
            </a:pPr>
            <a:r>
              <a:rPr lang="en-US" dirty="0" smtClean="0"/>
              <a:t>    solving </a:t>
            </a:r>
            <a:r>
              <a:rPr lang="en-US" dirty="0"/>
              <a:t>a problem in a finite amount of time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dirty="0"/>
              <a:t>An </a:t>
            </a:r>
            <a:r>
              <a:rPr lang="en-US" b="1" dirty="0">
                <a:solidFill>
                  <a:srgbClr val="00CC00"/>
                </a:solidFill>
              </a:rPr>
              <a:t>algorithm</a:t>
            </a:r>
            <a:r>
              <a:rPr lang="en-US" dirty="0"/>
              <a:t> is a procedure (a finite set of well-defined instructions) for accomplishing some tasks which,</a:t>
            </a:r>
          </a:p>
          <a:p>
            <a:pPr marL="0" indent="0">
              <a:lnSpc>
                <a:spcPct val="80000"/>
              </a:lnSpc>
            </a:pPr>
            <a:r>
              <a:rPr lang="en-US" dirty="0"/>
              <a:t> given an </a:t>
            </a:r>
            <a:r>
              <a:rPr lang="en-US" i="1" dirty="0"/>
              <a:t>initial state</a:t>
            </a:r>
          </a:p>
          <a:p>
            <a:pPr marL="0" indent="0">
              <a:lnSpc>
                <a:spcPct val="80000"/>
              </a:lnSpc>
            </a:pPr>
            <a:r>
              <a:rPr lang="en-US" dirty="0"/>
              <a:t> terminate in a </a:t>
            </a:r>
            <a:r>
              <a:rPr lang="en-US" i="1" dirty="0"/>
              <a:t>defined end-state</a:t>
            </a:r>
          </a:p>
        </p:txBody>
      </p:sp>
    </p:spTree>
    <p:extLst>
      <p:ext uri="{BB962C8B-B14F-4D97-AF65-F5344CB8AC3E}">
        <p14:creationId xmlns:p14="http://schemas.microsoft.com/office/powerpoint/2010/main" val="140583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Cont..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10" dirty="0">
                <a:latin typeface="Arial"/>
                <a:cs typeface="Arial"/>
              </a:rPr>
              <a:t>word </a:t>
            </a:r>
            <a:r>
              <a:rPr lang="en-IN" spc="-5" dirty="0">
                <a:latin typeface="Arial"/>
                <a:cs typeface="Arial"/>
              </a:rPr>
              <a:t>“algorithm” relates </a:t>
            </a:r>
            <a:r>
              <a:rPr lang="en-IN" dirty="0">
                <a:latin typeface="Arial"/>
                <a:cs typeface="Arial"/>
              </a:rPr>
              <a:t>to the </a:t>
            </a:r>
            <a:r>
              <a:rPr lang="en-IN" spc="-5" dirty="0">
                <a:latin typeface="Arial"/>
                <a:cs typeface="Arial"/>
              </a:rPr>
              <a:t>name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mathematician Al-</a:t>
            </a:r>
            <a:r>
              <a:rPr lang="en-IN" spc="-5" dirty="0" err="1">
                <a:latin typeface="Arial"/>
                <a:cs typeface="Arial"/>
              </a:rPr>
              <a:t>khowarizmi</a:t>
            </a:r>
            <a:r>
              <a:rPr lang="en-IN" spc="-5" dirty="0">
                <a:latin typeface="Arial"/>
                <a:cs typeface="Arial"/>
              </a:rPr>
              <a:t>, which </a:t>
            </a:r>
            <a:r>
              <a:rPr lang="en-IN" dirty="0">
                <a:latin typeface="Arial"/>
                <a:cs typeface="Arial"/>
              </a:rPr>
              <a:t>means  a </a:t>
            </a:r>
            <a:r>
              <a:rPr lang="en-IN" spc="-5" dirty="0">
                <a:latin typeface="Arial"/>
                <a:cs typeface="Arial"/>
              </a:rPr>
              <a:t>procedure </a:t>
            </a:r>
            <a:r>
              <a:rPr lang="en-IN" dirty="0">
                <a:latin typeface="Arial"/>
                <a:cs typeface="Arial"/>
              </a:rPr>
              <a:t>or a </a:t>
            </a:r>
            <a:r>
              <a:rPr lang="en-IN" spc="-5" dirty="0" smtClean="0">
                <a:latin typeface="Arial"/>
                <a:cs typeface="Arial"/>
              </a:rPr>
              <a:t>technique</a:t>
            </a:r>
          </a:p>
          <a:p>
            <a:r>
              <a:rPr lang="en-IN" spc="-5" dirty="0">
                <a:latin typeface="Arial"/>
                <a:cs typeface="Arial"/>
              </a:rPr>
              <a:t>An algorithm is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sequence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steps to </a:t>
            </a:r>
            <a:r>
              <a:rPr lang="en-IN" spc="-5" dirty="0">
                <a:latin typeface="Arial"/>
                <a:cs typeface="Arial"/>
              </a:rPr>
              <a:t>solve </a:t>
            </a:r>
            <a:r>
              <a:rPr lang="en-IN" dirty="0">
                <a:latin typeface="Arial"/>
                <a:cs typeface="Arial"/>
              </a:rPr>
              <a:t>a particular problem  </a:t>
            </a:r>
            <a:r>
              <a:rPr lang="en-IN" spc="-5" dirty="0">
                <a:latin typeface="Arial"/>
                <a:cs typeface="Arial"/>
              </a:rPr>
              <a:t>or algorithm is </a:t>
            </a:r>
            <a:r>
              <a:rPr lang="en-IN" dirty="0">
                <a:latin typeface="Arial"/>
                <a:cs typeface="Arial"/>
              </a:rPr>
              <a:t>an </a:t>
            </a:r>
            <a:r>
              <a:rPr lang="en-IN" spc="-5" dirty="0">
                <a:latin typeface="Arial"/>
                <a:cs typeface="Arial"/>
              </a:rPr>
              <a:t>ordered </a:t>
            </a:r>
            <a:r>
              <a:rPr lang="en-IN" dirty="0">
                <a:latin typeface="Arial"/>
                <a:cs typeface="Arial"/>
              </a:rPr>
              <a:t>set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spc="-5" dirty="0">
                <a:latin typeface="Arial"/>
                <a:cs typeface="Arial"/>
              </a:rPr>
              <a:t>unambiguous steps that produces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result </a:t>
            </a:r>
            <a:r>
              <a:rPr lang="en-IN" dirty="0">
                <a:latin typeface="Arial"/>
                <a:cs typeface="Arial"/>
              </a:rPr>
              <a:t>and </a:t>
            </a:r>
            <a:r>
              <a:rPr lang="en-IN" spc="-5" dirty="0">
                <a:latin typeface="Arial"/>
                <a:cs typeface="Arial"/>
              </a:rPr>
              <a:t>terminates in  </a:t>
            </a:r>
            <a:r>
              <a:rPr lang="en-IN" dirty="0">
                <a:latin typeface="Arial"/>
                <a:cs typeface="Arial"/>
              </a:rPr>
              <a:t>a finite</a:t>
            </a:r>
            <a:r>
              <a:rPr lang="en-IN" spc="-2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time</a:t>
            </a:r>
            <a:endParaRPr lang="en-IN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39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Cont..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876800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000" spc="-5" smtClean="0">
                <a:latin typeface="Arial"/>
                <a:cs typeface="Arial"/>
              </a:rPr>
              <a:t>Algorithm </a:t>
            </a:r>
            <a:r>
              <a:rPr lang="en-IN" sz="2000" spc="-5" dirty="0">
                <a:latin typeface="Arial"/>
                <a:cs typeface="Arial"/>
              </a:rPr>
              <a:t>has </a:t>
            </a:r>
            <a:r>
              <a:rPr lang="en-IN" sz="2000" dirty="0">
                <a:latin typeface="Arial"/>
                <a:cs typeface="Arial"/>
              </a:rPr>
              <a:t>the </a:t>
            </a:r>
            <a:r>
              <a:rPr lang="en-IN" sz="2000" spc="-5" dirty="0">
                <a:latin typeface="Arial"/>
                <a:cs typeface="Arial"/>
              </a:rPr>
              <a:t>following characteristics</a:t>
            </a:r>
            <a:endParaRPr lang="en-IN"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926465" indent="-229235"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lang="en-IN" sz="2000" b="1" spc="-5" dirty="0">
                <a:latin typeface="Arial"/>
                <a:cs typeface="Arial"/>
              </a:rPr>
              <a:t>Input</a:t>
            </a:r>
            <a:r>
              <a:rPr lang="en-IN" sz="2000" spc="-5" dirty="0">
                <a:latin typeface="Arial"/>
                <a:cs typeface="Arial"/>
              </a:rPr>
              <a:t>: An algorithm </a:t>
            </a:r>
            <a:r>
              <a:rPr lang="en-IN" sz="2000" dirty="0">
                <a:latin typeface="Arial"/>
                <a:cs typeface="Arial"/>
              </a:rPr>
              <a:t>may or may not </a:t>
            </a:r>
            <a:r>
              <a:rPr lang="en-IN" sz="2000" spc="-5" dirty="0">
                <a:latin typeface="Arial"/>
                <a:cs typeface="Arial"/>
              </a:rPr>
              <a:t>require</a:t>
            </a:r>
            <a:r>
              <a:rPr lang="en-IN" sz="2000" spc="-35" dirty="0">
                <a:latin typeface="Arial"/>
                <a:cs typeface="Arial"/>
              </a:rPr>
              <a:t> </a:t>
            </a:r>
            <a:r>
              <a:rPr lang="en-IN" sz="2000" spc="-5" dirty="0">
                <a:latin typeface="Arial"/>
                <a:cs typeface="Arial"/>
              </a:rPr>
              <a:t>input</a:t>
            </a:r>
            <a:endParaRPr lang="en-IN" sz="2000" dirty="0">
              <a:latin typeface="Arial"/>
              <a:cs typeface="Arial"/>
            </a:endParaRPr>
          </a:p>
          <a:p>
            <a:pPr marL="926465" indent="-229235">
              <a:spcBef>
                <a:spcPts val="944"/>
              </a:spcBef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lang="en-IN" sz="2000" b="1" spc="-5" dirty="0">
                <a:latin typeface="Arial"/>
                <a:cs typeface="Arial"/>
              </a:rPr>
              <a:t>Output: </a:t>
            </a:r>
            <a:r>
              <a:rPr lang="en-IN" sz="2000" dirty="0">
                <a:latin typeface="Arial"/>
                <a:cs typeface="Arial"/>
              </a:rPr>
              <a:t>Each </a:t>
            </a:r>
            <a:r>
              <a:rPr lang="en-IN" sz="2000" spc="-5" dirty="0">
                <a:latin typeface="Arial"/>
                <a:cs typeface="Arial"/>
              </a:rPr>
              <a:t>algorithm is expected </a:t>
            </a:r>
            <a:r>
              <a:rPr lang="en-IN" sz="2000" dirty="0">
                <a:latin typeface="Arial"/>
                <a:cs typeface="Arial"/>
              </a:rPr>
              <a:t>to produce </a:t>
            </a:r>
            <a:r>
              <a:rPr lang="en-IN" sz="2000" spc="-10" dirty="0">
                <a:latin typeface="Arial"/>
                <a:cs typeface="Arial"/>
              </a:rPr>
              <a:t>at </a:t>
            </a:r>
            <a:r>
              <a:rPr lang="en-IN" sz="2000" spc="-5" dirty="0">
                <a:latin typeface="Arial"/>
                <a:cs typeface="Arial"/>
              </a:rPr>
              <a:t>least </a:t>
            </a:r>
            <a:r>
              <a:rPr lang="en-IN" sz="2000" dirty="0">
                <a:latin typeface="Arial"/>
                <a:cs typeface="Arial"/>
              </a:rPr>
              <a:t>one</a:t>
            </a:r>
            <a:r>
              <a:rPr lang="en-IN" sz="2000" spc="35" dirty="0">
                <a:latin typeface="Arial"/>
                <a:cs typeface="Arial"/>
              </a:rPr>
              <a:t> </a:t>
            </a:r>
            <a:r>
              <a:rPr lang="en-IN" sz="2000" spc="-5" dirty="0">
                <a:latin typeface="Arial"/>
                <a:cs typeface="Arial"/>
              </a:rPr>
              <a:t>result</a:t>
            </a:r>
            <a:endParaRPr lang="en-IN" sz="2000" dirty="0">
              <a:latin typeface="Arial"/>
              <a:cs typeface="Arial"/>
            </a:endParaRPr>
          </a:p>
          <a:p>
            <a:pPr marL="926465" indent="-229235">
              <a:spcBef>
                <a:spcPts val="940"/>
              </a:spcBef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lang="en-IN" sz="2000" b="1" dirty="0">
                <a:latin typeface="Arial"/>
                <a:cs typeface="Arial"/>
              </a:rPr>
              <a:t>Definiteness</a:t>
            </a:r>
            <a:r>
              <a:rPr lang="en-IN" sz="2000" dirty="0">
                <a:latin typeface="Arial"/>
                <a:cs typeface="Arial"/>
              </a:rPr>
              <a:t>: </a:t>
            </a:r>
            <a:r>
              <a:rPr lang="en-IN" sz="2000" spc="-5" dirty="0">
                <a:latin typeface="Arial"/>
                <a:cs typeface="Arial"/>
              </a:rPr>
              <a:t>Each instruction must </a:t>
            </a:r>
            <a:r>
              <a:rPr lang="en-IN" sz="2000" dirty="0">
                <a:latin typeface="Arial"/>
                <a:cs typeface="Arial"/>
              </a:rPr>
              <a:t>be </a:t>
            </a:r>
            <a:r>
              <a:rPr lang="en-IN" sz="2000" spc="-5" dirty="0">
                <a:latin typeface="Arial"/>
                <a:cs typeface="Arial"/>
              </a:rPr>
              <a:t>clear and</a:t>
            </a:r>
            <a:r>
              <a:rPr lang="en-IN" sz="2000" spc="15" dirty="0">
                <a:latin typeface="Arial"/>
                <a:cs typeface="Arial"/>
              </a:rPr>
              <a:t> </a:t>
            </a:r>
            <a:r>
              <a:rPr lang="en-IN" sz="2000" spc="-5" dirty="0">
                <a:latin typeface="Arial"/>
                <a:cs typeface="Arial"/>
              </a:rPr>
              <a:t>unambiguous.</a:t>
            </a:r>
            <a:endParaRPr lang="en-IN" sz="2000" dirty="0">
              <a:latin typeface="Arial"/>
              <a:cs typeface="Arial"/>
            </a:endParaRPr>
          </a:p>
          <a:p>
            <a:pPr marL="926465" marR="307975" indent="-228600">
              <a:lnSpc>
                <a:spcPts val="1280"/>
              </a:lnSpc>
              <a:spcBef>
                <a:spcPts val="1010"/>
              </a:spcBef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lang="en-IN" sz="2000" b="1" dirty="0">
                <a:latin typeface="Arial"/>
                <a:cs typeface="Arial"/>
              </a:rPr>
              <a:t>Finiteness</a:t>
            </a:r>
            <a:r>
              <a:rPr lang="en-IN" sz="2000" dirty="0">
                <a:latin typeface="Arial"/>
                <a:cs typeface="Arial"/>
              </a:rPr>
              <a:t>: </a:t>
            </a:r>
            <a:r>
              <a:rPr lang="en-IN" sz="2000" spc="-5" dirty="0">
                <a:latin typeface="Arial"/>
                <a:cs typeface="Arial"/>
              </a:rPr>
              <a:t>If </a:t>
            </a:r>
            <a:r>
              <a:rPr lang="en-IN" sz="2000" dirty="0">
                <a:latin typeface="Arial"/>
                <a:cs typeface="Arial"/>
              </a:rPr>
              <a:t>the </a:t>
            </a:r>
            <a:r>
              <a:rPr lang="en-IN" sz="2000" spc="-5" dirty="0">
                <a:latin typeface="Arial"/>
                <a:cs typeface="Arial"/>
              </a:rPr>
              <a:t>instructions </a:t>
            </a:r>
            <a:r>
              <a:rPr lang="en-IN" sz="2000" spc="-10" dirty="0">
                <a:latin typeface="Arial"/>
                <a:cs typeface="Arial"/>
              </a:rPr>
              <a:t>of </a:t>
            </a:r>
            <a:r>
              <a:rPr lang="en-IN" sz="2000" dirty="0">
                <a:latin typeface="Arial"/>
                <a:cs typeface="Arial"/>
              </a:rPr>
              <a:t>an </a:t>
            </a:r>
            <a:r>
              <a:rPr lang="en-IN" sz="2000" spc="-5" dirty="0">
                <a:latin typeface="Arial"/>
                <a:cs typeface="Arial"/>
              </a:rPr>
              <a:t>algorithm are executed, </a:t>
            </a:r>
            <a:endParaRPr lang="en-IN" sz="2000" spc="-5" dirty="0" smtClean="0">
              <a:latin typeface="Arial"/>
              <a:cs typeface="Arial"/>
            </a:endParaRPr>
          </a:p>
          <a:p>
            <a:pPr marL="697865" marR="307975" indent="0">
              <a:lnSpc>
                <a:spcPts val="1280"/>
              </a:lnSpc>
              <a:spcBef>
                <a:spcPts val="1010"/>
              </a:spcBef>
              <a:buNone/>
              <a:tabLst>
                <a:tab pos="926465" algn="l"/>
                <a:tab pos="927100" algn="l"/>
              </a:tabLst>
            </a:pPr>
            <a:r>
              <a:rPr lang="en-IN" sz="2000" spc="-5" dirty="0">
                <a:latin typeface="Arial"/>
                <a:cs typeface="Arial"/>
              </a:rPr>
              <a:t> </a:t>
            </a:r>
            <a:r>
              <a:rPr lang="en-IN" sz="2000" spc="-5" dirty="0" smtClean="0">
                <a:latin typeface="Arial"/>
                <a:cs typeface="Arial"/>
              </a:rPr>
              <a:t>    </a:t>
            </a:r>
            <a:r>
              <a:rPr lang="en-IN" sz="2000" dirty="0" smtClean="0">
                <a:latin typeface="Arial"/>
                <a:cs typeface="Arial"/>
              </a:rPr>
              <a:t>the </a:t>
            </a:r>
            <a:r>
              <a:rPr lang="en-IN" sz="2000" spc="-5" dirty="0">
                <a:latin typeface="Arial"/>
                <a:cs typeface="Arial"/>
              </a:rPr>
              <a:t>algorithm  should terminate after finite number </a:t>
            </a:r>
            <a:r>
              <a:rPr lang="en-IN" sz="2000" spc="-10" dirty="0">
                <a:latin typeface="Arial"/>
                <a:cs typeface="Arial"/>
              </a:rPr>
              <a:t>of</a:t>
            </a:r>
            <a:r>
              <a:rPr lang="en-IN" sz="2000" spc="-5" dirty="0">
                <a:latin typeface="Arial"/>
                <a:cs typeface="Arial"/>
              </a:rPr>
              <a:t> </a:t>
            </a:r>
            <a:r>
              <a:rPr lang="en-IN" sz="2000" dirty="0">
                <a:latin typeface="Arial"/>
                <a:cs typeface="Arial"/>
              </a:rPr>
              <a:t>steps</a:t>
            </a:r>
          </a:p>
          <a:p>
            <a:pPr marL="697865" marR="307975" indent="0">
              <a:lnSpc>
                <a:spcPts val="1280"/>
              </a:lnSpc>
              <a:spcBef>
                <a:spcPts val="1010"/>
              </a:spcBef>
              <a:buNone/>
              <a:tabLst>
                <a:tab pos="926465" algn="l"/>
                <a:tab pos="927100" algn="l"/>
              </a:tabLst>
            </a:pPr>
            <a:endParaRPr lang="en-IN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21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Cont..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32004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algorithm </a:t>
            </a:r>
            <a:r>
              <a:rPr sz="1600" dirty="0">
                <a:latin typeface="Arial"/>
                <a:cs typeface="Arial"/>
              </a:rPr>
              <a:t>and </a:t>
            </a:r>
            <a:r>
              <a:rPr sz="1600" spc="-5" dirty="0">
                <a:latin typeface="Arial"/>
                <a:cs typeface="Arial"/>
              </a:rPr>
              <a:t>flowchart include following three types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5" dirty="0">
                <a:latin typeface="Arial"/>
                <a:cs typeface="Arial"/>
              </a:rPr>
              <a:t>control</a:t>
            </a:r>
            <a:r>
              <a:rPr sz="1600" spc="7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structures.</a:t>
            </a:r>
            <a:endParaRPr sz="1600" dirty="0">
              <a:latin typeface="Arial"/>
              <a:cs typeface="Arial"/>
            </a:endParaRPr>
          </a:p>
          <a:p>
            <a:pPr marL="469265" marR="8890" indent="-228600" algn="just">
              <a:lnSpc>
                <a:spcPct val="143600"/>
              </a:lnSpc>
              <a:spcBef>
                <a:spcPts val="994"/>
              </a:spcBef>
              <a:buFont typeface="Arial"/>
              <a:buAutoNum type="arabicPeriod"/>
              <a:tabLst>
                <a:tab pos="469900" algn="l"/>
              </a:tabLst>
            </a:pPr>
            <a:r>
              <a:rPr sz="1600" b="1" spc="-5" dirty="0">
                <a:latin typeface="Arial"/>
                <a:cs typeface="Arial"/>
              </a:rPr>
              <a:t>Sequence</a:t>
            </a:r>
            <a:r>
              <a:rPr sz="1600" spc="-5" dirty="0">
                <a:latin typeface="Arial"/>
                <a:cs typeface="Arial"/>
              </a:rPr>
              <a:t>: </a:t>
            </a:r>
            <a:r>
              <a:rPr sz="1600" dirty="0">
                <a:latin typeface="Arial"/>
                <a:cs typeface="Arial"/>
              </a:rPr>
              <a:t>In the </a:t>
            </a:r>
            <a:r>
              <a:rPr sz="1600" spc="-5" dirty="0">
                <a:latin typeface="Arial"/>
                <a:cs typeface="Arial"/>
              </a:rPr>
              <a:t>sequence structure, statements </a:t>
            </a:r>
            <a:r>
              <a:rPr sz="1600" dirty="0">
                <a:latin typeface="Arial"/>
                <a:cs typeface="Arial"/>
              </a:rPr>
              <a:t>are </a:t>
            </a:r>
            <a:r>
              <a:rPr sz="1600" spc="-5" dirty="0">
                <a:latin typeface="Arial"/>
                <a:cs typeface="Arial"/>
              </a:rPr>
              <a:t>placed </a:t>
            </a:r>
            <a:r>
              <a:rPr sz="1600" dirty="0">
                <a:latin typeface="Arial"/>
                <a:cs typeface="Arial"/>
              </a:rPr>
              <a:t>one </a:t>
            </a:r>
            <a:r>
              <a:rPr sz="1600" spc="-5" dirty="0">
                <a:latin typeface="Arial"/>
                <a:cs typeface="Arial"/>
              </a:rPr>
              <a:t>after the </a:t>
            </a:r>
            <a:r>
              <a:rPr sz="1600" dirty="0">
                <a:latin typeface="Arial"/>
                <a:cs typeface="Arial"/>
              </a:rPr>
              <a:t>other and  the </a:t>
            </a:r>
            <a:r>
              <a:rPr sz="1600" spc="-5" dirty="0">
                <a:latin typeface="Arial"/>
                <a:cs typeface="Arial"/>
              </a:rPr>
              <a:t>execution </a:t>
            </a:r>
            <a:r>
              <a:rPr sz="1600" dirty="0">
                <a:latin typeface="Arial"/>
                <a:cs typeface="Arial"/>
              </a:rPr>
              <a:t>takes </a:t>
            </a:r>
            <a:r>
              <a:rPr sz="1600" spc="-5" dirty="0">
                <a:latin typeface="Arial"/>
                <a:cs typeface="Arial"/>
              </a:rPr>
              <a:t>place starting from </a:t>
            </a:r>
            <a:r>
              <a:rPr sz="1600" dirty="0">
                <a:latin typeface="Arial"/>
                <a:cs typeface="Arial"/>
              </a:rPr>
              <a:t>up to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down.</a:t>
            </a:r>
            <a:endParaRPr sz="1600" dirty="0">
              <a:latin typeface="Arial"/>
              <a:cs typeface="Arial"/>
            </a:endParaRPr>
          </a:p>
          <a:p>
            <a:pPr marL="469265" indent="-228600" algn="just">
              <a:lnSpc>
                <a:spcPct val="100000"/>
              </a:lnSpc>
              <a:spcBef>
                <a:spcPts val="575"/>
              </a:spcBef>
              <a:buFont typeface="Arial"/>
              <a:buAutoNum type="arabicPeriod"/>
              <a:tabLst>
                <a:tab pos="469900" algn="l"/>
              </a:tabLst>
            </a:pPr>
            <a:r>
              <a:rPr sz="1600" b="1" dirty="0">
                <a:latin typeface="Arial"/>
                <a:cs typeface="Arial"/>
              </a:rPr>
              <a:t>Branching</a:t>
            </a:r>
            <a:r>
              <a:rPr sz="1600" b="1" spc="17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(Selection):</a:t>
            </a:r>
            <a:r>
              <a:rPr sz="1600" b="1" spc="18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branch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control,</a:t>
            </a:r>
            <a:r>
              <a:rPr sz="1600" spc="17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there</a:t>
            </a:r>
            <a:r>
              <a:rPr sz="1600" spc="19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is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condition</a:t>
            </a:r>
            <a:r>
              <a:rPr sz="1600" spc="1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according</a:t>
            </a:r>
            <a:r>
              <a:rPr sz="1600" spc="1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1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</a:p>
          <a:p>
            <a:pPr marL="469265" marR="8890" algn="just">
              <a:lnSpc>
                <a:spcPct val="143600"/>
              </a:lnSpc>
              <a:spcBef>
                <a:spcPts val="15"/>
              </a:spcBef>
            </a:pPr>
            <a:r>
              <a:rPr sz="1600" spc="-5" dirty="0">
                <a:latin typeface="Arial"/>
                <a:cs typeface="Arial"/>
              </a:rPr>
              <a:t>condition, </a:t>
            </a:r>
            <a:r>
              <a:rPr sz="1600" dirty="0">
                <a:latin typeface="Arial"/>
                <a:cs typeface="Arial"/>
              </a:rPr>
              <a:t>a </a:t>
            </a:r>
            <a:r>
              <a:rPr sz="1600" spc="-5" dirty="0">
                <a:latin typeface="Arial"/>
                <a:cs typeface="Arial"/>
              </a:rPr>
              <a:t>decision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5" dirty="0">
                <a:latin typeface="Arial"/>
                <a:cs typeface="Arial"/>
              </a:rPr>
              <a:t>either TRUE </a:t>
            </a:r>
            <a:r>
              <a:rPr sz="1600" spc="-10" dirty="0">
                <a:latin typeface="Arial"/>
                <a:cs typeface="Arial"/>
              </a:rPr>
              <a:t>or </a:t>
            </a:r>
            <a:r>
              <a:rPr sz="1600" spc="-5" dirty="0">
                <a:latin typeface="Arial"/>
                <a:cs typeface="Arial"/>
              </a:rPr>
              <a:t>FALSE is achieved. </a:t>
            </a:r>
            <a:r>
              <a:rPr sz="1600" dirty="0">
                <a:latin typeface="Arial"/>
                <a:cs typeface="Arial"/>
              </a:rPr>
              <a:t>In the case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5" dirty="0">
                <a:latin typeface="Arial"/>
                <a:cs typeface="Arial"/>
              </a:rPr>
              <a:t>TRUE, </a:t>
            </a:r>
            <a:r>
              <a:rPr sz="1600" dirty="0">
                <a:latin typeface="Arial"/>
                <a:cs typeface="Arial"/>
              </a:rPr>
              <a:t>one 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two </a:t>
            </a:r>
            <a:r>
              <a:rPr sz="1600" dirty="0">
                <a:latin typeface="Arial"/>
                <a:cs typeface="Arial"/>
              </a:rPr>
              <a:t>branches </a:t>
            </a:r>
            <a:r>
              <a:rPr sz="1600" spc="-5" dirty="0">
                <a:latin typeface="Arial"/>
                <a:cs typeface="Arial"/>
              </a:rPr>
              <a:t>is explored; </a:t>
            </a:r>
            <a:r>
              <a:rPr sz="1600" dirty="0">
                <a:latin typeface="Arial"/>
                <a:cs typeface="Arial"/>
              </a:rPr>
              <a:t>but </a:t>
            </a:r>
            <a:r>
              <a:rPr sz="1600" spc="-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case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5" dirty="0">
                <a:latin typeface="Arial"/>
                <a:cs typeface="Arial"/>
              </a:rPr>
              <a:t>FALSE condition,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other  alternative is taken. </a:t>
            </a:r>
            <a:r>
              <a:rPr sz="1600" spc="-10" dirty="0">
                <a:latin typeface="Arial"/>
                <a:cs typeface="Arial"/>
              </a:rPr>
              <a:t>Generally,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‘IF-THEN’ is used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5" dirty="0">
                <a:latin typeface="Arial"/>
                <a:cs typeface="Arial"/>
              </a:rPr>
              <a:t>represent branch</a:t>
            </a:r>
            <a:r>
              <a:rPr sz="1600" spc="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control.</a:t>
            </a:r>
          </a:p>
          <a:p>
            <a:pPr marL="469265" marR="6350" indent="-228600" algn="just">
              <a:lnSpc>
                <a:spcPct val="143600"/>
              </a:lnSpc>
              <a:buFont typeface="Arial"/>
              <a:buAutoNum type="arabicPeriod" startAt="3"/>
              <a:tabLst>
                <a:tab pos="469900" algn="l"/>
              </a:tabLst>
            </a:pPr>
            <a:r>
              <a:rPr sz="1600" b="1" spc="-5" dirty="0">
                <a:latin typeface="Arial"/>
                <a:cs typeface="Arial"/>
              </a:rPr>
              <a:t>Loop (Repetition): </a:t>
            </a:r>
            <a:r>
              <a:rPr sz="1600" dirty="0">
                <a:latin typeface="Arial"/>
                <a:cs typeface="Arial"/>
              </a:rPr>
              <a:t>The Loop </a:t>
            </a:r>
            <a:r>
              <a:rPr sz="1600" spc="-10" dirty="0">
                <a:latin typeface="Arial"/>
                <a:cs typeface="Arial"/>
              </a:rPr>
              <a:t>or </a:t>
            </a:r>
            <a:r>
              <a:rPr sz="1600" spc="-5" dirty="0">
                <a:latin typeface="Arial"/>
                <a:cs typeface="Arial"/>
              </a:rPr>
              <a:t>Repetition </a:t>
            </a:r>
            <a:r>
              <a:rPr sz="1600" spc="-10" dirty="0">
                <a:latin typeface="Arial"/>
                <a:cs typeface="Arial"/>
              </a:rPr>
              <a:t>allows </a:t>
            </a:r>
            <a:r>
              <a:rPr sz="1600" dirty="0">
                <a:latin typeface="Arial"/>
                <a:cs typeface="Arial"/>
              </a:rPr>
              <a:t>a </a:t>
            </a:r>
            <a:r>
              <a:rPr sz="1600" spc="-5" dirty="0">
                <a:latin typeface="Arial"/>
                <a:cs typeface="Arial"/>
              </a:rPr>
              <a:t>statement(s)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10" dirty="0">
                <a:latin typeface="Arial"/>
                <a:cs typeface="Arial"/>
              </a:rPr>
              <a:t>be </a:t>
            </a:r>
            <a:r>
              <a:rPr sz="1600" spc="-5" dirty="0">
                <a:latin typeface="Arial"/>
                <a:cs typeface="Arial"/>
              </a:rPr>
              <a:t>executed  repeatedly </a:t>
            </a:r>
            <a:r>
              <a:rPr sz="1600" dirty="0">
                <a:latin typeface="Arial"/>
                <a:cs typeface="Arial"/>
              </a:rPr>
              <a:t>based on </a:t>
            </a:r>
            <a:r>
              <a:rPr sz="1600" spc="-5" dirty="0">
                <a:latin typeface="Arial"/>
                <a:cs typeface="Arial"/>
              </a:rPr>
              <a:t>certain </a:t>
            </a:r>
            <a:r>
              <a:rPr sz="1600" dirty="0">
                <a:latin typeface="Arial"/>
                <a:cs typeface="Arial"/>
              </a:rPr>
              <a:t>loop </a:t>
            </a:r>
            <a:r>
              <a:rPr sz="1600" spc="-5" dirty="0">
                <a:latin typeface="Arial"/>
                <a:cs typeface="Arial"/>
              </a:rPr>
              <a:t>condition e.g. WHILE, </a:t>
            </a:r>
            <a:r>
              <a:rPr sz="1600" dirty="0">
                <a:latin typeface="Arial"/>
                <a:cs typeface="Arial"/>
              </a:rPr>
              <a:t>FOR </a:t>
            </a:r>
            <a:r>
              <a:rPr sz="1600" spc="-5" dirty="0">
                <a:latin typeface="Arial"/>
                <a:cs typeface="Arial"/>
              </a:rPr>
              <a:t>loops</a:t>
            </a:r>
            <a:r>
              <a:rPr sz="1100" spc="-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309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Advantages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algorithm</a:t>
            </a:r>
            <a:endParaRPr lang="en-IN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25450" marR="5080" indent="-228600">
              <a:lnSpc>
                <a:spcPct val="143600"/>
              </a:lnSpc>
              <a:spcBef>
                <a:spcPts val="650"/>
              </a:spcBef>
              <a:buFont typeface="Symbol"/>
              <a:buChar char=""/>
              <a:tabLst>
                <a:tab pos="425450" algn="l"/>
                <a:tab pos="426084" algn="l"/>
              </a:tabLst>
            </a:pPr>
            <a:r>
              <a:rPr lang="en-IN" dirty="0" smtClean="0">
                <a:latin typeface="Arial"/>
                <a:cs typeface="Arial"/>
              </a:rPr>
              <a:t>It </a:t>
            </a:r>
            <a:r>
              <a:rPr lang="en-IN" spc="-5" dirty="0">
                <a:latin typeface="Arial"/>
                <a:cs typeface="Arial"/>
              </a:rPr>
              <a:t>is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step-wise </a:t>
            </a:r>
            <a:r>
              <a:rPr lang="en-IN" dirty="0">
                <a:latin typeface="Arial"/>
                <a:cs typeface="Arial"/>
              </a:rPr>
              <a:t>representation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solution </a:t>
            </a:r>
            <a:r>
              <a:rPr lang="en-IN" dirty="0">
                <a:latin typeface="Arial"/>
                <a:cs typeface="Arial"/>
              </a:rPr>
              <a:t>to a </a:t>
            </a:r>
            <a:r>
              <a:rPr lang="en-IN" spc="-5" dirty="0">
                <a:latin typeface="Arial"/>
                <a:cs typeface="Arial"/>
              </a:rPr>
              <a:t>given </a:t>
            </a:r>
            <a:r>
              <a:rPr lang="en-IN" dirty="0">
                <a:latin typeface="Arial"/>
                <a:cs typeface="Arial"/>
              </a:rPr>
              <a:t>problem, </a:t>
            </a:r>
            <a:r>
              <a:rPr lang="en-IN" spc="-5" dirty="0">
                <a:latin typeface="Arial"/>
                <a:cs typeface="Arial"/>
              </a:rPr>
              <a:t>which </a:t>
            </a:r>
            <a:r>
              <a:rPr lang="en-IN" dirty="0">
                <a:latin typeface="Arial"/>
                <a:cs typeface="Arial"/>
              </a:rPr>
              <a:t>makes it </a:t>
            </a:r>
            <a:r>
              <a:rPr lang="en-IN" spc="-5" dirty="0">
                <a:latin typeface="Arial"/>
                <a:cs typeface="Arial"/>
              </a:rPr>
              <a:t>easy  </a:t>
            </a:r>
            <a:r>
              <a:rPr lang="en-IN" dirty="0">
                <a:latin typeface="Arial"/>
                <a:cs typeface="Arial"/>
              </a:rPr>
              <a:t>to</a:t>
            </a:r>
            <a:r>
              <a:rPr lang="en-IN" spc="-5" dirty="0">
                <a:latin typeface="Arial"/>
                <a:cs typeface="Arial"/>
              </a:rPr>
              <a:t> understand.</a:t>
            </a:r>
            <a:endParaRPr lang="en-IN" dirty="0">
              <a:latin typeface="Arial"/>
              <a:cs typeface="Arial"/>
            </a:endParaRPr>
          </a:p>
          <a:p>
            <a:pPr marL="425450" indent="-229235">
              <a:lnSpc>
                <a:spcPct val="100000"/>
              </a:lnSpc>
              <a:spcBef>
                <a:spcPts val="650"/>
              </a:spcBef>
              <a:buFont typeface="Symbol"/>
              <a:buChar char=""/>
              <a:tabLst>
                <a:tab pos="425450" algn="l"/>
                <a:tab pos="426084" algn="l"/>
              </a:tabLst>
            </a:pPr>
            <a:r>
              <a:rPr lang="en-IN" spc="-5" dirty="0">
                <a:latin typeface="Arial"/>
                <a:cs typeface="Arial"/>
              </a:rPr>
              <a:t>An algorithm </a:t>
            </a:r>
            <a:r>
              <a:rPr lang="en-IN" dirty="0">
                <a:latin typeface="Arial"/>
                <a:cs typeface="Arial"/>
              </a:rPr>
              <a:t>uses a </a:t>
            </a:r>
            <a:r>
              <a:rPr lang="en-IN" spc="-5" dirty="0">
                <a:latin typeface="Arial"/>
                <a:cs typeface="Arial"/>
              </a:rPr>
              <a:t>definite procedure.</a:t>
            </a:r>
            <a:endParaRPr lang="en-IN" dirty="0">
              <a:latin typeface="Arial"/>
              <a:cs typeface="Arial"/>
            </a:endParaRPr>
          </a:p>
          <a:p>
            <a:pPr marL="425450" marR="223520" indent="-228600">
              <a:lnSpc>
                <a:spcPct val="144500"/>
              </a:lnSpc>
              <a:spcBef>
                <a:spcPts val="60"/>
              </a:spcBef>
              <a:buFont typeface="Symbol"/>
              <a:buChar char=""/>
              <a:tabLst>
                <a:tab pos="425450" algn="l"/>
                <a:tab pos="426084" algn="l"/>
              </a:tabLst>
            </a:pPr>
            <a:r>
              <a:rPr lang="en-IN" dirty="0">
                <a:latin typeface="Arial"/>
                <a:cs typeface="Arial"/>
              </a:rPr>
              <a:t>It </a:t>
            </a:r>
            <a:r>
              <a:rPr lang="en-IN" spc="-5" dirty="0">
                <a:latin typeface="Arial"/>
                <a:cs typeface="Arial"/>
              </a:rPr>
              <a:t>is </a:t>
            </a:r>
            <a:r>
              <a:rPr lang="en-IN" dirty="0">
                <a:latin typeface="Arial"/>
                <a:cs typeface="Arial"/>
              </a:rPr>
              <a:t>not </a:t>
            </a:r>
            <a:r>
              <a:rPr lang="en-IN" spc="-5" dirty="0">
                <a:latin typeface="Arial"/>
                <a:cs typeface="Arial"/>
              </a:rPr>
              <a:t>dependent </a:t>
            </a:r>
            <a:r>
              <a:rPr lang="en-IN" dirty="0">
                <a:latin typeface="Arial"/>
                <a:cs typeface="Arial"/>
              </a:rPr>
              <a:t>on </a:t>
            </a:r>
            <a:r>
              <a:rPr lang="en-IN" spc="-5" dirty="0">
                <a:latin typeface="Arial"/>
                <a:cs typeface="Arial"/>
              </a:rPr>
              <a:t>any programming language, </a:t>
            </a:r>
            <a:r>
              <a:rPr lang="en-IN" dirty="0">
                <a:latin typeface="Arial"/>
                <a:cs typeface="Arial"/>
              </a:rPr>
              <a:t>so </a:t>
            </a:r>
            <a:r>
              <a:rPr lang="en-IN" spc="-5" dirty="0">
                <a:latin typeface="Arial"/>
                <a:cs typeface="Arial"/>
              </a:rPr>
              <a:t>it is </a:t>
            </a:r>
            <a:r>
              <a:rPr lang="en-IN" dirty="0">
                <a:latin typeface="Arial"/>
                <a:cs typeface="Arial"/>
              </a:rPr>
              <a:t>easy to </a:t>
            </a:r>
            <a:r>
              <a:rPr lang="en-IN" spc="-5" dirty="0">
                <a:latin typeface="Arial"/>
                <a:cs typeface="Arial"/>
              </a:rPr>
              <a:t>understand </a:t>
            </a:r>
            <a:r>
              <a:rPr lang="en-IN" dirty="0">
                <a:latin typeface="Arial"/>
                <a:cs typeface="Arial"/>
              </a:rPr>
              <a:t>for  </a:t>
            </a:r>
            <a:r>
              <a:rPr lang="en-IN" spc="-5" dirty="0">
                <a:latin typeface="Arial"/>
                <a:cs typeface="Arial"/>
              </a:rPr>
              <a:t>anyone even without programming</a:t>
            </a:r>
            <a:r>
              <a:rPr lang="en-IN" spc="2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knowledge.</a:t>
            </a:r>
            <a:endParaRPr lang="en-IN" dirty="0">
              <a:latin typeface="Arial"/>
              <a:cs typeface="Arial"/>
            </a:endParaRPr>
          </a:p>
          <a:p>
            <a:pPr marL="425450" indent="-229235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25450" algn="l"/>
                <a:tab pos="426084" algn="l"/>
              </a:tabLst>
            </a:pPr>
            <a:r>
              <a:rPr lang="en-IN" spc="-5" dirty="0">
                <a:latin typeface="Arial"/>
                <a:cs typeface="Arial"/>
              </a:rPr>
              <a:t>Every </a:t>
            </a:r>
            <a:r>
              <a:rPr lang="en-IN" dirty="0">
                <a:latin typeface="Arial"/>
                <a:cs typeface="Arial"/>
              </a:rPr>
              <a:t>step </a:t>
            </a:r>
            <a:r>
              <a:rPr lang="en-IN" spc="-5" dirty="0">
                <a:latin typeface="Arial"/>
                <a:cs typeface="Arial"/>
              </a:rPr>
              <a:t>in </a:t>
            </a:r>
            <a:r>
              <a:rPr lang="en-IN" dirty="0">
                <a:latin typeface="Arial"/>
                <a:cs typeface="Arial"/>
              </a:rPr>
              <a:t>an </a:t>
            </a:r>
            <a:r>
              <a:rPr lang="en-IN" spc="-5" dirty="0">
                <a:latin typeface="Arial"/>
                <a:cs typeface="Arial"/>
              </a:rPr>
              <a:t>algorithm </a:t>
            </a:r>
            <a:r>
              <a:rPr lang="en-IN" dirty="0">
                <a:latin typeface="Arial"/>
                <a:cs typeface="Arial"/>
              </a:rPr>
              <a:t>has </a:t>
            </a:r>
            <a:r>
              <a:rPr lang="en-IN" spc="-5" dirty="0">
                <a:latin typeface="Arial"/>
                <a:cs typeface="Arial"/>
              </a:rPr>
              <a:t>its own </a:t>
            </a:r>
            <a:r>
              <a:rPr lang="en-IN" dirty="0">
                <a:latin typeface="Arial"/>
                <a:cs typeface="Arial"/>
              </a:rPr>
              <a:t>logical </a:t>
            </a:r>
            <a:r>
              <a:rPr lang="en-IN" spc="-5" dirty="0">
                <a:latin typeface="Arial"/>
                <a:cs typeface="Arial"/>
              </a:rPr>
              <a:t>sequence </a:t>
            </a:r>
            <a:r>
              <a:rPr lang="en-IN" dirty="0">
                <a:latin typeface="Arial"/>
                <a:cs typeface="Arial"/>
              </a:rPr>
              <a:t>so </a:t>
            </a:r>
            <a:r>
              <a:rPr lang="en-IN" spc="-10" dirty="0">
                <a:latin typeface="Arial"/>
                <a:cs typeface="Arial"/>
              </a:rPr>
              <a:t>it </a:t>
            </a:r>
            <a:r>
              <a:rPr lang="en-IN" spc="-5" dirty="0">
                <a:latin typeface="Arial"/>
                <a:cs typeface="Arial"/>
              </a:rPr>
              <a:t>is easy </a:t>
            </a:r>
            <a:r>
              <a:rPr lang="en-IN" dirty="0">
                <a:latin typeface="Arial"/>
                <a:cs typeface="Arial"/>
              </a:rPr>
              <a:t>to</a:t>
            </a:r>
            <a:r>
              <a:rPr lang="en-IN" spc="7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debug.</a:t>
            </a:r>
            <a:endParaRPr lang="en-IN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11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 smtClean="0">
                <a:solidFill>
                  <a:srgbClr val="FF0000"/>
                </a:solidFill>
                <a:latin typeface="Arial"/>
                <a:cs typeface="Arial"/>
              </a:rPr>
              <a:t/>
            </a:r>
            <a:br>
              <a:rPr lang="en-IN" b="1" spc="-5" dirty="0" smtClean="0">
                <a:solidFill>
                  <a:srgbClr val="FF0000"/>
                </a:solidFill>
                <a:latin typeface="Arial"/>
                <a:cs typeface="Arial"/>
              </a:rPr>
            </a:br>
            <a:r>
              <a:rPr lang="en-IN" b="1" spc="-5" dirty="0" smtClean="0">
                <a:solidFill>
                  <a:srgbClr val="FF0000"/>
                </a:solidFill>
                <a:latin typeface="Arial"/>
                <a:cs typeface="Arial"/>
              </a:rPr>
              <a:t>FLOWCHART</a:t>
            </a:r>
            <a:r>
              <a:rPr lang="en-IN" dirty="0">
                <a:solidFill>
                  <a:srgbClr val="FF0000"/>
                </a:solidFill>
                <a:latin typeface="Arial"/>
                <a:cs typeface="Arial"/>
              </a:rPr>
              <a:t/>
            </a:r>
            <a:br>
              <a:rPr lang="en-IN" dirty="0">
                <a:solidFill>
                  <a:srgbClr val="FF0000"/>
                </a:solidFill>
                <a:latin typeface="Arial"/>
                <a:cs typeface="Arial"/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Autofit/>
          </a:bodyPr>
          <a:lstStyle/>
          <a:p>
            <a:pPr marL="12700" marR="5080" algn="just">
              <a:lnSpc>
                <a:spcPct val="143700"/>
              </a:lnSpc>
              <a:spcBef>
                <a:spcPts val="580"/>
              </a:spcBef>
            </a:pPr>
            <a:r>
              <a:rPr lang="en-IN" sz="2400" dirty="0" smtClean="0">
                <a:latin typeface="Arial"/>
                <a:cs typeface="Arial"/>
              </a:rPr>
              <a:t>The </a:t>
            </a:r>
            <a:r>
              <a:rPr lang="en-IN" sz="2400" dirty="0">
                <a:latin typeface="Arial"/>
                <a:cs typeface="Arial"/>
              </a:rPr>
              <a:t>first </a:t>
            </a:r>
            <a:r>
              <a:rPr lang="en-IN" sz="2400" spc="-5" dirty="0">
                <a:latin typeface="Arial"/>
                <a:cs typeface="Arial"/>
              </a:rPr>
              <a:t>design </a:t>
            </a:r>
            <a:r>
              <a:rPr lang="en-IN" sz="2400" spc="-10" dirty="0">
                <a:latin typeface="Arial"/>
                <a:cs typeface="Arial"/>
              </a:rPr>
              <a:t>of </a:t>
            </a:r>
            <a:r>
              <a:rPr lang="en-IN" sz="2400" spc="-5" dirty="0">
                <a:latin typeface="Arial"/>
                <a:cs typeface="Arial"/>
              </a:rPr>
              <a:t>flowchart </a:t>
            </a:r>
            <a:r>
              <a:rPr lang="en-IN" sz="2400" dirty="0">
                <a:latin typeface="Arial"/>
                <a:cs typeface="Arial"/>
              </a:rPr>
              <a:t>goes </a:t>
            </a:r>
            <a:r>
              <a:rPr lang="en-IN" sz="2400" spc="-10" dirty="0">
                <a:latin typeface="Arial"/>
                <a:cs typeface="Arial"/>
              </a:rPr>
              <a:t>back </a:t>
            </a:r>
            <a:r>
              <a:rPr lang="en-IN" sz="2400" dirty="0">
                <a:latin typeface="Arial"/>
                <a:cs typeface="Arial"/>
              </a:rPr>
              <a:t>to 1945 </a:t>
            </a:r>
            <a:r>
              <a:rPr lang="en-IN" sz="2400" spc="-5" dirty="0">
                <a:latin typeface="Arial"/>
                <a:cs typeface="Arial"/>
              </a:rPr>
              <a:t>which was </a:t>
            </a:r>
            <a:r>
              <a:rPr lang="en-IN" sz="2400" dirty="0">
                <a:latin typeface="Arial"/>
                <a:cs typeface="Arial"/>
              </a:rPr>
              <a:t>designed by John Von </a:t>
            </a:r>
            <a:r>
              <a:rPr lang="en-IN" sz="2400" spc="-5" dirty="0">
                <a:latin typeface="Arial"/>
                <a:cs typeface="Arial"/>
              </a:rPr>
              <a:t>Neumann.  </a:t>
            </a:r>
            <a:endParaRPr lang="en-IN" sz="2400" spc="-5" dirty="0" smtClean="0">
              <a:latin typeface="Arial"/>
              <a:cs typeface="Arial"/>
            </a:endParaRPr>
          </a:p>
          <a:p>
            <a:pPr marL="12700" marR="5080" algn="just">
              <a:lnSpc>
                <a:spcPct val="143700"/>
              </a:lnSpc>
              <a:spcBef>
                <a:spcPts val="580"/>
              </a:spcBef>
            </a:pPr>
            <a:r>
              <a:rPr lang="en-IN" sz="2400" spc="-5" dirty="0" smtClean="0">
                <a:latin typeface="Arial"/>
                <a:cs typeface="Arial"/>
              </a:rPr>
              <a:t>Unlike </a:t>
            </a:r>
            <a:r>
              <a:rPr lang="en-IN" sz="2400" dirty="0">
                <a:latin typeface="Arial"/>
                <a:cs typeface="Arial"/>
              </a:rPr>
              <a:t>an </a:t>
            </a:r>
            <a:r>
              <a:rPr lang="en-IN" sz="2400" spc="-5" dirty="0">
                <a:latin typeface="Arial"/>
                <a:cs typeface="Arial"/>
              </a:rPr>
              <a:t>algorithm, Flowchart </a:t>
            </a:r>
            <a:r>
              <a:rPr lang="en-IN" sz="2400" dirty="0">
                <a:latin typeface="Arial"/>
                <a:cs typeface="Arial"/>
              </a:rPr>
              <a:t>uses </a:t>
            </a:r>
            <a:r>
              <a:rPr lang="en-IN" sz="2400" spc="-5" dirty="0">
                <a:latin typeface="Arial"/>
                <a:cs typeface="Arial"/>
              </a:rPr>
              <a:t>different symbols </a:t>
            </a:r>
            <a:r>
              <a:rPr lang="en-IN" sz="2400" dirty="0">
                <a:latin typeface="Arial"/>
                <a:cs typeface="Arial"/>
              </a:rPr>
              <a:t>to </a:t>
            </a:r>
            <a:r>
              <a:rPr lang="en-IN" sz="2400" spc="-5" dirty="0">
                <a:latin typeface="Arial"/>
                <a:cs typeface="Arial"/>
              </a:rPr>
              <a:t>design </a:t>
            </a:r>
            <a:r>
              <a:rPr lang="en-IN" sz="2400" dirty="0">
                <a:latin typeface="Arial"/>
                <a:cs typeface="Arial"/>
              </a:rPr>
              <a:t>a </a:t>
            </a:r>
            <a:r>
              <a:rPr lang="en-IN" sz="2400" spc="-5" dirty="0">
                <a:latin typeface="Arial"/>
                <a:cs typeface="Arial"/>
              </a:rPr>
              <a:t>solution </a:t>
            </a:r>
            <a:r>
              <a:rPr lang="en-IN" sz="2400" dirty="0">
                <a:latin typeface="Arial"/>
                <a:cs typeface="Arial"/>
              </a:rPr>
              <a:t>to a </a:t>
            </a:r>
            <a:r>
              <a:rPr lang="en-IN" sz="2400" spc="-5" dirty="0">
                <a:latin typeface="Arial"/>
                <a:cs typeface="Arial"/>
              </a:rPr>
              <a:t>problem. </a:t>
            </a:r>
            <a:r>
              <a:rPr lang="en-IN" sz="2400" dirty="0">
                <a:latin typeface="Arial"/>
                <a:cs typeface="Arial"/>
              </a:rPr>
              <a:t>It </a:t>
            </a:r>
            <a:r>
              <a:rPr lang="en-IN" sz="2400" spc="-10" dirty="0">
                <a:latin typeface="Arial"/>
                <a:cs typeface="Arial"/>
              </a:rPr>
              <a:t>is  </a:t>
            </a:r>
            <a:r>
              <a:rPr lang="en-IN" sz="2400" dirty="0">
                <a:latin typeface="Arial"/>
                <a:cs typeface="Arial"/>
              </a:rPr>
              <a:t>another </a:t>
            </a:r>
            <a:r>
              <a:rPr lang="en-IN" sz="2400" spc="-5" dirty="0">
                <a:latin typeface="Arial"/>
                <a:cs typeface="Arial"/>
              </a:rPr>
              <a:t>commonly </a:t>
            </a:r>
            <a:r>
              <a:rPr lang="en-IN" sz="2400" dirty="0">
                <a:latin typeface="Arial"/>
                <a:cs typeface="Arial"/>
              </a:rPr>
              <a:t>used </a:t>
            </a:r>
            <a:r>
              <a:rPr lang="en-IN" sz="2400" spc="-5" dirty="0">
                <a:latin typeface="Arial"/>
                <a:cs typeface="Arial"/>
              </a:rPr>
              <a:t>programming tool. </a:t>
            </a:r>
            <a:endParaRPr lang="en-IN" sz="2400" spc="-5" dirty="0" smtClean="0">
              <a:latin typeface="Arial"/>
              <a:cs typeface="Arial"/>
            </a:endParaRPr>
          </a:p>
          <a:p>
            <a:pPr marL="12700" marR="5080" algn="just">
              <a:lnSpc>
                <a:spcPct val="143700"/>
              </a:lnSpc>
              <a:spcBef>
                <a:spcPts val="580"/>
              </a:spcBef>
            </a:pPr>
            <a:r>
              <a:rPr lang="en-IN" sz="2400" spc="-5" dirty="0" smtClean="0">
                <a:latin typeface="Arial"/>
                <a:cs typeface="Arial"/>
              </a:rPr>
              <a:t>By </a:t>
            </a:r>
            <a:r>
              <a:rPr lang="en-IN" sz="2400" spc="-5" dirty="0">
                <a:latin typeface="Arial"/>
                <a:cs typeface="Arial"/>
              </a:rPr>
              <a:t>looking </a:t>
            </a:r>
            <a:r>
              <a:rPr lang="en-IN" sz="2400" dirty="0">
                <a:latin typeface="Arial"/>
                <a:cs typeface="Arial"/>
              </a:rPr>
              <a:t>at a </a:t>
            </a:r>
            <a:r>
              <a:rPr lang="en-IN" sz="2400" spc="-5" dirty="0" smtClean="0">
                <a:latin typeface="Arial"/>
                <a:cs typeface="Arial"/>
              </a:rPr>
              <a:t>Flowchart one </a:t>
            </a:r>
            <a:r>
              <a:rPr lang="en-IN" sz="2400" spc="-5" dirty="0">
                <a:latin typeface="Arial"/>
                <a:cs typeface="Arial"/>
              </a:rPr>
              <a:t>can understand the  operations </a:t>
            </a:r>
            <a:r>
              <a:rPr lang="en-IN" sz="2400" dirty="0">
                <a:latin typeface="Arial"/>
                <a:cs typeface="Arial"/>
              </a:rPr>
              <a:t>and </a:t>
            </a:r>
            <a:r>
              <a:rPr lang="en-IN" sz="2400" spc="-5" dirty="0">
                <a:latin typeface="Arial"/>
                <a:cs typeface="Arial"/>
              </a:rPr>
              <a:t>sequence </a:t>
            </a:r>
            <a:r>
              <a:rPr lang="en-IN" sz="2400" spc="-10" dirty="0">
                <a:latin typeface="Arial"/>
                <a:cs typeface="Arial"/>
              </a:rPr>
              <a:t>of </a:t>
            </a:r>
            <a:r>
              <a:rPr lang="en-IN" sz="2400" spc="-5" dirty="0">
                <a:latin typeface="Arial"/>
                <a:cs typeface="Arial"/>
              </a:rPr>
              <a:t>operations performed </a:t>
            </a:r>
            <a:r>
              <a:rPr lang="en-IN" sz="2400" dirty="0">
                <a:latin typeface="Arial"/>
                <a:cs typeface="Arial"/>
              </a:rPr>
              <a:t>in a </a:t>
            </a:r>
            <a:r>
              <a:rPr lang="en-IN" sz="2400" spc="-5" dirty="0">
                <a:latin typeface="Arial"/>
                <a:cs typeface="Arial"/>
              </a:rPr>
              <a:t>system</a:t>
            </a:r>
            <a:r>
              <a:rPr lang="en-IN" sz="2400" spc="-5" dirty="0" smtClean="0">
                <a:latin typeface="Arial"/>
                <a:cs typeface="Arial"/>
              </a:rPr>
              <a:t>.</a:t>
            </a:r>
          </a:p>
          <a:p>
            <a:pPr marL="12700" marR="5080" algn="just">
              <a:lnSpc>
                <a:spcPct val="143700"/>
              </a:lnSpc>
              <a:spcBef>
                <a:spcPts val="580"/>
              </a:spcBef>
            </a:pPr>
            <a:r>
              <a:rPr lang="en-IN" sz="2400" spc="-5" dirty="0" smtClean="0">
                <a:latin typeface="Arial"/>
                <a:cs typeface="Arial"/>
              </a:rPr>
              <a:t> </a:t>
            </a:r>
            <a:r>
              <a:rPr lang="en-IN" sz="2400" spc="-5" dirty="0">
                <a:latin typeface="Arial"/>
                <a:cs typeface="Arial"/>
              </a:rPr>
              <a:t>Flowchart is </a:t>
            </a:r>
            <a:r>
              <a:rPr lang="en-IN" sz="2400" dirty="0">
                <a:latin typeface="Arial"/>
                <a:cs typeface="Arial"/>
              </a:rPr>
              <a:t>often </a:t>
            </a:r>
            <a:r>
              <a:rPr lang="en-IN" sz="2400" spc="-5" dirty="0">
                <a:latin typeface="Arial"/>
                <a:cs typeface="Arial"/>
              </a:rPr>
              <a:t>considered  </a:t>
            </a:r>
            <a:r>
              <a:rPr lang="en-IN" sz="2400" dirty="0">
                <a:latin typeface="Arial"/>
                <a:cs typeface="Arial"/>
              </a:rPr>
              <a:t>as a </a:t>
            </a:r>
            <a:r>
              <a:rPr lang="en-IN" sz="2400" spc="-5" dirty="0">
                <a:latin typeface="Arial"/>
                <a:cs typeface="Arial"/>
              </a:rPr>
              <a:t>blueprint </a:t>
            </a:r>
            <a:r>
              <a:rPr lang="en-IN" sz="2400" spc="-10" dirty="0">
                <a:latin typeface="Arial"/>
                <a:cs typeface="Arial"/>
              </a:rPr>
              <a:t>of </a:t>
            </a:r>
            <a:r>
              <a:rPr lang="en-IN" sz="2400" dirty="0">
                <a:latin typeface="Arial"/>
                <a:cs typeface="Arial"/>
              </a:rPr>
              <a:t>a </a:t>
            </a:r>
            <a:r>
              <a:rPr lang="en-IN" sz="2400" spc="-5" dirty="0">
                <a:latin typeface="Arial"/>
                <a:cs typeface="Arial"/>
              </a:rPr>
              <a:t>design </a:t>
            </a:r>
            <a:r>
              <a:rPr lang="en-IN" sz="2400" dirty="0">
                <a:latin typeface="Arial"/>
                <a:cs typeface="Arial"/>
              </a:rPr>
              <a:t>used for </a:t>
            </a:r>
            <a:r>
              <a:rPr lang="en-IN" sz="2400" spc="-5" dirty="0">
                <a:latin typeface="Arial"/>
                <a:cs typeface="Arial"/>
              </a:rPr>
              <a:t>solving </a:t>
            </a:r>
            <a:r>
              <a:rPr lang="en-IN" sz="2400" dirty="0">
                <a:latin typeface="Arial"/>
                <a:cs typeface="Arial"/>
              </a:rPr>
              <a:t>a </a:t>
            </a:r>
            <a:r>
              <a:rPr lang="en-IN" sz="2400" spc="-5" dirty="0">
                <a:latin typeface="Arial"/>
                <a:cs typeface="Arial"/>
              </a:rPr>
              <a:t>specific</a:t>
            </a:r>
            <a:r>
              <a:rPr lang="en-IN" sz="2400" spc="15" dirty="0">
                <a:latin typeface="Arial"/>
                <a:cs typeface="Arial"/>
              </a:rPr>
              <a:t> </a:t>
            </a:r>
            <a:r>
              <a:rPr lang="en-IN" sz="2400" dirty="0">
                <a:latin typeface="Arial"/>
                <a:cs typeface="Arial"/>
              </a:rPr>
              <a:t>problem.</a:t>
            </a:r>
          </a:p>
        </p:txBody>
      </p:sp>
    </p:spTree>
    <p:extLst>
      <p:ext uri="{BB962C8B-B14F-4D97-AF65-F5344CB8AC3E}">
        <p14:creationId xmlns:p14="http://schemas.microsoft.com/office/powerpoint/2010/main" val="246193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>
              <a:lnSpc>
                <a:spcPct val="110900"/>
              </a:lnSpc>
            </a:pPr>
            <a:r>
              <a:rPr lang="en-IN" b="1" spc="-5" dirty="0">
                <a:latin typeface="Arial"/>
                <a:cs typeface="Arial"/>
              </a:rPr>
              <a:t>Flowchart </a:t>
            </a:r>
            <a:r>
              <a:rPr lang="en-IN" spc="-5" dirty="0">
                <a:latin typeface="Arial"/>
                <a:cs typeface="Arial"/>
              </a:rPr>
              <a:t>is diagrammatic /Graphical representation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sequence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spc="-5" dirty="0">
                <a:latin typeface="Arial"/>
                <a:cs typeface="Arial"/>
              </a:rPr>
              <a:t>steps </a:t>
            </a:r>
            <a:r>
              <a:rPr lang="en-IN" dirty="0">
                <a:latin typeface="Arial"/>
                <a:cs typeface="Arial"/>
              </a:rPr>
              <a:t>to </a:t>
            </a:r>
            <a:r>
              <a:rPr lang="en-IN" spc="-10" dirty="0">
                <a:latin typeface="Arial"/>
                <a:cs typeface="Arial"/>
              </a:rPr>
              <a:t>solve </a:t>
            </a:r>
            <a:r>
              <a:rPr lang="en-IN" dirty="0">
                <a:latin typeface="Arial"/>
                <a:cs typeface="Arial"/>
              </a:rPr>
              <a:t>a  problem. </a:t>
            </a:r>
            <a:endParaRPr lang="en-IN" dirty="0" smtClean="0">
              <a:latin typeface="Arial"/>
              <a:cs typeface="Arial"/>
            </a:endParaRPr>
          </a:p>
          <a:p>
            <a:pPr marL="12700" marR="5080">
              <a:lnSpc>
                <a:spcPct val="110900"/>
              </a:lnSpc>
            </a:pPr>
            <a:r>
              <a:rPr lang="en-IN" dirty="0" smtClean="0">
                <a:latin typeface="Arial"/>
                <a:cs typeface="Arial"/>
              </a:rPr>
              <a:t>To </a:t>
            </a:r>
            <a:r>
              <a:rPr lang="en-IN" spc="-5" dirty="0">
                <a:latin typeface="Arial"/>
                <a:cs typeface="Arial"/>
              </a:rPr>
              <a:t>draw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flowchart following standard symbols </a:t>
            </a:r>
            <a:r>
              <a:rPr lang="en-IN" dirty="0">
                <a:latin typeface="Arial"/>
                <a:cs typeface="Arial"/>
              </a:rPr>
              <a:t>are</a:t>
            </a:r>
            <a:r>
              <a:rPr lang="en-IN" spc="-1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use</a:t>
            </a:r>
            <a:endParaRPr lang="en-I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120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Advantages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IN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b="1" spc="-5" dirty="0" smtClean="0">
                <a:solidFill>
                  <a:srgbClr val="FF0000"/>
                </a:solidFill>
                <a:latin typeface="Arial"/>
                <a:cs typeface="Arial"/>
              </a:rPr>
              <a:t>flowchart</a:t>
            </a:r>
            <a:endParaRPr lang="en-IN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lang="en-IN" sz="2400" dirty="0">
              <a:latin typeface="Times New Roman"/>
              <a:cs typeface="Times New Roman"/>
            </a:endParaRPr>
          </a:p>
          <a:p>
            <a:pPr marL="469265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lang="en-IN" spc="-5" dirty="0">
                <a:latin typeface="Arial"/>
                <a:cs typeface="Arial"/>
              </a:rPr>
              <a:t>Flowchart is </a:t>
            </a:r>
            <a:r>
              <a:rPr lang="en-IN" dirty="0">
                <a:latin typeface="Arial"/>
                <a:cs typeface="Arial"/>
              </a:rPr>
              <a:t>an </a:t>
            </a:r>
            <a:r>
              <a:rPr lang="en-IN" spc="-5" dirty="0">
                <a:latin typeface="Arial"/>
                <a:cs typeface="Arial"/>
              </a:rPr>
              <a:t>excellent way </a:t>
            </a:r>
            <a:r>
              <a:rPr lang="en-IN" dirty="0">
                <a:latin typeface="Arial"/>
                <a:cs typeface="Arial"/>
              </a:rPr>
              <a:t>of </a:t>
            </a:r>
            <a:r>
              <a:rPr lang="en-IN" spc="-5" dirty="0">
                <a:latin typeface="Arial"/>
                <a:cs typeface="Arial"/>
              </a:rPr>
              <a:t>communicating the </a:t>
            </a:r>
            <a:r>
              <a:rPr lang="en-IN" dirty="0">
                <a:latin typeface="Arial"/>
                <a:cs typeface="Arial"/>
              </a:rPr>
              <a:t>logic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a</a:t>
            </a:r>
            <a:r>
              <a:rPr lang="en-IN" spc="7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program.</a:t>
            </a:r>
            <a:endParaRPr lang="en-IN" dirty="0">
              <a:latin typeface="Arial"/>
              <a:cs typeface="Arial"/>
            </a:endParaRPr>
          </a:p>
          <a:p>
            <a:pPr marL="469265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lang="en-IN" dirty="0">
                <a:latin typeface="Arial"/>
                <a:cs typeface="Arial"/>
              </a:rPr>
              <a:t>Easy and </a:t>
            </a:r>
            <a:r>
              <a:rPr lang="en-IN" spc="-5" dirty="0">
                <a:latin typeface="Arial"/>
                <a:cs typeface="Arial"/>
              </a:rPr>
              <a:t>efficient </a:t>
            </a:r>
            <a:r>
              <a:rPr lang="en-IN" dirty="0">
                <a:latin typeface="Arial"/>
                <a:cs typeface="Arial"/>
              </a:rPr>
              <a:t>to </a:t>
            </a:r>
            <a:r>
              <a:rPr lang="en-IN" spc="-5" dirty="0" err="1">
                <a:latin typeface="Arial"/>
                <a:cs typeface="Arial"/>
              </a:rPr>
              <a:t>analyze</a:t>
            </a:r>
            <a:r>
              <a:rPr lang="en-IN" spc="-5" dirty="0">
                <a:latin typeface="Arial"/>
                <a:cs typeface="Arial"/>
              </a:rPr>
              <a:t> problem using</a:t>
            </a:r>
            <a:r>
              <a:rPr lang="en-IN" spc="1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flowchart.</a:t>
            </a:r>
            <a:endParaRPr lang="en-IN" dirty="0">
              <a:latin typeface="Arial"/>
              <a:cs typeface="Arial"/>
            </a:endParaRPr>
          </a:p>
          <a:p>
            <a:pPr marL="469265" marR="96520" indent="-228600">
              <a:lnSpc>
                <a:spcPct val="1436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lang="en-IN" spc="-5" dirty="0">
                <a:latin typeface="Arial"/>
                <a:cs typeface="Arial"/>
              </a:rPr>
              <a:t>During program development cycle,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flowchart plays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role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blueprint, which  </a:t>
            </a:r>
            <a:r>
              <a:rPr lang="en-IN" dirty="0">
                <a:latin typeface="Arial"/>
                <a:cs typeface="Arial"/>
              </a:rPr>
              <a:t>makes </a:t>
            </a:r>
            <a:r>
              <a:rPr lang="en-IN" spc="-5" dirty="0">
                <a:latin typeface="Arial"/>
                <a:cs typeface="Arial"/>
              </a:rPr>
              <a:t>program development process easier.</a:t>
            </a:r>
            <a:endParaRPr lang="en-IN" dirty="0">
              <a:latin typeface="Arial"/>
              <a:cs typeface="Arial"/>
            </a:endParaRPr>
          </a:p>
          <a:p>
            <a:pPr marL="469265" marR="103505" indent="-228600">
              <a:lnSpc>
                <a:spcPct val="1442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lang="en-IN" dirty="0">
                <a:latin typeface="Arial"/>
                <a:cs typeface="Arial"/>
              </a:rPr>
              <a:t>After </a:t>
            </a:r>
            <a:r>
              <a:rPr lang="en-IN" spc="-5" dirty="0">
                <a:latin typeface="Arial"/>
                <a:cs typeface="Arial"/>
              </a:rPr>
              <a:t>successful development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a </a:t>
            </a:r>
            <a:r>
              <a:rPr lang="en-IN" spc="-5" dirty="0">
                <a:latin typeface="Arial"/>
                <a:cs typeface="Arial"/>
              </a:rPr>
              <a:t>program, it needs </a:t>
            </a:r>
            <a:r>
              <a:rPr lang="en-IN" dirty="0">
                <a:latin typeface="Arial"/>
                <a:cs typeface="Arial"/>
              </a:rPr>
              <a:t>continuous </a:t>
            </a:r>
            <a:r>
              <a:rPr lang="en-IN" spc="-5" dirty="0">
                <a:latin typeface="Arial"/>
                <a:cs typeface="Arial"/>
              </a:rPr>
              <a:t>timely maintenance  during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course </a:t>
            </a:r>
            <a:r>
              <a:rPr lang="en-IN" spc="-10" dirty="0">
                <a:latin typeface="Arial"/>
                <a:cs typeface="Arial"/>
              </a:rPr>
              <a:t>of its </a:t>
            </a:r>
            <a:r>
              <a:rPr lang="en-IN" spc="-5" dirty="0">
                <a:latin typeface="Arial"/>
                <a:cs typeface="Arial"/>
              </a:rPr>
              <a:t>operation.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flowchart </a:t>
            </a:r>
            <a:r>
              <a:rPr lang="en-IN" dirty="0">
                <a:latin typeface="Arial"/>
                <a:cs typeface="Arial"/>
              </a:rPr>
              <a:t>makes </a:t>
            </a:r>
            <a:r>
              <a:rPr lang="en-IN" spc="-5" dirty="0">
                <a:latin typeface="Arial"/>
                <a:cs typeface="Arial"/>
              </a:rPr>
              <a:t>program </a:t>
            </a:r>
            <a:r>
              <a:rPr lang="en-IN" dirty="0">
                <a:latin typeface="Arial"/>
                <a:cs typeface="Arial"/>
              </a:rPr>
              <a:t>or </a:t>
            </a:r>
            <a:r>
              <a:rPr lang="en-IN" spc="-5" dirty="0">
                <a:latin typeface="Arial"/>
                <a:cs typeface="Arial"/>
              </a:rPr>
              <a:t>system  </a:t>
            </a:r>
            <a:r>
              <a:rPr lang="en-IN" dirty="0">
                <a:latin typeface="Arial"/>
                <a:cs typeface="Arial"/>
              </a:rPr>
              <a:t>maintenance</a:t>
            </a:r>
            <a:r>
              <a:rPr lang="en-IN" spc="-1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easier.</a:t>
            </a:r>
            <a:endParaRPr lang="en-IN" dirty="0">
              <a:latin typeface="Arial"/>
              <a:cs typeface="Arial"/>
            </a:endParaRPr>
          </a:p>
          <a:p>
            <a:pPr marL="469265" indent="-228600">
              <a:lnSpc>
                <a:spcPct val="100000"/>
              </a:lnSpc>
              <a:spcBef>
                <a:spcPts val="66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lang="en-IN" dirty="0">
                <a:latin typeface="Arial"/>
                <a:cs typeface="Arial"/>
              </a:rPr>
              <a:t>It </a:t>
            </a:r>
            <a:r>
              <a:rPr lang="en-IN" spc="-5" dirty="0">
                <a:latin typeface="Arial"/>
                <a:cs typeface="Arial"/>
              </a:rPr>
              <a:t>is </a:t>
            </a:r>
            <a:r>
              <a:rPr lang="en-IN" dirty="0">
                <a:latin typeface="Arial"/>
                <a:cs typeface="Arial"/>
              </a:rPr>
              <a:t>easy to </a:t>
            </a:r>
            <a:r>
              <a:rPr lang="en-IN" spc="-5" dirty="0">
                <a:latin typeface="Arial"/>
                <a:cs typeface="Arial"/>
              </a:rPr>
              <a:t>convert </a:t>
            </a:r>
            <a:r>
              <a:rPr lang="en-IN" dirty="0">
                <a:latin typeface="Arial"/>
                <a:cs typeface="Arial"/>
              </a:rPr>
              <a:t>the </a:t>
            </a:r>
            <a:r>
              <a:rPr lang="en-IN" spc="-5" dirty="0">
                <a:latin typeface="Arial"/>
                <a:cs typeface="Arial"/>
              </a:rPr>
              <a:t>flowchart </a:t>
            </a:r>
            <a:r>
              <a:rPr lang="en-IN" dirty="0">
                <a:latin typeface="Arial"/>
                <a:cs typeface="Arial"/>
              </a:rPr>
              <a:t>into any </a:t>
            </a:r>
            <a:r>
              <a:rPr lang="en-IN" spc="-5" dirty="0">
                <a:latin typeface="Arial"/>
                <a:cs typeface="Arial"/>
              </a:rPr>
              <a:t>programming language</a:t>
            </a:r>
            <a:r>
              <a:rPr lang="en-IN" spc="-1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code.</a:t>
            </a:r>
          </a:p>
        </p:txBody>
      </p:sp>
    </p:spTree>
    <p:extLst>
      <p:ext uri="{BB962C8B-B14F-4D97-AF65-F5344CB8AC3E}">
        <p14:creationId xmlns:p14="http://schemas.microsoft.com/office/powerpoint/2010/main" val="336392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353372"/>
              </p:ext>
            </p:extLst>
          </p:nvPr>
        </p:nvGraphicFramePr>
        <p:xfrm>
          <a:off x="990597" y="304802"/>
          <a:ext cx="7543802" cy="6172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601"/>
                <a:gridCol w="2514601"/>
                <a:gridCol w="2514600"/>
              </a:tblGrid>
              <a:tr h="188177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Symbol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Name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Symbol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2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function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Oval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 marR="187960">
                        <a:lnSpc>
                          <a:spcPts val="126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to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represent start and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end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flowchart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3258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4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Parallelogram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222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 marR="312420">
                        <a:lnSpc>
                          <a:spcPts val="127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Used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for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input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7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output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operation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2851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Rectangle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 marR="313055">
                        <a:lnSpc>
                          <a:spcPct val="959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Processing: Used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for 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arithmetic operations and  data-manipulations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6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Diamond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 marR="242570">
                        <a:lnSpc>
                          <a:spcPct val="959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Decision making. Used to  represent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operation in  which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there are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two/three  alternatives,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true and</a:t>
                      </a:r>
                      <a:r>
                        <a:rPr sz="7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false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etc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08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Arrows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 marR="288290">
                        <a:lnSpc>
                          <a:spcPct val="959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Flow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line Used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7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indicate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 flow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logic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by 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connecting</a:t>
                      </a:r>
                      <a:r>
                        <a:rPr sz="7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symbols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1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Circle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6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700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 Connector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6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76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Off Page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Connector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6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4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295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Predefined Process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 marL="68580" marR="156210">
                        <a:lnSpc>
                          <a:spcPct val="95800"/>
                        </a:lnSpc>
                        <a:spcBef>
                          <a:spcPts val="3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/Function Used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7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represent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 group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statements  performing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one </a:t>
                      </a:r>
                      <a:r>
                        <a:rPr sz="700" spc="-5" dirty="0">
                          <a:latin typeface="Arial"/>
                          <a:cs typeface="Arial"/>
                        </a:rPr>
                        <a:t>processing 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task.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86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Preprocessor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407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5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3730">
                        <a:lnSpc>
                          <a:spcPts val="1255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|--------------</a:t>
                      </a:r>
                      <a:endParaRPr sz="700" dirty="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ts val="1265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---------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|</a:t>
                      </a:r>
                    </a:p>
                    <a:p>
                      <a:pPr marL="633730">
                        <a:lnSpc>
                          <a:spcPts val="1235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|--------------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700" spc="-5" dirty="0">
                          <a:latin typeface="Arial"/>
                          <a:cs typeface="Arial"/>
                        </a:rPr>
                        <a:t>Comments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162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280007" y="1371600"/>
            <a:ext cx="1106501" cy="146608"/>
          </a:xfrm>
          <a:custGeom>
            <a:avLst/>
            <a:gdLst/>
            <a:ahLst/>
            <a:cxnLst/>
            <a:rect l="l" t="t" r="r" b="b"/>
            <a:pathLst>
              <a:path w="914400" h="228600">
                <a:moveTo>
                  <a:pt x="182879" y="0"/>
                </a:moveTo>
                <a:lnTo>
                  <a:pt x="914400" y="0"/>
                </a:lnTo>
                <a:lnTo>
                  <a:pt x="728345" y="228600"/>
                </a:lnTo>
                <a:lnTo>
                  <a:pt x="0" y="228600"/>
                </a:lnTo>
                <a:lnTo>
                  <a:pt x="18287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37852" y="5644592"/>
            <a:ext cx="829876" cy="146608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138175" y="0"/>
                </a:moveTo>
                <a:lnTo>
                  <a:pt x="546608" y="0"/>
                </a:lnTo>
                <a:lnTo>
                  <a:pt x="685800" y="114299"/>
                </a:lnTo>
                <a:lnTo>
                  <a:pt x="546608" y="228599"/>
                </a:lnTo>
                <a:lnTo>
                  <a:pt x="138175" y="228599"/>
                </a:lnTo>
                <a:lnTo>
                  <a:pt x="0" y="114299"/>
                </a:lnTo>
                <a:lnTo>
                  <a:pt x="13817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 flipV="1">
            <a:off x="4224681" y="762000"/>
            <a:ext cx="968188" cy="178826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128778" y="0"/>
                </a:moveTo>
                <a:lnTo>
                  <a:pt x="78652" y="8983"/>
                </a:lnTo>
                <a:lnTo>
                  <a:pt x="37718" y="33480"/>
                </a:lnTo>
                <a:lnTo>
                  <a:pt x="10120" y="69812"/>
                </a:lnTo>
                <a:lnTo>
                  <a:pt x="0" y="114300"/>
                </a:lnTo>
                <a:lnTo>
                  <a:pt x="10120" y="158787"/>
                </a:lnTo>
                <a:lnTo>
                  <a:pt x="37719" y="195119"/>
                </a:lnTo>
                <a:lnTo>
                  <a:pt x="78652" y="219616"/>
                </a:lnTo>
                <a:lnTo>
                  <a:pt x="128778" y="228600"/>
                </a:lnTo>
                <a:lnTo>
                  <a:pt x="671322" y="228600"/>
                </a:lnTo>
                <a:lnTo>
                  <a:pt x="721447" y="219616"/>
                </a:lnTo>
                <a:lnTo>
                  <a:pt x="762381" y="195119"/>
                </a:lnTo>
                <a:lnTo>
                  <a:pt x="789979" y="158787"/>
                </a:lnTo>
                <a:lnTo>
                  <a:pt x="800100" y="114300"/>
                </a:lnTo>
                <a:lnTo>
                  <a:pt x="789979" y="69812"/>
                </a:lnTo>
                <a:lnTo>
                  <a:pt x="762381" y="33480"/>
                </a:lnTo>
                <a:lnTo>
                  <a:pt x="721447" y="8983"/>
                </a:lnTo>
                <a:lnTo>
                  <a:pt x="671322" y="0"/>
                </a:lnTo>
                <a:lnTo>
                  <a:pt x="12877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4280007" y="1905000"/>
            <a:ext cx="829876" cy="219912"/>
          </a:xfrm>
          <a:custGeom>
            <a:avLst/>
            <a:gdLst/>
            <a:ahLst/>
            <a:cxnLst/>
            <a:rect l="l" t="t" r="r" b="b"/>
            <a:pathLst>
              <a:path w="685800" h="342900">
                <a:moveTo>
                  <a:pt x="0" y="342900"/>
                </a:moveTo>
                <a:lnTo>
                  <a:pt x="685800" y="342900"/>
                </a:lnTo>
                <a:lnTo>
                  <a:pt x="68580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4276165" y="2590800"/>
            <a:ext cx="829876" cy="293216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342900" y="0"/>
                </a:moveTo>
                <a:lnTo>
                  <a:pt x="0" y="228600"/>
                </a:lnTo>
                <a:lnTo>
                  <a:pt x="342900" y="457200"/>
                </a:lnTo>
                <a:lnTo>
                  <a:pt x="685800" y="228600"/>
                </a:lnTo>
                <a:lnTo>
                  <a:pt x="34290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72675" y="3276600"/>
            <a:ext cx="92208" cy="146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56632" y="3505200"/>
            <a:ext cx="414938" cy="48869"/>
          </a:xfrm>
          <a:custGeom>
            <a:avLst/>
            <a:gdLst/>
            <a:ahLst/>
            <a:cxnLst/>
            <a:rect l="l" t="t" r="r" b="b"/>
            <a:pathLst>
              <a:path w="342900" h="76200">
                <a:moveTo>
                  <a:pt x="266678" y="44426"/>
                </a:moveTo>
                <a:lnTo>
                  <a:pt x="266573" y="76200"/>
                </a:lnTo>
                <a:lnTo>
                  <a:pt x="330391" y="44450"/>
                </a:lnTo>
                <a:lnTo>
                  <a:pt x="279400" y="44450"/>
                </a:lnTo>
                <a:lnTo>
                  <a:pt x="266678" y="44426"/>
                </a:lnTo>
                <a:close/>
              </a:path>
              <a:path w="342900" h="76200">
                <a:moveTo>
                  <a:pt x="266721" y="31726"/>
                </a:moveTo>
                <a:lnTo>
                  <a:pt x="266678" y="44426"/>
                </a:lnTo>
                <a:lnTo>
                  <a:pt x="279400" y="44450"/>
                </a:lnTo>
                <a:lnTo>
                  <a:pt x="279400" y="31750"/>
                </a:lnTo>
                <a:lnTo>
                  <a:pt x="266721" y="31726"/>
                </a:lnTo>
                <a:close/>
              </a:path>
              <a:path w="342900" h="76200">
                <a:moveTo>
                  <a:pt x="266826" y="0"/>
                </a:moveTo>
                <a:lnTo>
                  <a:pt x="266721" y="31726"/>
                </a:lnTo>
                <a:lnTo>
                  <a:pt x="279400" y="31750"/>
                </a:lnTo>
                <a:lnTo>
                  <a:pt x="279400" y="44450"/>
                </a:lnTo>
                <a:lnTo>
                  <a:pt x="330391" y="44450"/>
                </a:lnTo>
                <a:lnTo>
                  <a:pt x="342900" y="38226"/>
                </a:lnTo>
                <a:lnTo>
                  <a:pt x="266826" y="0"/>
                </a:lnTo>
                <a:close/>
              </a:path>
              <a:path w="342900" h="76200">
                <a:moveTo>
                  <a:pt x="0" y="31241"/>
                </a:moveTo>
                <a:lnTo>
                  <a:pt x="0" y="43941"/>
                </a:lnTo>
                <a:lnTo>
                  <a:pt x="266678" y="44426"/>
                </a:lnTo>
                <a:lnTo>
                  <a:pt x="266721" y="31726"/>
                </a:lnTo>
                <a:lnTo>
                  <a:pt x="0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2675" y="3581400"/>
            <a:ext cx="92208" cy="146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65069" y="3505200"/>
            <a:ext cx="414938" cy="48869"/>
          </a:xfrm>
          <a:custGeom>
            <a:avLst/>
            <a:gdLst/>
            <a:ahLst/>
            <a:cxnLst/>
            <a:rect l="l" t="t" r="r" b="b"/>
            <a:pathLst>
              <a:path w="342900" h="76200">
                <a:moveTo>
                  <a:pt x="76073" y="0"/>
                </a:moveTo>
                <a:lnTo>
                  <a:pt x="0" y="38226"/>
                </a:lnTo>
                <a:lnTo>
                  <a:pt x="76326" y="76200"/>
                </a:lnTo>
                <a:lnTo>
                  <a:pt x="76221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178" y="31726"/>
                </a:lnTo>
                <a:lnTo>
                  <a:pt x="76073" y="0"/>
                </a:lnTo>
                <a:close/>
              </a:path>
              <a:path w="342900" h="76200">
                <a:moveTo>
                  <a:pt x="76178" y="31726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21" y="44426"/>
                </a:lnTo>
                <a:lnTo>
                  <a:pt x="76178" y="31726"/>
                </a:lnTo>
                <a:close/>
              </a:path>
              <a:path w="342900" h="76200">
                <a:moveTo>
                  <a:pt x="76221" y="44426"/>
                </a:moveTo>
                <a:lnTo>
                  <a:pt x="63500" y="44450"/>
                </a:lnTo>
                <a:lnTo>
                  <a:pt x="76221" y="44450"/>
                </a:lnTo>
                <a:close/>
              </a:path>
              <a:path w="342900" h="76200">
                <a:moveTo>
                  <a:pt x="342900" y="31241"/>
                </a:moveTo>
                <a:lnTo>
                  <a:pt x="76178" y="31726"/>
                </a:lnTo>
                <a:lnTo>
                  <a:pt x="76221" y="44426"/>
                </a:lnTo>
                <a:lnTo>
                  <a:pt x="342900" y="43941"/>
                </a:lnTo>
                <a:lnTo>
                  <a:pt x="342900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53389" y="3962083"/>
            <a:ext cx="288151" cy="1527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59151" y="4298874"/>
            <a:ext cx="414938" cy="146608"/>
          </a:xfrm>
          <a:custGeom>
            <a:avLst/>
            <a:gdLst/>
            <a:ahLst/>
            <a:cxnLst/>
            <a:rect l="l" t="t" r="r" b="b"/>
            <a:pathLst>
              <a:path w="342900" h="228600">
                <a:moveTo>
                  <a:pt x="0" y="0"/>
                </a:moveTo>
                <a:lnTo>
                  <a:pt x="342900" y="0"/>
                </a:lnTo>
                <a:lnTo>
                  <a:pt x="342900" y="182625"/>
                </a:lnTo>
                <a:lnTo>
                  <a:pt x="171450" y="228600"/>
                </a:lnTo>
                <a:lnTo>
                  <a:pt x="0" y="18262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20838" y="4864130"/>
            <a:ext cx="829876" cy="219912"/>
          </a:xfrm>
          <a:custGeom>
            <a:avLst/>
            <a:gdLst/>
            <a:ahLst/>
            <a:cxnLst/>
            <a:rect l="l" t="t" r="r" b="b"/>
            <a:pathLst>
              <a:path w="685800" h="342900">
                <a:moveTo>
                  <a:pt x="0" y="342900"/>
                </a:moveTo>
                <a:lnTo>
                  <a:pt x="685800" y="342900"/>
                </a:lnTo>
                <a:lnTo>
                  <a:pt x="68580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21039" y="4864130"/>
            <a:ext cx="0" cy="21991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50515" y="4864130"/>
            <a:ext cx="0" cy="219912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084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>
                <a:solidFill>
                  <a:srgbClr val="FF0000"/>
                </a:solidFill>
              </a:rPr>
              <a:t>Algorithm </a:t>
            </a:r>
            <a:r>
              <a:rPr lang="en-IN" b="1" dirty="0">
                <a:solidFill>
                  <a:srgbClr val="FF0000"/>
                </a:solidFill>
              </a:rPr>
              <a:t>&amp; Flowchart to find the sum of two numbers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t"/>
            <a:r>
              <a:rPr lang="en-IN" b="1" dirty="0" smtClean="0"/>
              <a:t>Algorithm</a:t>
            </a:r>
            <a:endParaRPr lang="en-IN" dirty="0"/>
          </a:p>
          <a:p>
            <a:pPr fontAlgn="t"/>
            <a:r>
              <a:rPr lang="en-IN" dirty="0"/>
              <a:t>Step-1 </a:t>
            </a:r>
            <a:r>
              <a:rPr lang="en-IN" dirty="0" smtClean="0"/>
              <a:t>	Start</a:t>
            </a:r>
            <a:endParaRPr lang="en-IN" dirty="0"/>
          </a:p>
          <a:p>
            <a:pPr fontAlgn="t"/>
            <a:r>
              <a:rPr lang="en-IN" dirty="0"/>
              <a:t>Step-2	Input first numbers say A</a:t>
            </a:r>
          </a:p>
          <a:p>
            <a:pPr fontAlgn="t"/>
            <a:r>
              <a:rPr lang="en-IN" dirty="0"/>
              <a:t>Step-3	Input second number say B  </a:t>
            </a:r>
            <a:endParaRPr lang="en-IN" dirty="0" smtClean="0"/>
          </a:p>
          <a:p>
            <a:pPr fontAlgn="t"/>
            <a:r>
              <a:rPr lang="en-IN" dirty="0" smtClean="0"/>
              <a:t>Step-4</a:t>
            </a:r>
            <a:r>
              <a:rPr lang="en-IN" dirty="0"/>
              <a:t>	SUM = A + B</a:t>
            </a:r>
          </a:p>
          <a:p>
            <a:pPr fontAlgn="t"/>
            <a:r>
              <a:rPr lang="en-IN" dirty="0"/>
              <a:t>Step-5	Display SUM  </a:t>
            </a:r>
            <a:endParaRPr lang="en-IN" dirty="0" smtClean="0"/>
          </a:p>
          <a:p>
            <a:pPr fontAlgn="t"/>
            <a:r>
              <a:rPr lang="en-IN" dirty="0" smtClean="0"/>
              <a:t>Step-6 Stop</a:t>
            </a:r>
            <a:endParaRPr lang="en-IN" dirty="0"/>
          </a:p>
          <a:p>
            <a:pPr marL="0" indent="0" fontAlgn="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17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33910"/>
            <a:ext cx="1828800" cy="4538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064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b="1" spc="-5" dirty="0" smtClean="0">
                <a:latin typeface="Arial"/>
                <a:cs typeface="Arial"/>
              </a:rPr>
              <a:t/>
            </a:r>
            <a:br>
              <a:rPr lang="en-IN" b="1" spc="-5" dirty="0" smtClean="0">
                <a:latin typeface="Arial"/>
                <a:cs typeface="Arial"/>
              </a:rPr>
            </a:b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Algorithm/</a:t>
            </a:r>
            <a:r>
              <a:rPr lang="en-IN" sz="4000" b="1" dirty="0" smtClean="0">
                <a:solidFill>
                  <a:srgbClr val="FF0000"/>
                </a:solidFill>
                <a:latin typeface="Arial"/>
                <a:cs typeface="Arial"/>
              </a:rPr>
              <a:t>Flowchart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convert </a:t>
            </a: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temp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from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Celsius </a:t>
            </a:r>
            <a:r>
              <a:rPr lang="en-IN" sz="4000" b="1" dirty="0" smtClean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lang="en-IN" sz="4000" b="1" spc="55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Fahrenheit</a:t>
            </a:r>
            <a:r>
              <a:rPr lang="en-IN" sz="4000" dirty="0">
                <a:latin typeface="Arial"/>
                <a:cs typeface="Arial"/>
              </a:rPr>
              <a:t/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 : temperature in Celsius  F : temperature Fahrenheit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Algorithm</a:t>
            </a:r>
          </a:p>
          <a:p>
            <a:endParaRPr lang="en-IN" dirty="0"/>
          </a:p>
          <a:p>
            <a:r>
              <a:rPr lang="en-IN" dirty="0"/>
              <a:t>Step-1 </a:t>
            </a:r>
            <a:r>
              <a:rPr lang="en-IN" dirty="0" smtClean="0"/>
              <a:t>	Start</a:t>
            </a:r>
            <a:endParaRPr lang="en-IN" dirty="0"/>
          </a:p>
          <a:p>
            <a:r>
              <a:rPr lang="en-IN" dirty="0"/>
              <a:t>Step-2	Input temperature in Celsius say C  Step-3	F = (9.0/5.0 x C) + 32</a:t>
            </a:r>
          </a:p>
          <a:p>
            <a:r>
              <a:rPr lang="en-IN" dirty="0"/>
              <a:t>Step-4	Display Temperature in Fahrenheit F  Step-5 </a:t>
            </a:r>
            <a:r>
              <a:rPr lang="en-IN" dirty="0" smtClean="0"/>
              <a:t>	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52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76400"/>
            <a:ext cx="1828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99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 smtClean="0">
                <a:latin typeface="Arial"/>
                <a:cs typeface="Arial"/>
              </a:rPr>
              <a:t/>
            </a:r>
            <a:br>
              <a:rPr lang="en-IN" b="1" spc="-5" dirty="0" smtClean="0">
                <a:latin typeface="Arial"/>
                <a:cs typeface="Arial"/>
              </a:rPr>
            </a:br>
            <a:r>
              <a:rPr lang="en-IN" b="1" spc="-5" dirty="0" smtClean="0">
                <a:solidFill>
                  <a:srgbClr val="FF0000"/>
                </a:solidFill>
                <a:latin typeface="Arial"/>
                <a:cs typeface="Arial"/>
              </a:rPr>
              <a:t>Algorithm </a:t>
            </a: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Flowchart to find </a:t>
            </a:r>
            <a:r>
              <a:rPr lang="en-IN" b="1" spc="-10" dirty="0">
                <a:solidFill>
                  <a:srgbClr val="FF0000"/>
                </a:solidFill>
                <a:latin typeface="Arial"/>
                <a:cs typeface="Arial"/>
              </a:rPr>
              <a:t>Area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Perimeter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lang="en-IN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Square</a:t>
            </a:r>
            <a:r>
              <a:rPr lang="en-IN" dirty="0">
                <a:latin typeface="Arial"/>
                <a:cs typeface="Arial"/>
              </a:rPr>
              <a:t/>
            </a:r>
            <a:br>
              <a:rPr lang="en-IN" dirty="0">
                <a:latin typeface="Arial"/>
                <a:cs typeface="Arial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L : Side Length of Square  AREA : Area of Square</a:t>
            </a:r>
          </a:p>
          <a:p>
            <a:r>
              <a:rPr lang="en-IN" dirty="0"/>
              <a:t>PERIMETER : Perimeter of Square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Algorithm</a:t>
            </a:r>
          </a:p>
          <a:p>
            <a:r>
              <a:rPr lang="en-IN" dirty="0" smtClean="0"/>
              <a:t>Step-1 	Start</a:t>
            </a:r>
            <a:endParaRPr lang="en-IN" dirty="0"/>
          </a:p>
          <a:p>
            <a:r>
              <a:rPr lang="en-IN" dirty="0"/>
              <a:t>Step-2	Input Side Length of Square say L  </a:t>
            </a:r>
            <a:endParaRPr lang="en-IN" dirty="0" smtClean="0"/>
          </a:p>
          <a:p>
            <a:r>
              <a:rPr lang="en-IN" dirty="0" smtClean="0"/>
              <a:t>Step-3</a:t>
            </a:r>
            <a:r>
              <a:rPr lang="en-IN" dirty="0"/>
              <a:t>	Area = L x L</a:t>
            </a:r>
          </a:p>
          <a:p>
            <a:r>
              <a:rPr lang="en-IN" dirty="0"/>
              <a:t>Step-4	PERIMETER = 4 x L</a:t>
            </a:r>
          </a:p>
          <a:p>
            <a:r>
              <a:rPr lang="en-IN" dirty="0"/>
              <a:t>Step-5	Display AREA, PERIMETER </a:t>
            </a:r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/>
              <a:t>Step-6 </a:t>
            </a:r>
            <a:r>
              <a:rPr lang="en-IN" dirty="0" smtClean="0"/>
              <a:t>	Stop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932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640980"/>
            <a:ext cx="1981200" cy="4531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667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solidFill>
                  <a:srgbClr val="FF0000"/>
                </a:solidFill>
              </a:rPr>
              <a:t>Algorithm </a:t>
            </a:r>
            <a:r>
              <a:rPr lang="en-IN" dirty="0">
                <a:solidFill>
                  <a:srgbClr val="FF0000"/>
                </a:solidFill>
              </a:rPr>
              <a:t>&amp; Flowchart to find Area &amp; Perimeter of Triangle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A : First Side of Triangle</a:t>
            </a:r>
          </a:p>
          <a:p>
            <a:r>
              <a:rPr lang="en-IN" dirty="0"/>
              <a:t>B : Second Side of Triangle  C : Third Side of Triangle  AREA : Area of Triangle</a:t>
            </a:r>
          </a:p>
          <a:p>
            <a:r>
              <a:rPr lang="en-IN" dirty="0"/>
              <a:t>PERIMETER : Perimeter of Triangle</a:t>
            </a:r>
          </a:p>
          <a:p>
            <a:pPr marL="0" indent="0">
              <a:buNone/>
            </a:pPr>
            <a:r>
              <a:rPr lang="en-IN" dirty="0" smtClean="0"/>
              <a:t>Algorithm</a:t>
            </a:r>
            <a:endParaRPr lang="en-IN" dirty="0"/>
          </a:p>
          <a:p>
            <a:endParaRPr lang="en-IN" dirty="0"/>
          </a:p>
          <a:p>
            <a:r>
              <a:rPr lang="en-IN" dirty="0"/>
              <a:t>Step-1 </a:t>
            </a:r>
            <a:r>
              <a:rPr lang="en-IN" dirty="0" smtClean="0"/>
              <a:t>	Start</a:t>
            </a:r>
            <a:endParaRPr lang="en-IN" dirty="0"/>
          </a:p>
          <a:p>
            <a:r>
              <a:rPr lang="en-IN" dirty="0"/>
              <a:t>Step-2	Input Sides of Triangle A,B,C  </a:t>
            </a:r>
            <a:endParaRPr lang="en-IN" dirty="0" smtClean="0"/>
          </a:p>
          <a:p>
            <a:r>
              <a:rPr lang="en-IN" dirty="0" smtClean="0"/>
              <a:t>Step-3</a:t>
            </a:r>
            <a:r>
              <a:rPr lang="en-IN" dirty="0"/>
              <a:t>	S= (A + B + C)/ 2.0</a:t>
            </a:r>
          </a:p>
          <a:p>
            <a:r>
              <a:rPr lang="en-IN" dirty="0"/>
              <a:t>Step-4	AREA = SQRT(S x (S-A) x (S-B) x(S-C)) </a:t>
            </a:r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/>
              <a:t>Step-5	PERIMETER = S1 + S2 + S3</a:t>
            </a:r>
          </a:p>
          <a:p>
            <a:r>
              <a:rPr lang="en-IN" dirty="0"/>
              <a:t>Step-6	Display AREA, PERIMETER  </a:t>
            </a:r>
            <a:endParaRPr lang="en-IN" dirty="0" smtClean="0"/>
          </a:p>
          <a:p>
            <a:r>
              <a:rPr lang="en-IN" dirty="0" smtClean="0"/>
              <a:t>Step-7 	Stop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815247"/>
            <a:ext cx="2514600" cy="4509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466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solidFill>
                  <a:srgbClr val="FF0000"/>
                </a:solidFill>
              </a:rPr>
              <a:t>Algorithm </a:t>
            </a:r>
            <a:r>
              <a:rPr lang="en-IN" dirty="0">
                <a:solidFill>
                  <a:srgbClr val="FF0000"/>
                </a:solidFill>
              </a:rPr>
              <a:t>&amp; Flowchart to find Simple Interest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 : Principle Amount  N : Time in Years</a:t>
            </a:r>
          </a:p>
          <a:p>
            <a:r>
              <a:rPr lang="en-IN" dirty="0"/>
              <a:t>R : % Annual Rate of Interest  SI : Simple Interest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Algorithm</a:t>
            </a:r>
          </a:p>
          <a:p>
            <a:endParaRPr lang="en-IN" dirty="0"/>
          </a:p>
          <a:p>
            <a:r>
              <a:rPr lang="en-IN" dirty="0"/>
              <a:t>Step-1 </a:t>
            </a:r>
            <a:r>
              <a:rPr lang="en-IN" dirty="0" smtClean="0"/>
              <a:t>	Start</a:t>
            </a:r>
            <a:endParaRPr lang="en-IN" dirty="0"/>
          </a:p>
          <a:p>
            <a:r>
              <a:rPr lang="en-IN" dirty="0"/>
              <a:t>Step-2	Input value of P, N, R  </a:t>
            </a:r>
            <a:endParaRPr lang="en-IN" dirty="0" smtClean="0"/>
          </a:p>
          <a:p>
            <a:r>
              <a:rPr lang="en-IN" dirty="0" smtClean="0"/>
              <a:t>Step-3</a:t>
            </a:r>
            <a:r>
              <a:rPr lang="en-IN" dirty="0"/>
              <a:t>	SI = (P x N x R)/100.0</a:t>
            </a:r>
          </a:p>
          <a:p>
            <a:r>
              <a:rPr lang="en-IN" dirty="0"/>
              <a:t>Step-4	Display SI </a:t>
            </a:r>
            <a:r>
              <a:rPr lang="en-IN" dirty="0" smtClean="0"/>
              <a:t>  </a:t>
            </a:r>
          </a:p>
          <a:p>
            <a:r>
              <a:rPr lang="en-IN" dirty="0" smtClean="0"/>
              <a:t>Step-6 	Stop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63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040318"/>
            <a:ext cx="1981200" cy="4055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191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127000">
              <a:lnSpc>
                <a:spcPct val="100000"/>
              </a:lnSpc>
            </a:pP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Algorithm &amp;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Flowchart to find </a:t>
            </a:r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Compound</a:t>
            </a:r>
            <a:r>
              <a:rPr lang="en-IN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Interest</a:t>
            </a:r>
            <a:endParaRPr lang="en-IN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7000" marR="2395220">
              <a:lnSpc>
                <a:spcPts val="1260"/>
              </a:lnSpc>
              <a:spcBef>
                <a:spcPts val="635"/>
              </a:spcBef>
            </a:pPr>
            <a:r>
              <a:rPr lang="en-IN" dirty="0">
                <a:latin typeface="Arial"/>
                <a:cs typeface="Arial"/>
              </a:rPr>
              <a:t>P : </a:t>
            </a:r>
            <a:r>
              <a:rPr lang="en-IN" spc="-5" dirty="0">
                <a:latin typeface="Arial"/>
                <a:cs typeface="Arial"/>
              </a:rPr>
              <a:t>Principle</a:t>
            </a:r>
            <a:r>
              <a:rPr lang="en-IN" spc="-4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Amount  </a:t>
            </a:r>
            <a:endParaRPr lang="en-IN" spc="-5" dirty="0" smtClean="0">
              <a:latin typeface="Arial"/>
              <a:cs typeface="Arial"/>
            </a:endParaRPr>
          </a:p>
          <a:p>
            <a:pPr marL="127000" marR="2395220">
              <a:lnSpc>
                <a:spcPts val="1260"/>
              </a:lnSpc>
              <a:spcBef>
                <a:spcPts val="635"/>
              </a:spcBef>
            </a:pPr>
            <a:r>
              <a:rPr lang="en-IN" dirty="0" smtClean="0">
                <a:latin typeface="Arial"/>
                <a:cs typeface="Arial"/>
              </a:rPr>
              <a:t>N </a:t>
            </a:r>
            <a:r>
              <a:rPr lang="en-IN" dirty="0">
                <a:latin typeface="Arial"/>
                <a:cs typeface="Arial"/>
              </a:rPr>
              <a:t>: </a:t>
            </a:r>
            <a:r>
              <a:rPr lang="en-IN" spc="-5" dirty="0">
                <a:latin typeface="Arial"/>
                <a:cs typeface="Arial"/>
              </a:rPr>
              <a:t>Time </a:t>
            </a:r>
            <a:r>
              <a:rPr lang="en-IN" dirty="0">
                <a:latin typeface="Arial"/>
                <a:cs typeface="Arial"/>
              </a:rPr>
              <a:t>in</a:t>
            </a:r>
            <a:r>
              <a:rPr lang="en-IN" spc="-30" dirty="0">
                <a:latin typeface="Arial"/>
                <a:cs typeface="Arial"/>
              </a:rPr>
              <a:t> </a:t>
            </a:r>
            <a:r>
              <a:rPr lang="en-IN" spc="-5" dirty="0" smtClean="0">
                <a:latin typeface="Arial"/>
                <a:cs typeface="Arial"/>
              </a:rPr>
              <a:t>Years</a:t>
            </a:r>
          </a:p>
          <a:p>
            <a:pPr marL="0" marR="2395220" indent="0">
              <a:lnSpc>
                <a:spcPts val="1260"/>
              </a:lnSpc>
              <a:spcBef>
                <a:spcPts val="635"/>
              </a:spcBef>
              <a:buNone/>
            </a:pPr>
            <a:endParaRPr lang="en-IN" dirty="0">
              <a:latin typeface="Arial"/>
              <a:cs typeface="Arial"/>
            </a:endParaRPr>
          </a:p>
          <a:p>
            <a:pPr marL="127000" marR="1851660">
              <a:lnSpc>
                <a:spcPts val="1260"/>
              </a:lnSpc>
              <a:spcBef>
                <a:spcPts val="10"/>
              </a:spcBef>
            </a:pPr>
            <a:r>
              <a:rPr lang="en-IN" dirty="0">
                <a:latin typeface="Arial"/>
                <a:cs typeface="Arial"/>
              </a:rPr>
              <a:t>R : % </a:t>
            </a:r>
            <a:r>
              <a:rPr lang="en-IN" spc="-5" dirty="0">
                <a:latin typeface="Arial"/>
                <a:cs typeface="Arial"/>
              </a:rPr>
              <a:t>Annual Rate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dirty="0">
                <a:latin typeface="Arial"/>
                <a:cs typeface="Arial"/>
              </a:rPr>
              <a:t>Interest  </a:t>
            </a:r>
            <a:endParaRPr lang="en-IN" dirty="0" smtClean="0">
              <a:latin typeface="Arial"/>
              <a:cs typeface="Arial"/>
            </a:endParaRPr>
          </a:p>
          <a:p>
            <a:pPr marL="127000" marR="1851660">
              <a:lnSpc>
                <a:spcPts val="1260"/>
              </a:lnSpc>
              <a:spcBef>
                <a:spcPts val="10"/>
              </a:spcBef>
            </a:pPr>
            <a:endParaRPr lang="en-IN" dirty="0" smtClean="0">
              <a:latin typeface="Arial"/>
              <a:cs typeface="Arial"/>
            </a:endParaRPr>
          </a:p>
          <a:p>
            <a:pPr marL="127000" marR="1851660">
              <a:lnSpc>
                <a:spcPts val="1260"/>
              </a:lnSpc>
              <a:spcBef>
                <a:spcPts val="10"/>
              </a:spcBef>
            </a:pPr>
            <a:r>
              <a:rPr lang="en-IN" spc="-5" dirty="0" smtClean="0">
                <a:latin typeface="Arial"/>
                <a:cs typeface="Arial"/>
              </a:rPr>
              <a:t>CI </a:t>
            </a:r>
            <a:r>
              <a:rPr lang="en-IN" dirty="0">
                <a:latin typeface="Arial"/>
                <a:cs typeface="Arial"/>
              </a:rPr>
              <a:t>: Compound</a:t>
            </a:r>
            <a:r>
              <a:rPr lang="en-IN" spc="-1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Interest</a:t>
            </a:r>
            <a:endParaRPr lang="en-IN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IN" sz="3600" dirty="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  <a:spcBef>
                <a:spcPts val="1075"/>
              </a:spcBef>
            </a:pPr>
            <a:r>
              <a:rPr lang="en-IN" b="1" spc="-5" dirty="0">
                <a:latin typeface="Arial"/>
                <a:cs typeface="Arial"/>
              </a:rPr>
              <a:t>Algorithm</a:t>
            </a:r>
            <a:endParaRPr lang="en-IN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lang="en-IN" dirty="0">
                <a:latin typeface="Arial"/>
                <a:cs typeface="Arial"/>
              </a:rPr>
              <a:t>Step-1</a:t>
            </a:r>
            <a:r>
              <a:rPr lang="en-IN" spc="30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Start</a:t>
            </a:r>
            <a:endParaRPr lang="en-IN" dirty="0">
              <a:latin typeface="Arial"/>
              <a:cs typeface="Arial"/>
            </a:endParaRPr>
          </a:p>
          <a:p>
            <a:pPr marL="127000" marR="1625600">
              <a:lnSpc>
                <a:spcPct val="191800"/>
              </a:lnSpc>
              <a:tabLst>
                <a:tab pos="732790" algn="l"/>
              </a:tabLst>
            </a:pPr>
            <a:r>
              <a:rPr lang="en-IN" dirty="0">
                <a:latin typeface="Arial"/>
                <a:cs typeface="Arial"/>
              </a:rPr>
              <a:t>Step-2	</a:t>
            </a:r>
            <a:r>
              <a:rPr lang="en-IN" spc="-5" dirty="0">
                <a:latin typeface="Arial"/>
                <a:cs typeface="Arial"/>
              </a:rPr>
              <a:t>Input value </a:t>
            </a:r>
            <a:r>
              <a:rPr lang="en-IN" spc="-10" dirty="0">
                <a:latin typeface="Arial"/>
                <a:cs typeface="Arial"/>
              </a:rPr>
              <a:t>of </a:t>
            </a:r>
            <a:r>
              <a:rPr lang="en-IN" spc="-5" dirty="0">
                <a:latin typeface="Arial"/>
                <a:cs typeface="Arial"/>
              </a:rPr>
              <a:t>P, N, </a:t>
            </a:r>
            <a:r>
              <a:rPr lang="en-IN" dirty="0">
                <a:latin typeface="Arial"/>
                <a:cs typeface="Arial"/>
              </a:rPr>
              <a:t>R C  </a:t>
            </a:r>
            <a:endParaRPr lang="en-IN" dirty="0" smtClean="0">
              <a:latin typeface="Arial"/>
              <a:cs typeface="Arial"/>
            </a:endParaRPr>
          </a:p>
          <a:p>
            <a:pPr marL="127000" marR="1625600">
              <a:lnSpc>
                <a:spcPct val="191800"/>
              </a:lnSpc>
              <a:tabLst>
                <a:tab pos="732790" algn="l"/>
              </a:tabLst>
            </a:pPr>
            <a:r>
              <a:rPr lang="en-IN" dirty="0" smtClean="0">
                <a:latin typeface="Arial"/>
                <a:cs typeface="Arial"/>
              </a:rPr>
              <a:t>Step-3</a:t>
            </a:r>
            <a:r>
              <a:rPr lang="en-IN" dirty="0">
                <a:latin typeface="Arial"/>
                <a:cs typeface="Arial"/>
              </a:rPr>
              <a:t>	</a:t>
            </a:r>
            <a:r>
              <a:rPr lang="en-IN" spc="-5" dirty="0">
                <a:latin typeface="Arial"/>
                <a:cs typeface="Arial"/>
              </a:rPr>
              <a:t>CI </a:t>
            </a:r>
            <a:r>
              <a:rPr lang="en-IN" dirty="0">
                <a:latin typeface="Arial"/>
                <a:cs typeface="Arial"/>
              </a:rPr>
              <a:t>= </a:t>
            </a:r>
            <a:r>
              <a:rPr lang="en-IN" spc="-5" dirty="0">
                <a:latin typeface="Arial"/>
                <a:cs typeface="Arial"/>
              </a:rPr>
              <a:t>P(1+R/100)</a:t>
            </a:r>
            <a:r>
              <a:rPr lang="en-IN" sz="2800" spc="-7" baseline="31746" dirty="0">
                <a:latin typeface="Arial"/>
                <a:cs typeface="Arial"/>
              </a:rPr>
              <a:t>N </a:t>
            </a:r>
            <a:r>
              <a:rPr lang="en-IN" dirty="0">
                <a:latin typeface="Arial"/>
                <a:cs typeface="Arial"/>
              </a:rPr>
              <a:t>-</a:t>
            </a:r>
            <a:r>
              <a:rPr lang="en-IN" spc="-10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P</a:t>
            </a:r>
          </a:p>
          <a:p>
            <a:pPr marL="127000" marR="2459990">
              <a:lnSpc>
                <a:spcPct val="190000"/>
              </a:lnSpc>
              <a:spcBef>
                <a:spcPts val="25"/>
              </a:spcBef>
              <a:tabLst>
                <a:tab pos="733425" algn="l"/>
              </a:tabLst>
            </a:pPr>
            <a:r>
              <a:rPr lang="en-IN" dirty="0">
                <a:latin typeface="Arial"/>
                <a:cs typeface="Arial"/>
              </a:rPr>
              <a:t>Step-4	</a:t>
            </a:r>
            <a:r>
              <a:rPr lang="en-IN" spc="-5" dirty="0">
                <a:latin typeface="Arial"/>
                <a:cs typeface="Arial"/>
              </a:rPr>
              <a:t>Display</a:t>
            </a:r>
            <a:r>
              <a:rPr lang="en-IN" spc="-80" dirty="0">
                <a:latin typeface="Arial"/>
                <a:cs typeface="Arial"/>
              </a:rPr>
              <a:t> </a:t>
            </a:r>
            <a:r>
              <a:rPr lang="en-IN" spc="-10" dirty="0">
                <a:latin typeface="Arial"/>
                <a:cs typeface="Arial"/>
              </a:rPr>
              <a:t>CI </a:t>
            </a:r>
            <a:endParaRPr lang="en-IN" spc="-10" dirty="0" smtClean="0">
              <a:latin typeface="Arial"/>
              <a:cs typeface="Arial"/>
            </a:endParaRPr>
          </a:p>
          <a:p>
            <a:pPr marL="127000" marR="2459990">
              <a:lnSpc>
                <a:spcPct val="190000"/>
              </a:lnSpc>
              <a:spcBef>
                <a:spcPts val="25"/>
              </a:spcBef>
              <a:tabLst>
                <a:tab pos="733425" algn="l"/>
              </a:tabLst>
            </a:pPr>
            <a:r>
              <a:rPr lang="en-IN" spc="-10" dirty="0" smtClean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Step-6</a:t>
            </a:r>
            <a:r>
              <a:rPr lang="en-IN" spc="285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Stop</a:t>
            </a:r>
            <a:endParaRPr lang="en-IN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32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510697"/>
            <a:ext cx="1524000" cy="4813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477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 smtClean="0">
                <a:latin typeface="Arial"/>
                <a:cs typeface="Arial"/>
              </a:rPr>
              <a:t/>
            </a:r>
            <a:br>
              <a:rPr lang="en-IN" b="1" spc="-5" dirty="0" smtClean="0">
                <a:latin typeface="Arial"/>
                <a:cs typeface="Arial"/>
              </a:rPr>
            </a:b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Algorithm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Flowchart to Swap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Two Numbers using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Temporary</a:t>
            </a:r>
            <a:r>
              <a:rPr lang="en-IN" sz="40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lang="en-IN" sz="4000" dirty="0">
                <a:latin typeface="Arial"/>
                <a:cs typeface="Arial"/>
              </a:rPr>
              <a:t/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Autofit/>
          </a:bodyPr>
          <a:lstStyle/>
          <a:p>
            <a:pPr marL="127000">
              <a:lnSpc>
                <a:spcPct val="100000"/>
              </a:lnSpc>
            </a:pPr>
            <a:r>
              <a:rPr lang="en-IN" sz="1800" b="1" spc="-5" dirty="0">
                <a:latin typeface="Arial"/>
                <a:cs typeface="Arial"/>
              </a:rPr>
              <a:t>Algorithm</a:t>
            </a:r>
            <a:endParaRPr lang="en-IN"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800" smtClean="0">
                <a:latin typeface="Arial"/>
                <a:cs typeface="Arial"/>
              </a:rPr>
              <a:t>Step-1</a:t>
            </a:r>
            <a:r>
              <a:rPr lang="en-IN" sz="1800" spc="300" smtClean="0">
                <a:latin typeface="Arial"/>
                <a:cs typeface="Arial"/>
              </a:rPr>
              <a:t> </a:t>
            </a:r>
            <a:r>
              <a:rPr lang="en-IN" sz="1800" spc="-5" dirty="0">
                <a:latin typeface="Arial"/>
                <a:cs typeface="Arial"/>
              </a:rPr>
              <a:t>Start</a:t>
            </a:r>
            <a:endParaRPr lang="en-IN" sz="1800" dirty="0">
              <a:latin typeface="Arial"/>
              <a:cs typeface="Arial"/>
            </a:endParaRP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1800" dirty="0">
                <a:latin typeface="Arial"/>
                <a:cs typeface="Arial"/>
              </a:rPr>
              <a:t>Step-2	</a:t>
            </a:r>
            <a:r>
              <a:rPr lang="en-IN" sz="1800" spc="-5" dirty="0">
                <a:latin typeface="Arial"/>
                <a:cs typeface="Arial"/>
              </a:rPr>
              <a:t>Input Two Numbers </a:t>
            </a:r>
            <a:r>
              <a:rPr lang="en-IN" sz="1800" dirty="0">
                <a:latin typeface="Arial"/>
                <a:cs typeface="Arial"/>
              </a:rPr>
              <a:t>Say </a:t>
            </a:r>
            <a:r>
              <a:rPr lang="en-IN" sz="1800" spc="-5" dirty="0" smtClean="0">
                <a:latin typeface="Arial"/>
                <a:cs typeface="Arial"/>
              </a:rPr>
              <a:t>NUM1,NUM2</a:t>
            </a: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1800" dirty="0" smtClean="0">
                <a:latin typeface="Arial"/>
                <a:cs typeface="Arial"/>
              </a:rPr>
              <a:t>Step-3</a:t>
            </a:r>
            <a:r>
              <a:rPr lang="en-IN" sz="1800" dirty="0">
                <a:latin typeface="Arial"/>
                <a:cs typeface="Arial"/>
              </a:rPr>
              <a:t>	</a:t>
            </a:r>
            <a:r>
              <a:rPr lang="en-IN" sz="1800" spc="-5" dirty="0">
                <a:latin typeface="Arial"/>
                <a:cs typeface="Arial"/>
              </a:rPr>
              <a:t>Display </a:t>
            </a:r>
            <a:r>
              <a:rPr lang="en-IN" sz="1800" dirty="0">
                <a:latin typeface="Arial"/>
                <a:cs typeface="Arial"/>
              </a:rPr>
              <a:t>Before </a:t>
            </a:r>
            <a:r>
              <a:rPr lang="en-IN" sz="1800" spc="-5" dirty="0">
                <a:latin typeface="Arial"/>
                <a:cs typeface="Arial"/>
              </a:rPr>
              <a:t>Swap Values </a:t>
            </a:r>
            <a:r>
              <a:rPr lang="en-IN" sz="1800" spc="-5" dirty="0" smtClean="0">
                <a:latin typeface="Arial"/>
                <a:cs typeface="Arial"/>
              </a:rPr>
              <a:t>NUM1 NUM2  </a:t>
            </a:r>
            <a:endParaRPr lang="en-IN" sz="1800" spc="-5" dirty="0" smtClean="0">
              <a:latin typeface="Arial"/>
              <a:cs typeface="Arial"/>
            </a:endParaRP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1800" dirty="0" smtClean="0">
                <a:latin typeface="Arial"/>
                <a:cs typeface="Arial"/>
              </a:rPr>
              <a:t>Step-4</a:t>
            </a:r>
            <a:r>
              <a:rPr lang="en-IN" sz="1800" dirty="0">
                <a:latin typeface="Arial"/>
                <a:cs typeface="Arial"/>
              </a:rPr>
              <a:t>	</a:t>
            </a:r>
            <a:r>
              <a:rPr lang="en-IN" sz="1800" spc="-5" dirty="0" smtClean="0">
                <a:latin typeface="Arial"/>
                <a:cs typeface="Arial"/>
              </a:rPr>
              <a:t>TEMP </a:t>
            </a:r>
            <a:r>
              <a:rPr lang="en-IN" sz="1800" dirty="0">
                <a:latin typeface="Arial"/>
                <a:cs typeface="Arial"/>
              </a:rPr>
              <a:t>=</a:t>
            </a:r>
            <a:r>
              <a:rPr lang="en-IN" sz="1800" spc="10" dirty="0">
                <a:latin typeface="Arial"/>
                <a:cs typeface="Arial"/>
              </a:rPr>
              <a:t> </a:t>
            </a:r>
            <a:r>
              <a:rPr lang="en-IN" sz="1800" spc="-5" dirty="0">
                <a:latin typeface="Arial"/>
                <a:cs typeface="Arial"/>
              </a:rPr>
              <a:t>NUM1</a:t>
            </a:r>
            <a:endParaRPr lang="en-IN" sz="1800" dirty="0">
              <a:latin typeface="Arial"/>
              <a:cs typeface="Arial"/>
            </a:endParaRPr>
          </a:p>
          <a:p>
            <a:pPr marL="127000" marR="3747770">
              <a:lnSpc>
                <a:spcPct val="191800"/>
              </a:lnSpc>
              <a:spcBef>
                <a:spcPts val="5"/>
              </a:spcBef>
              <a:tabLst>
                <a:tab pos="772795" algn="l"/>
              </a:tabLst>
            </a:pPr>
            <a:r>
              <a:rPr lang="en-IN" sz="1800" dirty="0">
                <a:latin typeface="Arial"/>
                <a:cs typeface="Arial"/>
              </a:rPr>
              <a:t>Step-5	</a:t>
            </a:r>
            <a:r>
              <a:rPr lang="en-IN" sz="1800" spc="-10" dirty="0">
                <a:latin typeface="Arial"/>
                <a:cs typeface="Arial"/>
              </a:rPr>
              <a:t>NUM1 </a:t>
            </a:r>
            <a:r>
              <a:rPr lang="en-IN" sz="1800" dirty="0">
                <a:latin typeface="Arial"/>
                <a:cs typeface="Arial"/>
              </a:rPr>
              <a:t>=</a:t>
            </a:r>
            <a:r>
              <a:rPr lang="en-IN" sz="1800" spc="-65" dirty="0">
                <a:latin typeface="Arial"/>
                <a:cs typeface="Arial"/>
              </a:rPr>
              <a:t> </a:t>
            </a:r>
            <a:r>
              <a:rPr lang="en-IN" sz="1800" spc="-5" dirty="0">
                <a:latin typeface="Arial"/>
                <a:cs typeface="Arial"/>
              </a:rPr>
              <a:t>NUM2  </a:t>
            </a:r>
            <a:endParaRPr lang="en-IN" sz="1800" spc="-5" dirty="0" smtClean="0">
              <a:latin typeface="Arial"/>
              <a:cs typeface="Arial"/>
            </a:endParaRPr>
          </a:p>
          <a:p>
            <a:pPr marL="127000" marR="3747770">
              <a:lnSpc>
                <a:spcPct val="191800"/>
              </a:lnSpc>
              <a:spcBef>
                <a:spcPts val="5"/>
              </a:spcBef>
              <a:tabLst>
                <a:tab pos="772795" algn="l"/>
              </a:tabLst>
            </a:pPr>
            <a:r>
              <a:rPr lang="en-IN" sz="1800" dirty="0" smtClean="0">
                <a:latin typeface="Arial"/>
                <a:cs typeface="Arial"/>
              </a:rPr>
              <a:t>Step-6</a:t>
            </a:r>
            <a:r>
              <a:rPr lang="en-IN" sz="1800" dirty="0">
                <a:latin typeface="Arial"/>
                <a:cs typeface="Arial"/>
              </a:rPr>
              <a:t>	</a:t>
            </a:r>
            <a:r>
              <a:rPr lang="en-IN" sz="1800" spc="-10" dirty="0">
                <a:latin typeface="Arial"/>
                <a:cs typeface="Arial"/>
              </a:rPr>
              <a:t>NUM2 </a:t>
            </a:r>
            <a:r>
              <a:rPr lang="en-IN" sz="1800" dirty="0">
                <a:latin typeface="Arial"/>
                <a:cs typeface="Arial"/>
              </a:rPr>
              <a:t>=</a:t>
            </a:r>
            <a:r>
              <a:rPr lang="en-IN" sz="1800" spc="-70" dirty="0">
                <a:latin typeface="Arial"/>
                <a:cs typeface="Arial"/>
              </a:rPr>
              <a:t> </a:t>
            </a:r>
            <a:r>
              <a:rPr lang="en-IN" sz="1800" spc="-5" dirty="0" smtClean="0">
                <a:latin typeface="Arial"/>
                <a:cs typeface="Arial"/>
              </a:rPr>
              <a:t>TEMP</a:t>
            </a:r>
            <a:endParaRPr lang="en-IN" sz="1800" dirty="0">
              <a:latin typeface="Arial"/>
              <a:cs typeface="Arial"/>
            </a:endParaRPr>
          </a:p>
          <a:p>
            <a:pPr marL="127000" marR="2260600">
              <a:lnSpc>
                <a:spcPct val="191800"/>
              </a:lnSpc>
              <a:tabLst>
                <a:tab pos="772795" algn="l"/>
              </a:tabLst>
            </a:pPr>
            <a:r>
              <a:rPr lang="en-IN" sz="1800" dirty="0">
                <a:latin typeface="Arial"/>
                <a:cs typeface="Arial"/>
              </a:rPr>
              <a:t>Step-7	</a:t>
            </a:r>
            <a:r>
              <a:rPr lang="en-IN" sz="1800" spc="-5" dirty="0">
                <a:latin typeface="Arial"/>
                <a:cs typeface="Arial"/>
              </a:rPr>
              <a:t>Display </a:t>
            </a:r>
            <a:r>
              <a:rPr lang="en-IN" sz="1800" dirty="0">
                <a:latin typeface="Arial"/>
                <a:cs typeface="Arial"/>
              </a:rPr>
              <a:t>After </a:t>
            </a:r>
            <a:r>
              <a:rPr lang="en-IN" sz="1800" spc="-5" dirty="0">
                <a:latin typeface="Arial"/>
                <a:cs typeface="Arial"/>
              </a:rPr>
              <a:t>Swap Values </a:t>
            </a:r>
            <a:r>
              <a:rPr lang="en-IN" sz="1800" spc="-5" dirty="0" smtClean="0">
                <a:latin typeface="Arial"/>
                <a:cs typeface="Arial"/>
              </a:rPr>
              <a:t>NUM1,NUM2</a:t>
            </a:r>
            <a:r>
              <a:rPr lang="en-IN" sz="1800" spc="-5" dirty="0">
                <a:latin typeface="Arial"/>
                <a:cs typeface="Arial"/>
              </a:rPr>
              <a:t> </a:t>
            </a:r>
            <a:r>
              <a:rPr lang="en-US" sz="1800" spc="-5" dirty="0" smtClean="0">
                <a:latin typeface="Arial"/>
                <a:cs typeface="Arial"/>
              </a:rPr>
              <a:t>Step-8 </a:t>
            </a:r>
            <a:r>
              <a:rPr lang="en-US" sz="1800" spc="-5" dirty="0" smtClean="0">
                <a:latin typeface="Arial"/>
                <a:cs typeface="Arial"/>
              </a:rPr>
              <a:t>Stop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6386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487" y="1562364"/>
            <a:ext cx="1423513" cy="412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94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dirty="0" smtClean="0"/>
              <a:t/>
            </a:r>
            <a:br>
              <a:rPr lang="en-IN" sz="3600" dirty="0" smtClean="0"/>
            </a:br>
            <a:r>
              <a:rPr lang="en-IN" sz="3600" dirty="0" smtClean="0">
                <a:solidFill>
                  <a:srgbClr val="FF0000"/>
                </a:solidFill>
              </a:rPr>
              <a:t>Algorithm </a:t>
            </a:r>
            <a:r>
              <a:rPr lang="en-IN" sz="3600" dirty="0">
                <a:solidFill>
                  <a:srgbClr val="FF0000"/>
                </a:solidFill>
              </a:rPr>
              <a:t>&amp; Flowchart to Swap Two Numbers without using temporary  variable</a:t>
            </a:r>
            <a:r>
              <a:rPr lang="en-IN" dirty="0">
                <a:solidFill>
                  <a:srgbClr val="FF0000"/>
                </a:solidFill>
              </a:rPr>
              <a:t/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27000">
              <a:lnSpc>
                <a:spcPct val="100000"/>
              </a:lnSpc>
              <a:spcBef>
                <a:spcPts val="550"/>
              </a:spcBef>
            </a:pPr>
            <a:r>
              <a:rPr lang="en-IN" b="1" spc="-5" dirty="0">
                <a:latin typeface="Arial"/>
                <a:cs typeface="Arial"/>
              </a:rPr>
              <a:t>Algorithm</a:t>
            </a:r>
            <a:endParaRPr lang="en-IN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IN" sz="2800" dirty="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lang="en-IN" dirty="0">
                <a:latin typeface="Arial"/>
                <a:cs typeface="Arial"/>
              </a:rPr>
              <a:t>Step-1</a:t>
            </a:r>
            <a:r>
              <a:rPr lang="en-IN" spc="30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Start</a:t>
            </a:r>
            <a:endParaRPr lang="en-IN" dirty="0">
              <a:latin typeface="Arial"/>
              <a:cs typeface="Arial"/>
            </a:endParaRPr>
          </a:p>
          <a:p>
            <a:pPr marL="127000" marR="2670175">
              <a:lnSpc>
                <a:spcPct val="191800"/>
              </a:lnSpc>
              <a:tabLst>
                <a:tab pos="732790" algn="l"/>
              </a:tabLst>
            </a:pPr>
            <a:r>
              <a:rPr lang="en-IN" dirty="0">
                <a:latin typeface="Arial"/>
                <a:cs typeface="Arial"/>
              </a:rPr>
              <a:t>Step-2	</a:t>
            </a:r>
            <a:r>
              <a:rPr lang="en-IN" spc="-5" dirty="0">
                <a:latin typeface="Arial"/>
                <a:cs typeface="Arial"/>
              </a:rPr>
              <a:t>Input Two Numbers </a:t>
            </a:r>
            <a:r>
              <a:rPr lang="en-IN" dirty="0">
                <a:latin typeface="Arial"/>
                <a:cs typeface="Arial"/>
              </a:rPr>
              <a:t>Say A,B  Step-3	</a:t>
            </a:r>
            <a:r>
              <a:rPr lang="en-IN" spc="-5" dirty="0">
                <a:latin typeface="Arial"/>
                <a:cs typeface="Arial"/>
              </a:rPr>
              <a:t>Display </a:t>
            </a:r>
            <a:r>
              <a:rPr lang="en-IN" dirty="0">
                <a:latin typeface="Arial"/>
                <a:cs typeface="Arial"/>
              </a:rPr>
              <a:t>Before </a:t>
            </a:r>
            <a:r>
              <a:rPr lang="en-IN" spc="-5" dirty="0">
                <a:latin typeface="Arial"/>
                <a:cs typeface="Arial"/>
              </a:rPr>
              <a:t>Swap Values A,</a:t>
            </a:r>
            <a:r>
              <a:rPr lang="en-IN" spc="-2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B</a:t>
            </a:r>
          </a:p>
          <a:p>
            <a:pPr marL="127000" marR="4098925" algn="just">
              <a:lnSpc>
                <a:spcPct val="191400"/>
              </a:lnSpc>
              <a:spcBef>
                <a:spcPts val="5"/>
              </a:spcBef>
            </a:pPr>
            <a:r>
              <a:rPr lang="en-IN" dirty="0">
                <a:latin typeface="Arial"/>
                <a:cs typeface="Arial"/>
              </a:rPr>
              <a:t>Step-4 A = A + B  Step-5 B = A - B  Step-6 A = A -</a:t>
            </a:r>
            <a:r>
              <a:rPr lang="en-IN" spc="-10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B</a:t>
            </a:r>
          </a:p>
          <a:p>
            <a:pPr marL="127000" marR="2748280">
              <a:lnSpc>
                <a:spcPct val="190900"/>
              </a:lnSpc>
              <a:spcBef>
                <a:spcPts val="15"/>
              </a:spcBef>
              <a:tabLst>
                <a:tab pos="772795" algn="l"/>
              </a:tabLst>
            </a:pPr>
            <a:r>
              <a:rPr lang="en-IN" dirty="0">
                <a:latin typeface="Arial"/>
                <a:cs typeface="Arial"/>
              </a:rPr>
              <a:t>Step-7	</a:t>
            </a:r>
            <a:r>
              <a:rPr lang="en-IN" spc="-5" dirty="0">
                <a:latin typeface="Arial"/>
                <a:cs typeface="Arial"/>
              </a:rPr>
              <a:t>Display </a:t>
            </a:r>
            <a:r>
              <a:rPr lang="en-IN" dirty="0">
                <a:latin typeface="Arial"/>
                <a:cs typeface="Arial"/>
              </a:rPr>
              <a:t>After </a:t>
            </a:r>
            <a:r>
              <a:rPr lang="en-IN" spc="-5" dirty="0">
                <a:latin typeface="Arial"/>
                <a:cs typeface="Arial"/>
              </a:rPr>
              <a:t>Swap Values A, </a:t>
            </a:r>
            <a:r>
              <a:rPr lang="en-IN" dirty="0">
                <a:latin typeface="Arial"/>
                <a:cs typeface="Arial"/>
              </a:rPr>
              <a:t>B  Step-8</a:t>
            </a:r>
            <a:r>
              <a:rPr lang="en-IN" spc="300" dirty="0">
                <a:latin typeface="Arial"/>
                <a:cs typeface="Arial"/>
              </a:rPr>
              <a:t> </a:t>
            </a:r>
            <a:r>
              <a:rPr lang="en-IN" spc="-5" dirty="0">
                <a:latin typeface="Arial"/>
                <a:cs typeface="Arial"/>
              </a:rPr>
              <a:t>Stop</a:t>
            </a:r>
            <a:endParaRPr lang="en-IN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43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1627224"/>
            <a:ext cx="1066800" cy="4849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559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 smtClean="0">
                <a:latin typeface="Arial"/>
                <a:cs typeface="Arial"/>
              </a:rPr>
              <a:t/>
            </a:r>
            <a:br>
              <a:rPr lang="en-IN" b="1" spc="-5" dirty="0" smtClean="0">
                <a:latin typeface="Arial"/>
                <a:cs typeface="Arial"/>
              </a:rPr>
            </a:b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Algorithm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Flowchart to </a:t>
            </a:r>
            <a:r>
              <a:rPr lang="en-IN" sz="4000" b="1" dirty="0" smtClean="0">
                <a:solidFill>
                  <a:srgbClr val="FF0000"/>
                </a:solidFill>
                <a:latin typeface="Arial"/>
                <a:cs typeface="Arial"/>
              </a:rPr>
              <a:t>find out largest among two</a:t>
            </a:r>
            <a:r>
              <a:rPr lang="en-IN" sz="4000" b="1" spc="1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lang="en-IN" sz="4000" dirty="0">
                <a:latin typeface="Arial"/>
                <a:cs typeface="Arial"/>
              </a:rPr>
              <a:t/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7000">
              <a:lnSpc>
                <a:spcPct val="100000"/>
              </a:lnSpc>
            </a:pPr>
            <a:r>
              <a:rPr lang="en-IN" sz="2400" b="1" spc="-5" dirty="0">
                <a:latin typeface="Arial"/>
                <a:cs typeface="Arial"/>
              </a:rPr>
              <a:t>Algorithm</a:t>
            </a:r>
            <a:endParaRPr lang="en-IN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IN" sz="1800" dirty="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lang="en-IN" sz="2400" dirty="0">
                <a:latin typeface="Arial"/>
                <a:cs typeface="Arial"/>
              </a:rPr>
              <a:t>Step-1</a:t>
            </a:r>
            <a:r>
              <a:rPr lang="en-IN" sz="2400" spc="300" dirty="0">
                <a:latin typeface="Arial"/>
                <a:cs typeface="Arial"/>
              </a:rPr>
              <a:t> </a:t>
            </a:r>
            <a:r>
              <a:rPr lang="en-IN" sz="2400" spc="300" dirty="0" smtClean="0">
                <a:latin typeface="Arial"/>
                <a:cs typeface="Arial"/>
              </a:rPr>
              <a:t>	</a:t>
            </a:r>
            <a:r>
              <a:rPr lang="en-IN" sz="2400" spc="-5" dirty="0" smtClean="0">
                <a:latin typeface="Arial"/>
                <a:cs typeface="Arial"/>
              </a:rPr>
              <a:t>Start</a:t>
            </a:r>
            <a:endParaRPr lang="en-IN" sz="2400" dirty="0">
              <a:latin typeface="Arial"/>
              <a:cs typeface="Arial"/>
            </a:endParaRP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2400" dirty="0">
                <a:latin typeface="Arial"/>
                <a:cs typeface="Arial"/>
              </a:rPr>
              <a:t>Step-2	</a:t>
            </a:r>
            <a:r>
              <a:rPr lang="en-IN" sz="2400" dirty="0"/>
              <a:t>Read a, </a:t>
            </a:r>
            <a:r>
              <a:rPr lang="en-IN" sz="2400" dirty="0" smtClean="0"/>
              <a:t>b</a:t>
            </a: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2400" dirty="0" smtClean="0">
                <a:latin typeface="Arial"/>
                <a:cs typeface="Arial"/>
              </a:rPr>
              <a:t>Step-3</a:t>
            </a:r>
            <a:r>
              <a:rPr lang="en-IN" sz="2400" dirty="0">
                <a:latin typeface="Arial"/>
                <a:cs typeface="Arial"/>
              </a:rPr>
              <a:t>	</a:t>
            </a:r>
            <a:r>
              <a:rPr lang="en-IN" sz="2400" spc="-5" dirty="0" smtClean="0">
                <a:latin typeface="Arial"/>
                <a:cs typeface="Arial"/>
              </a:rPr>
              <a:t>  </a:t>
            </a:r>
            <a:r>
              <a:rPr lang="en-IN" sz="2400" dirty="0"/>
              <a:t>If a&gt;b then</a:t>
            </a:r>
            <a:endParaRPr lang="en-IN" sz="2400" spc="-5" dirty="0" smtClean="0">
              <a:latin typeface="Arial"/>
              <a:cs typeface="Arial"/>
            </a:endParaRP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2400" dirty="0" smtClean="0">
                <a:latin typeface="Arial"/>
                <a:cs typeface="Arial"/>
              </a:rPr>
              <a:t>Step-4</a:t>
            </a:r>
            <a:r>
              <a:rPr lang="en-IN" sz="2400" dirty="0">
                <a:latin typeface="Arial"/>
                <a:cs typeface="Arial"/>
              </a:rPr>
              <a:t>	</a:t>
            </a:r>
            <a:r>
              <a:rPr lang="en-US" sz="2400" dirty="0"/>
              <a:t>Display “a is the largest number”</a:t>
            </a:r>
            <a:endParaRPr lang="en-IN" sz="2400" dirty="0" smtClean="0">
              <a:latin typeface="Arial"/>
              <a:cs typeface="Arial"/>
            </a:endParaRPr>
          </a:p>
          <a:p>
            <a:pPr marL="127000" marR="2067560">
              <a:lnSpc>
                <a:spcPct val="191400"/>
              </a:lnSpc>
              <a:spcBef>
                <a:spcPts val="5"/>
              </a:spcBef>
              <a:tabLst>
                <a:tab pos="732790" algn="l"/>
                <a:tab pos="771525" algn="l"/>
              </a:tabLst>
            </a:pPr>
            <a:r>
              <a:rPr lang="en-IN" sz="2400" dirty="0" smtClean="0">
                <a:latin typeface="Arial"/>
                <a:cs typeface="Arial"/>
              </a:rPr>
              <a:t>Step-5</a:t>
            </a:r>
            <a:r>
              <a:rPr lang="en-IN" sz="2400" dirty="0">
                <a:latin typeface="Arial"/>
                <a:cs typeface="Arial"/>
              </a:rPr>
              <a:t>	</a:t>
            </a:r>
            <a:r>
              <a:rPr lang="en-US" sz="2400" dirty="0"/>
              <a:t>Display “b is the largest number”</a:t>
            </a:r>
            <a:endParaRPr lang="en-IN" sz="2400" spc="-5" dirty="0" smtClean="0">
              <a:latin typeface="Arial"/>
              <a:cs typeface="Arial"/>
            </a:endParaRPr>
          </a:p>
          <a:p>
            <a:pPr marL="127000" marR="3747770">
              <a:lnSpc>
                <a:spcPct val="191800"/>
              </a:lnSpc>
              <a:spcBef>
                <a:spcPts val="5"/>
              </a:spcBef>
              <a:tabLst>
                <a:tab pos="772795" algn="l"/>
              </a:tabLst>
            </a:pPr>
            <a:r>
              <a:rPr lang="en-IN" sz="2400" dirty="0" smtClean="0">
                <a:latin typeface="Arial"/>
                <a:cs typeface="Arial"/>
              </a:rPr>
              <a:t>Step-6</a:t>
            </a:r>
            <a:r>
              <a:rPr lang="en-IN" sz="2400" dirty="0">
                <a:latin typeface="Arial"/>
                <a:cs typeface="Arial"/>
              </a:rPr>
              <a:t>	</a:t>
            </a:r>
            <a:r>
              <a:rPr lang="en-IN" sz="2400" dirty="0" smtClean="0">
                <a:latin typeface="Arial"/>
                <a:cs typeface="Arial"/>
              </a:rPr>
              <a:t>End</a:t>
            </a:r>
            <a:endParaRPr lang="en-IN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731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 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Jyotsna\Desktop\10000000011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75" y="1365824"/>
            <a:ext cx="7746326" cy="465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56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 smtClean="0">
                <a:latin typeface="Arial"/>
                <a:cs typeface="Arial"/>
              </a:rPr>
              <a:t/>
            </a:r>
            <a:br>
              <a:rPr lang="en-IN" b="1" spc="-5" dirty="0" smtClean="0">
                <a:latin typeface="Arial"/>
                <a:cs typeface="Arial"/>
              </a:rPr>
            </a:br>
            <a:r>
              <a:rPr lang="en-IN" sz="4000" b="1" spc="-5" dirty="0" smtClean="0">
                <a:solidFill>
                  <a:srgbClr val="FF0000"/>
                </a:solidFill>
                <a:latin typeface="Arial"/>
                <a:cs typeface="Arial"/>
              </a:rPr>
              <a:t>Algorithm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&amp; </a:t>
            </a:r>
            <a:r>
              <a:rPr lang="en-IN" sz="4000" b="1" dirty="0">
                <a:solidFill>
                  <a:srgbClr val="FF0000"/>
                </a:solidFill>
                <a:latin typeface="Arial"/>
                <a:cs typeface="Arial"/>
              </a:rPr>
              <a:t>Flowchart to </a:t>
            </a:r>
            <a:r>
              <a:rPr lang="en-IN" sz="4000" b="1" dirty="0" smtClean="0">
                <a:solidFill>
                  <a:srgbClr val="FF0000"/>
                </a:solidFill>
                <a:latin typeface="Arial"/>
                <a:cs typeface="Arial"/>
              </a:rPr>
              <a:t>find out largest among three</a:t>
            </a:r>
            <a:r>
              <a:rPr lang="en-IN" sz="4000" b="1" spc="10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IN" sz="4000" b="1" spc="-5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lang="en-IN" sz="4000" dirty="0">
                <a:latin typeface="Arial"/>
                <a:cs typeface="Arial"/>
              </a:rPr>
              <a:t/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27000">
              <a:lnSpc>
                <a:spcPct val="100000"/>
              </a:lnSpc>
            </a:pPr>
            <a:r>
              <a:rPr lang="en-IN" sz="2400" b="1" spc="-5" dirty="0">
                <a:latin typeface="Arial"/>
                <a:cs typeface="Arial"/>
              </a:rPr>
              <a:t>Algorithm</a:t>
            </a:r>
            <a:endParaRPr lang="en-IN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IN" sz="1800" dirty="0">
              <a:latin typeface="Times New Roman"/>
              <a:cs typeface="Times New Roman"/>
            </a:endParaRPr>
          </a:p>
          <a:p>
            <a:r>
              <a:rPr lang="en-US" sz="2800" dirty="0"/>
              <a:t>Step 1 : Start.</a:t>
            </a:r>
          </a:p>
          <a:p>
            <a:r>
              <a:rPr lang="en-US" sz="2800" dirty="0"/>
              <a:t>Start 2 : Input A, B, C.</a:t>
            </a:r>
          </a:p>
          <a:p>
            <a:r>
              <a:rPr lang="en-US" sz="2800" dirty="0"/>
              <a:t>Start </a:t>
            </a:r>
            <a:r>
              <a:rPr lang="en-US" sz="2800" b="1" dirty="0"/>
              <a:t>3</a:t>
            </a:r>
            <a:r>
              <a:rPr lang="en-US" sz="2800" dirty="0"/>
              <a:t> : Let max = A.</a:t>
            </a:r>
          </a:p>
          <a:p>
            <a:r>
              <a:rPr lang="en-US" sz="2800" dirty="0"/>
              <a:t>Start 4 : if B &gt; max then max = B.</a:t>
            </a:r>
          </a:p>
          <a:p>
            <a:r>
              <a:rPr lang="en-US" sz="2800" dirty="0"/>
              <a:t>Start 5 : if C &gt; max then max = C.</a:t>
            </a:r>
          </a:p>
          <a:p>
            <a:r>
              <a:rPr lang="en-US" sz="2800" dirty="0"/>
              <a:t>Start 6 : Output max is </a:t>
            </a:r>
            <a:r>
              <a:rPr lang="en-US" sz="2800" b="1" dirty="0"/>
              <a:t>largest</a:t>
            </a:r>
            <a:r>
              <a:rPr lang="en-US" sz="2800" dirty="0"/>
              <a:t>.</a:t>
            </a:r>
          </a:p>
          <a:p>
            <a:r>
              <a:rPr lang="en-US" sz="2800" dirty="0"/>
              <a:t>Start 7 : Stop.</a:t>
            </a:r>
          </a:p>
        </p:txBody>
      </p:sp>
    </p:spTree>
    <p:extLst>
      <p:ext uri="{BB962C8B-B14F-4D97-AF65-F5344CB8AC3E}">
        <p14:creationId xmlns:p14="http://schemas.microsoft.com/office/powerpoint/2010/main" val="183188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 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Jyotsna\Desktop\1000000001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68" y="1676400"/>
            <a:ext cx="75621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9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spc="-5" dirty="0">
                <a:solidFill>
                  <a:srgbClr val="FF0000"/>
                </a:solidFill>
                <a:latin typeface="Arial"/>
                <a:cs typeface="Arial"/>
              </a:rPr>
              <a:t>Algorithm &amp; </a:t>
            </a:r>
            <a:r>
              <a:rPr lang="en-IN" b="1" dirty="0">
                <a:solidFill>
                  <a:srgbClr val="FF0000"/>
                </a:solidFill>
                <a:latin typeface="Arial"/>
                <a:cs typeface="Arial"/>
              </a:rPr>
              <a:t>Flowchart </a:t>
            </a:r>
            <a:r>
              <a:rPr lang="en-IN" b="1" dirty="0" smtClean="0">
                <a:solidFill>
                  <a:srgbClr val="FF0000"/>
                </a:solidFill>
                <a:latin typeface="Arial"/>
                <a:cs typeface="Arial"/>
              </a:rPr>
              <a:t>to print 1 to 20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1: </a:t>
            </a:r>
            <a:r>
              <a:rPr lang="en-US" dirty="0" smtClean="0"/>
              <a:t>Start</a:t>
            </a:r>
          </a:p>
          <a:p>
            <a:r>
              <a:rPr lang="en-US" dirty="0" smtClean="0"/>
              <a:t>Step </a:t>
            </a:r>
            <a:r>
              <a:rPr lang="en-US" dirty="0"/>
              <a:t>2: Initialize variable number as </a:t>
            </a:r>
            <a:r>
              <a:rPr lang="en-US" dirty="0" err="1"/>
              <a:t>integernumber</a:t>
            </a:r>
            <a:r>
              <a:rPr lang="en-US" dirty="0"/>
              <a:t> (n) = </a:t>
            </a:r>
            <a:r>
              <a:rPr lang="en-US" dirty="0" smtClean="0"/>
              <a:t>1</a:t>
            </a:r>
          </a:p>
          <a:p>
            <a:r>
              <a:rPr lang="en-US" dirty="0" smtClean="0"/>
              <a:t>Step </a:t>
            </a:r>
            <a:r>
              <a:rPr lang="en-US" dirty="0"/>
              <a:t>3</a:t>
            </a:r>
            <a:r>
              <a:rPr lang="en-US" dirty="0" smtClean="0"/>
              <a:t>: </a:t>
            </a:r>
            <a:r>
              <a:rPr lang="en-US" dirty="0"/>
              <a:t>Read and print the value of </a:t>
            </a:r>
            <a:r>
              <a:rPr lang="en-US" dirty="0" smtClean="0"/>
              <a:t>number</a:t>
            </a:r>
          </a:p>
          <a:p>
            <a:r>
              <a:rPr lang="en-US" dirty="0" smtClean="0"/>
              <a:t>Step </a:t>
            </a:r>
            <a:r>
              <a:rPr lang="en-US" dirty="0"/>
              <a:t>4</a:t>
            </a:r>
            <a:r>
              <a:rPr lang="en-US" dirty="0" smtClean="0"/>
              <a:t>: </a:t>
            </a:r>
            <a:r>
              <a:rPr lang="en-US" dirty="0"/>
              <a:t>Repeat the step </a:t>
            </a:r>
            <a:r>
              <a:rPr lang="en-US" dirty="0" smtClean="0"/>
              <a:t>3 </a:t>
            </a:r>
            <a:r>
              <a:rPr lang="en-US" dirty="0"/>
              <a:t>until number &lt; </a:t>
            </a:r>
            <a:r>
              <a:rPr lang="en-US" dirty="0" smtClean="0"/>
              <a:t>20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</a:t>
            </a:r>
            <a:r>
              <a:rPr lang="en-US" dirty="0"/>
              <a:t>number = number (n) + </a:t>
            </a:r>
            <a:r>
              <a:rPr lang="en-US" dirty="0" smtClean="0"/>
              <a:t>1</a:t>
            </a:r>
          </a:p>
          <a:p>
            <a:pPr marL="0" indent="0">
              <a:buNone/>
            </a:pPr>
            <a:r>
              <a:rPr lang="en-US" dirty="0" smtClean="0"/>
              <a:t>Step </a:t>
            </a:r>
            <a:r>
              <a:rPr lang="en-US" dirty="0"/>
              <a:t>5</a:t>
            </a:r>
            <a:r>
              <a:rPr lang="en-US" dirty="0" smtClean="0"/>
              <a:t>: </a:t>
            </a:r>
            <a:r>
              <a:rPr lang="en-US" dirty="0"/>
              <a:t>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55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Flow chart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Jyotsna\Desktop\abd0c0aa467de495dc53cf26acf2f79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52908"/>
            <a:ext cx="6477000" cy="504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13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876</Words>
  <Application>Microsoft Office PowerPoint</Application>
  <PresentationFormat>On-screen Show (4:3)</PresentationFormat>
  <Paragraphs>211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Representation of Algorithm and Flowchart</vt:lpstr>
      <vt:lpstr>Algorithms</vt:lpstr>
      <vt:lpstr>Cont..</vt:lpstr>
      <vt:lpstr>Cont..</vt:lpstr>
      <vt:lpstr>Cont..</vt:lpstr>
      <vt:lpstr>Advantages of algorithm</vt:lpstr>
      <vt:lpstr> FLOWCHART </vt:lpstr>
      <vt:lpstr>Flowchart</vt:lpstr>
      <vt:lpstr>Advantages of flowchart</vt:lpstr>
      <vt:lpstr>PowerPoint Presentation</vt:lpstr>
      <vt:lpstr> Algorithm &amp; Flowchart to find the sum of two numbers </vt:lpstr>
      <vt:lpstr>Flowchart</vt:lpstr>
      <vt:lpstr> Algorithm/Flowchart to convert temp from Celsius to Fahrenheit </vt:lpstr>
      <vt:lpstr>Flowchart</vt:lpstr>
      <vt:lpstr> Algorithm &amp; Flowchart to find Area and Perimeter of Square </vt:lpstr>
      <vt:lpstr>Flowchart</vt:lpstr>
      <vt:lpstr> Algorithm &amp; Flowchart to find Area &amp; Perimeter of Triangle </vt:lpstr>
      <vt:lpstr>Flowchart</vt:lpstr>
      <vt:lpstr> Algorithm &amp; Flowchart to find Simple Interest </vt:lpstr>
      <vt:lpstr>Flowchart</vt:lpstr>
      <vt:lpstr>Algorithm &amp; Flowchart to find Compound Interest</vt:lpstr>
      <vt:lpstr>Flowchart</vt:lpstr>
      <vt:lpstr> Algorithm &amp; Flowchart to Swap Two Numbers using Temporary Variable </vt:lpstr>
      <vt:lpstr>Flowchart</vt:lpstr>
      <vt:lpstr> Algorithm &amp; Flowchart to Swap Two Numbers without using temporary  variable </vt:lpstr>
      <vt:lpstr>Flowchart</vt:lpstr>
      <vt:lpstr> Algorithm &amp; Flowchart to find out largest among two Variable </vt:lpstr>
      <vt:lpstr>Flow Chart</vt:lpstr>
      <vt:lpstr> Algorithm &amp; Flowchart to find out largest among three Variable </vt:lpstr>
      <vt:lpstr>Flow Chart</vt:lpstr>
      <vt:lpstr>Algorithm &amp; Flowchart to print 1 to 20</vt:lpstr>
      <vt:lpstr>Flow chart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 of Algorithm and Flowchart</dc:title>
  <dc:creator>gift</dc:creator>
  <cp:lastModifiedBy>Jyotsna</cp:lastModifiedBy>
  <cp:revision>40</cp:revision>
  <dcterms:created xsi:type="dcterms:W3CDTF">2006-08-16T00:00:00Z</dcterms:created>
  <dcterms:modified xsi:type="dcterms:W3CDTF">2021-06-22T05:15:09Z</dcterms:modified>
</cp:coreProperties>
</file>